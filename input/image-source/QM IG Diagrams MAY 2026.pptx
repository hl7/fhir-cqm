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62" r:id="rId2"/>
    <p:sldId id="267" r:id="rId3"/>
    <p:sldId id="396" r:id="rId4"/>
    <p:sldId id="397" r:id="rId5"/>
    <p:sldId id="400" r:id="rId6"/>
    <p:sldId id="263" r:id="rId7"/>
    <p:sldId id="264" r:id="rId8"/>
    <p:sldId id="393" r:id="rId9"/>
    <p:sldId id="394" r:id="rId10"/>
    <p:sldId id="395" r:id="rId11"/>
    <p:sldId id="261" r:id="rId12"/>
    <p:sldId id="4832" r:id="rId13"/>
    <p:sldId id="399" r:id="rId14"/>
    <p:sldId id="265" r:id="rId15"/>
    <p:sldId id="398" r:id="rId16"/>
    <p:sldId id="401" r:id="rId17"/>
    <p:sldId id="4824" r:id="rId18"/>
    <p:sldId id="4823" r:id="rId19"/>
    <p:sldId id="4825" r:id="rId20"/>
    <p:sldId id="4828" r:id="rId21"/>
    <p:sldId id="4827" r:id="rId22"/>
    <p:sldId id="4819" r:id="rId23"/>
    <p:sldId id="4830" r:id="rId24"/>
    <p:sldId id="483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E8BB2A-D63C-43D2-AF05-0E95DA6745A9}" v="15" dt="2023-11-15T16:22:21.3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88117" autoAdjust="0"/>
  </p:normalViewPr>
  <p:slideViewPr>
    <p:cSldViewPr snapToGrid="0">
      <p:cViewPr varScale="1">
        <p:scale>
          <a:sx n="157" d="100"/>
          <a:sy n="157" d="100"/>
        </p:scale>
        <p:origin x="390"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0E3-4D09-A188-D1360DFA698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0E3-4D09-A188-D1360DFA6989}"/>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0E3-4D09-A188-D1360DFA6989}"/>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0E3-4D09-A188-D1360DFA6989}"/>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0E3-4D09-A188-D1360DFA6989}"/>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0E3-4D09-A188-D1360DFA6989}"/>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0E3-4D09-A188-D1360DFA6989}"/>
              </c:ext>
            </c:extLst>
          </c:dPt>
          <c:dPt>
            <c:idx val="7"/>
            <c:bubble3D val="0"/>
            <c:spPr>
              <a:solidFill>
                <a:schemeClr val="accent2">
                  <a:lumMod val="60000"/>
                </a:schemeClr>
              </a:solidFill>
              <a:ln w="19050">
                <a:solidFill>
                  <a:schemeClr val="lt1"/>
                </a:solidFill>
              </a:ln>
              <a:effectLst/>
            </c:spPr>
            <c:extLst>
              <c:ext xmlns:c16="http://schemas.microsoft.com/office/drawing/2014/chart" uri="{C3380CC4-5D6E-409C-BE32-E72D297353CC}">
                <c16:uniqueId val="{0000000F-C0E3-4D09-A188-D1360DFA6989}"/>
              </c:ext>
            </c:extLst>
          </c:dPt>
          <c:dPt>
            <c:idx val="8"/>
            <c:bubble3D val="0"/>
            <c:spPr>
              <a:solidFill>
                <a:schemeClr val="accent3">
                  <a:lumMod val="60000"/>
                </a:schemeClr>
              </a:solidFill>
              <a:ln w="19050">
                <a:solidFill>
                  <a:schemeClr val="lt1"/>
                </a:solidFill>
              </a:ln>
              <a:effectLst/>
            </c:spPr>
            <c:extLst>
              <c:ext xmlns:c16="http://schemas.microsoft.com/office/drawing/2014/chart" uri="{C3380CC4-5D6E-409C-BE32-E72D297353CC}">
                <c16:uniqueId val="{00000011-C0E3-4D09-A188-D1360DFA6989}"/>
              </c:ext>
            </c:extLst>
          </c:dPt>
          <c:dPt>
            <c:idx val="9"/>
            <c:bubble3D val="0"/>
            <c:spPr>
              <a:solidFill>
                <a:schemeClr val="accent4">
                  <a:lumMod val="60000"/>
                </a:schemeClr>
              </a:solidFill>
              <a:ln w="19050">
                <a:solidFill>
                  <a:schemeClr val="lt1"/>
                </a:solidFill>
              </a:ln>
              <a:effectLst/>
            </c:spPr>
            <c:extLst>
              <c:ext xmlns:c16="http://schemas.microsoft.com/office/drawing/2014/chart" uri="{C3380CC4-5D6E-409C-BE32-E72D297353CC}">
                <c16:uniqueId val="{00000013-C0E3-4D09-A188-D1360DFA6989}"/>
              </c:ext>
            </c:extLst>
          </c:dPt>
          <c:dPt>
            <c:idx val="10"/>
            <c:bubble3D val="0"/>
            <c:spPr>
              <a:solidFill>
                <a:schemeClr val="accent5">
                  <a:lumMod val="60000"/>
                </a:schemeClr>
              </a:solidFill>
              <a:ln w="19050">
                <a:solidFill>
                  <a:schemeClr val="lt1"/>
                </a:solidFill>
              </a:ln>
              <a:effectLst/>
            </c:spPr>
            <c:extLst>
              <c:ext xmlns:c16="http://schemas.microsoft.com/office/drawing/2014/chart" uri="{C3380CC4-5D6E-409C-BE32-E72D297353CC}">
                <c16:uniqueId val="{00000015-C0E3-4D09-A188-D1360DFA6989}"/>
              </c:ext>
            </c:extLst>
          </c:dPt>
          <c:dPt>
            <c:idx val="11"/>
            <c:bubble3D val="0"/>
            <c:spPr>
              <a:solidFill>
                <a:schemeClr val="accent6">
                  <a:lumMod val="60000"/>
                </a:schemeClr>
              </a:solidFill>
              <a:ln w="19050">
                <a:solidFill>
                  <a:schemeClr val="lt1"/>
                </a:solidFill>
              </a:ln>
              <a:effectLst/>
            </c:spPr>
            <c:extLst>
              <c:ext xmlns:c16="http://schemas.microsoft.com/office/drawing/2014/chart" uri="{C3380CC4-5D6E-409C-BE32-E72D297353CC}">
                <c16:uniqueId val="{00000017-C0E3-4D09-A188-D1360DFA6989}"/>
              </c:ext>
            </c:extLst>
          </c:dPt>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8.33</c:v>
                </c:pt>
                <c:pt idx="1">
                  <c:v>8.33</c:v>
                </c:pt>
                <c:pt idx="2">
                  <c:v>8.33</c:v>
                </c:pt>
                <c:pt idx="3">
                  <c:v>8.33</c:v>
                </c:pt>
                <c:pt idx="4">
                  <c:v>8.33</c:v>
                </c:pt>
                <c:pt idx="5">
                  <c:v>8.33</c:v>
                </c:pt>
                <c:pt idx="6">
                  <c:v>8.33</c:v>
                </c:pt>
                <c:pt idx="7">
                  <c:v>8.33</c:v>
                </c:pt>
                <c:pt idx="8">
                  <c:v>8.33</c:v>
                </c:pt>
                <c:pt idx="9">
                  <c:v>8.33</c:v>
                </c:pt>
                <c:pt idx="10">
                  <c:v>8.33</c:v>
                </c:pt>
                <c:pt idx="11">
                  <c:v>8.33</c:v>
                </c:pt>
              </c:numCache>
            </c:numRef>
          </c:val>
          <c:extLst>
            <c:ext xmlns:c16="http://schemas.microsoft.com/office/drawing/2014/chart" uri="{C3380CC4-5D6E-409C-BE32-E72D297353CC}">
              <c16:uniqueId val="{00000000-1367-42CB-97F6-84F33910AD13}"/>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144F2F-B3C9-4EE2-ACC6-7ECC2B5E55CF}" type="datetimeFigureOut">
              <a:rPr lang="en-US" smtClean="0"/>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200BCC-C81C-427F-BAC9-E9623E22473F}" type="slidenum">
              <a:rPr lang="en-US" smtClean="0"/>
              <a:t>‹#›</a:t>
            </a:fld>
            <a:endParaRPr lang="en-US"/>
          </a:p>
        </p:txBody>
      </p:sp>
    </p:spTree>
    <p:extLst>
      <p:ext uri="{BB962C8B-B14F-4D97-AF65-F5344CB8AC3E}">
        <p14:creationId xmlns:p14="http://schemas.microsoft.com/office/powerpoint/2010/main" val="456983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highlights the ideal iterative flow of evidence-based information from research to clinical practice and measurement to evaluate clinical performance and outcomes for healthcare organizations. Please note that while it is depicted in a linear fashion, the process is often interactive between stakeholders and phases as well as iterative.</a:t>
            </a:r>
          </a:p>
        </p:txBody>
      </p:sp>
      <p:sp>
        <p:nvSpPr>
          <p:cNvPr id="4" name="Slide Number Placeholder 3"/>
          <p:cNvSpPr>
            <a:spLocks noGrp="1"/>
          </p:cNvSpPr>
          <p:nvPr>
            <p:ph type="sldNum" sz="quarter" idx="5"/>
          </p:nvPr>
        </p:nvSpPr>
        <p:spPr/>
        <p:txBody>
          <a:bodyPr/>
          <a:lstStyle/>
          <a:p>
            <a:fld id="{0F200BCC-C81C-427F-BAC9-E9623E22473F}" type="slidenum">
              <a:rPr lang="en-US" smtClean="0"/>
              <a:t>3</a:t>
            </a:fld>
            <a:endParaRPr lang="en-US"/>
          </a:p>
        </p:txBody>
      </p:sp>
    </p:spTree>
    <p:extLst>
      <p:ext uri="{BB962C8B-B14F-4D97-AF65-F5344CB8AC3E}">
        <p14:creationId xmlns:p14="http://schemas.microsoft.com/office/powerpoint/2010/main" val="984406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highlights the ideal iterative flow of evidence-based information from research to clinical practice and measurement to evaluate clinical performance and outcomes for healthcare organizations. Please note that while it is depicted in a linear fashion, the process is often interactive between stakeholders and phases as well as iterative.</a:t>
            </a:r>
          </a:p>
        </p:txBody>
      </p:sp>
      <p:sp>
        <p:nvSpPr>
          <p:cNvPr id="4" name="Slide Number Placeholder 3"/>
          <p:cNvSpPr>
            <a:spLocks noGrp="1"/>
          </p:cNvSpPr>
          <p:nvPr>
            <p:ph type="sldNum" sz="quarter" idx="5"/>
          </p:nvPr>
        </p:nvSpPr>
        <p:spPr/>
        <p:txBody>
          <a:bodyPr/>
          <a:lstStyle/>
          <a:p>
            <a:fld id="{0F200BCC-C81C-427F-BAC9-E9623E22473F}" type="slidenum">
              <a:rPr lang="en-US" smtClean="0"/>
              <a:t>4</a:t>
            </a:fld>
            <a:endParaRPr lang="en-US"/>
          </a:p>
        </p:txBody>
      </p:sp>
    </p:spTree>
    <p:extLst>
      <p:ext uri="{BB962C8B-B14F-4D97-AF65-F5344CB8AC3E}">
        <p14:creationId xmlns:p14="http://schemas.microsoft.com/office/powerpoint/2010/main" val="1260442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highlights the ideal iterative flow of evidence-based information from research to clinical practice and measurement to evaluate clinical performance and outcomes for healthcare organizations. Please note that while it is depicted in a linear fashion, the process is often interactive between stakeholders and phases as well as iterative.</a:t>
            </a:r>
          </a:p>
        </p:txBody>
      </p:sp>
      <p:sp>
        <p:nvSpPr>
          <p:cNvPr id="4" name="Slide Number Placeholder 3"/>
          <p:cNvSpPr>
            <a:spLocks noGrp="1"/>
          </p:cNvSpPr>
          <p:nvPr>
            <p:ph type="sldNum" sz="quarter" idx="5"/>
          </p:nvPr>
        </p:nvSpPr>
        <p:spPr/>
        <p:txBody>
          <a:bodyPr/>
          <a:lstStyle/>
          <a:p>
            <a:fld id="{0F200BCC-C81C-427F-BAC9-E9623E22473F}" type="slidenum">
              <a:rPr lang="en-US" smtClean="0"/>
              <a:t>5</a:t>
            </a:fld>
            <a:endParaRPr lang="en-US"/>
          </a:p>
        </p:txBody>
      </p:sp>
    </p:spTree>
    <p:extLst>
      <p:ext uri="{BB962C8B-B14F-4D97-AF65-F5344CB8AC3E}">
        <p14:creationId xmlns:p14="http://schemas.microsoft.com/office/powerpoint/2010/main" val="1253947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FHIR-based Knowledge Representation Specifications</a:t>
            </a:r>
          </a:p>
          <a:p>
            <a:r>
              <a:rPr lang="en-US" dirty="0"/>
              <a:t>This diagram depicts 4 categories of specifications, with representative examples of each category, illustrating how the various pieces can be used together to deliver shareable clinical reasoning artifacts such as quality measures and decision support rules.</a:t>
            </a:r>
          </a:p>
          <a:p>
            <a:r>
              <a:rPr lang="en-US" dirty="0"/>
              <a:t>Along the bottom of the diagram are the foundational standards, including FHIR, with the 5 layers of Foundation, Conformance, Administration, Clinical, and Reasoning, as well as expression language and integration standards including </a:t>
            </a:r>
            <a:r>
              <a:rPr lang="en-US" dirty="0" err="1"/>
              <a:t>FHIRPath</a:t>
            </a:r>
            <a:r>
              <a:rPr lang="en-US" dirty="0"/>
              <a:t>, Clinical Quality Language, CDS Hooks, and SMART-on-FHIR.</a:t>
            </a:r>
          </a:p>
          <a:p>
            <a:r>
              <a:rPr lang="en-US" dirty="0"/>
              <a:t>In the middle left are the Model Implementation Guides, typically derived from Administration and Clinical resources such as Patient, Encounter, and </a:t>
            </a:r>
            <a:r>
              <a:rPr lang="en-US" dirty="0" err="1"/>
              <a:t>MedicationRequest</a:t>
            </a:r>
            <a:r>
              <a:rPr lang="en-US" dirty="0"/>
              <a:t>. Model IGs are typically built to address a broad range of use cases, focused on a particular target realm or domain.</a:t>
            </a:r>
          </a:p>
          <a:p>
            <a:r>
              <a:rPr lang="en-US" dirty="0"/>
              <a:t>In the middle right are the Specification Implementation Guides, which derive from the FHIR Clinical Reasoning resources to provide implementation guidance and conformance requirements for the creation, distribution, evaluation, and maintenance of shareable clinical knowledge. For example, the Quality Measure IG provides guidance on and conformance requirements for the use of the FHIR Measure and Library resources to create and share clinical quality measures, Data Exchange for Quality Measures (DEQM) provides guidance for reporting quality measures, and the Clinical Practice Guidelines IG (CPG-on-FHIR) demonstrates how to </a:t>
            </a:r>
            <a:r>
              <a:rPr lang="en-US"/>
              <a:t>build shareable computable </a:t>
            </a:r>
            <a:r>
              <a:rPr lang="en-US" dirty="0"/>
              <a:t>guideline content.</a:t>
            </a:r>
          </a:p>
          <a:p>
            <a:r>
              <a:rPr lang="en-US" dirty="0"/>
              <a:t>And finally, at the top of the diagram, the Content Implementation Guides are FHIR Implementation Guides, but not necessarily balloted as HL7 standards, rather these use the FHIR publication toolchain to support authoring and distribution, but the content is stewarded by separate authorities such as quality agencies and guideline developers; groups that have their own governance and maintenance policies. For example, the HEDIS IG contains HEDIS quality measures expressed using FHIR Measure and Library resources, and conforming to the Quality Measure IG profiles, while the CDC Opioid Prescribing IG and WHO Antenatal Care IGs contain decision support content to streamline guideline implementation. The content IGs conform to the specification IGs, and typically make use of the model IGs to define content focused on a particular realm.</a:t>
            </a:r>
          </a:p>
          <a:p>
            <a:endParaRPr lang="en-US" dirty="0"/>
          </a:p>
          <a:p>
            <a:r>
              <a:rPr lang="en-US" dirty="0"/>
              <a:t>The Foundation layer of FHIR defines the core data exchange protocol. The Conformance layer defines how resources, profiles, and terminologies are represented and used. The Administration layer defines individuals, locations, organizations, and encounters. The Clinical layer defines clinical information such as observations, medications, procedures, and orders. And the Reasoning layer provides definitional artifacts like plan and activity definitions, libraries, and measures.</a:t>
            </a:r>
          </a:p>
          <a:p>
            <a:endParaRPr lang="en-US" dirty="0"/>
          </a:p>
          <a:p>
            <a:r>
              <a:rPr lang="en-US" dirty="0" err="1"/>
              <a:t>FHIRPath</a:t>
            </a:r>
            <a:r>
              <a:rPr lang="en-US" dirty="0"/>
              <a:t> is a simple, yet powerful, model-independent expression language that is used extensively throughout FHIR to describe paths to elements on resources, and define invariants on profiles.</a:t>
            </a:r>
          </a:p>
          <a:p>
            <a:r>
              <a:rPr lang="en-US" dirty="0"/>
              <a:t>CQL is a superset of </a:t>
            </a:r>
            <a:r>
              <a:rPr lang="en-US" dirty="0" err="1"/>
              <a:t>FHIRPath</a:t>
            </a:r>
            <a:r>
              <a:rPr lang="en-US" dirty="0"/>
              <a:t> that provides an author-friendly format for the description of clinical logic, as well as a machine-friendly format for processing the logic.</a:t>
            </a:r>
          </a:p>
          <a:p>
            <a:r>
              <a:rPr lang="en-US" dirty="0"/>
              <a:t>CDS Hooks is an HL7 standard specification for integrating decision support services with clinical systems. It is primarily focused on provide-facing remote decision support within an EMR.</a:t>
            </a:r>
          </a:p>
          <a:p>
            <a:r>
              <a:rPr lang="en-US" dirty="0"/>
              <a:t>SMART-on-FHIR is an HL7 standard specification for integrating clinical applications into EMRs using FHIR.</a:t>
            </a:r>
          </a:p>
          <a:p>
            <a:endParaRPr lang="en-US" dirty="0"/>
          </a:p>
          <a:p>
            <a:r>
              <a:rPr lang="en-US" dirty="0"/>
              <a:t>International Patient Summary (IPS) is a set of internationally applicable FHIR profiles used to share patient information across international boundaries. As a result, it forms an excellent foundation for expressing universally applicable content guidelines such as the WHO Antenatal Care (WHO ANC).</a:t>
            </a:r>
          </a:p>
          <a:p>
            <a:r>
              <a:rPr lang="en-US" dirty="0"/>
              <a:t>US Core is a set of profiles focused on enabling exchange of the US Clinical Data for Interoperability (US CDI), and is supported by a broad range of EMR vendors within the US.</a:t>
            </a:r>
          </a:p>
          <a:p>
            <a:r>
              <a:rPr lang="en-US" dirty="0"/>
              <a:t>QI Core is a set of profiles that derives from US Core to enable quality improvement use cases such as quality measurement and decision support within the US.</a:t>
            </a:r>
          </a:p>
        </p:txBody>
      </p:sp>
      <p:sp>
        <p:nvSpPr>
          <p:cNvPr id="4" name="Slide Number Placeholder 3"/>
          <p:cNvSpPr>
            <a:spLocks noGrp="1"/>
          </p:cNvSpPr>
          <p:nvPr>
            <p:ph type="sldNum" sz="quarter" idx="5"/>
          </p:nvPr>
        </p:nvSpPr>
        <p:spPr/>
        <p:txBody>
          <a:bodyPr/>
          <a:lstStyle/>
          <a:p>
            <a:fld id="{0F200BCC-C81C-427F-BAC9-E9623E22473F}" type="slidenum">
              <a:rPr lang="en-US" smtClean="0"/>
              <a:t>8</a:t>
            </a:fld>
            <a:endParaRPr lang="en-US"/>
          </a:p>
        </p:txBody>
      </p:sp>
    </p:spTree>
    <p:extLst>
      <p:ext uri="{BB962C8B-B14F-4D97-AF65-F5344CB8AC3E}">
        <p14:creationId xmlns:p14="http://schemas.microsoft.com/office/powerpoint/2010/main" val="2511664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FHIR-based Knowledge Representation Specifications</a:t>
            </a:r>
          </a:p>
          <a:p>
            <a:r>
              <a:rPr lang="en-US" dirty="0"/>
              <a:t>This diagram depicts 4 categories of specifications, with representative examples of each category, illustrating how the various pieces can be used together to deliver shareable clinical reasoning artifacts such as quality measures and decision support rules.</a:t>
            </a:r>
          </a:p>
          <a:p>
            <a:r>
              <a:rPr lang="en-US" dirty="0"/>
              <a:t>Along the bottom of the diagram are the foundational standards, including FHIR, with the 5 layers of Foundation, Conformance, Administration, Clinical, and Reasoning, as well as expression language and integration standards including </a:t>
            </a:r>
            <a:r>
              <a:rPr lang="en-US" dirty="0" err="1"/>
              <a:t>FHIRPath</a:t>
            </a:r>
            <a:r>
              <a:rPr lang="en-US" dirty="0"/>
              <a:t>, Clinical Quality Language, CDS Hooks, and SMART-on-FHIR.</a:t>
            </a:r>
          </a:p>
          <a:p>
            <a:r>
              <a:rPr lang="en-US" dirty="0"/>
              <a:t>In the middle left are the Model Implementation Guides, typically derived from Administration and Clinical resources such as Patient, Encounter, and </a:t>
            </a:r>
            <a:r>
              <a:rPr lang="en-US" dirty="0" err="1"/>
              <a:t>MedicationRequest</a:t>
            </a:r>
            <a:r>
              <a:rPr lang="en-US" dirty="0"/>
              <a:t>. Model IGs are typically built to address a broad range of use cases, focused on a particular target realm or domain.</a:t>
            </a:r>
          </a:p>
          <a:p>
            <a:r>
              <a:rPr lang="en-US" dirty="0"/>
              <a:t>In the middle right are the Specification Implementation Guides, which derive from the FHIR Clinical Reasoning resources to provide implementation guidance and conformance requirements for the creation, distribution, evaluation, and maintenance of shareable clinical knowledge. For example, the Quality Measure IG provides guidance on and conformance requirements for the use of the FHIR Measure and Library resources to create and share clinical quality measures, Data Exchange for Quality Measures (DEQM) provides guidance for reporting quality measures, and the Clinical Practice Guidelines IG (CPG-on-FHIR) demonstrates how to </a:t>
            </a:r>
            <a:r>
              <a:rPr lang="en-US"/>
              <a:t>build shareable computable </a:t>
            </a:r>
            <a:r>
              <a:rPr lang="en-US" dirty="0"/>
              <a:t>guideline content.</a:t>
            </a:r>
          </a:p>
          <a:p>
            <a:r>
              <a:rPr lang="en-US" dirty="0"/>
              <a:t>And finally, at the top of the diagram, the Content Implementation Guides are FHIR Implementation Guides, but not necessarily balloted as HL7 standards, rather these use the FHIR publication toolchain to support authoring and distribution, but the content is stewarded by separate authorities such as quality agencies and guideline developers; groups that have their own governance and maintenance policies. For example, the HEDIS IG contains HEDIS quality measures expressed using FHIR Measure and Library resources, and conforming to the Quality Measure IG profiles, while the CDC Opioid Prescribing IG and WHO Antenatal Care IGs contain decision support content to streamline guideline implementation. The content IGs conform to the specification IGs, and typically make use of the model IGs to define content focused on a particular realm.</a:t>
            </a:r>
          </a:p>
          <a:p>
            <a:endParaRPr lang="en-US" dirty="0"/>
          </a:p>
          <a:p>
            <a:r>
              <a:rPr lang="en-US" dirty="0"/>
              <a:t>The Foundation layer of FHIR defines the core data exchange protocol. The Conformance layer defines how resources, profiles, and terminologies are represented and used. The Administration layer defines individuals, locations, organizations, and encounters. The Clinical layer defines clinical information such as observations, medications, procedures, and orders. And the Reasoning layer provides definitional artifacts like plan and activity definitions, libraries, and measures.</a:t>
            </a:r>
          </a:p>
          <a:p>
            <a:endParaRPr lang="en-US" dirty="0"/>
          </a:p>
          <a:p>
            <a:r>
              <a:rPr lang="en-US" dirty="0" err="1"/>
              <a:t>FHIRPath</a:t>
            </a:r>
            <a:r>
              <a:rPr lang="en-US" dirty="0"/>
              <a:t> is a simple, yet powerful, model-independent expression language that is used extensively throughout FHIR to describe paths to elements on resources, and define invariants on profiles.</a:t>
            </a:r>
          </a:p>
          <a:p>
            <a:r>
              <a:rPr lang="en-US" dirty="0"/>
              <a:t>CQL is a superset of </a:t>
            </a:r>
            <a:r>
              <a:rPr lang="en-US" dirty="0" err="1"/>
              <a:t>FHIRPath</a:t>
            </a:r>
            <a:r>
              <a:rPr lang="en-US" dirty="0"/>
              <a:t> that provides an author-friendly format for the description of clinical logic, as well as a machine-friendly format for processing the logic.</a:t>
            </a:r>
          </a:p>
          <a:p>
            <a:r>
              <a:rPr lang="en-US" dirty="0"/>
              <a:t>CDS Hooks is an HL7 standard specification for integrating decision support services with clinical systems. It is primarily focused on provide-facing remote decision support within an EMR.</a:t>
            </a:r>
          </a:p>
          <a:p>
            <a:r>
              <a:rPr lang="en-US" dirty="0"/>
              <a:t>SMART-on-FHIR is an HL7 standard specification for integrating clinical applications into EMRs using FHIR.</a:t>
            </a:r>
          </a:p>
          <a:p>
            <a:endParaRPr lang="en-US" dirty="0"/>
          </a:p>
          <a:p>
            <a:r>
              <a:rPr lang="en-US" dirty="0"/>
              <a:t>International Patient Summary (IPS) is a set of internationally applicable FHIR profiles used to share patient information across international boundaries. As a result, it forms an excellent foundation for expressing universally applicable content guidelines such as the WHO Antenatal Care (WHO ANC).</a:t>
            </a:r>
          </a:p>
          <a:p>
            <a:r>
              <a:rPr lang="en-US" dirty="0"/>
              <a:t>US Core is a set of profiles focused on enabling exchange of the US Clinical Data for Interoperability (US CDI), and is supported by a broad range of EMR vendors within the US.</a:t>
            </a:r>
          </a:p>
          <a:p>
            <a:r>
              <a:rPr lang="en-US" dirty="0"/>
              <a:t>QI Core is a set of profiles that derives from US Core to enable quality improvement use cases such as quality measurement and decision support within the US.</a:t>
            </a:r>
          </a:p>
        </p:txBody>
      </p:sp>
      <p:sp>
        <p:nvSpPr>
          <p:cNvPr id="4" name="Slide Number Placeholder 3"/>
          <p:cNvSpPr>
            <a:spLocks noGrp="1"/>
          </p:cNvSpPr>
          <p:nvPr>
            <p:ph type="sldNum" sz="quarter" idx="5"/>
          </p:nvPr>
        </p:nvSpPr>
        <p:spPr/>
        <p:txBody>
          <a:bodyPr/>
          <a:lstStyle/>
          <a:p>
            <a:fld id="{0F200BCC-C81C-427F-BAC9-E9623E22473F}" type="slidenum">
              <a:rPr lang="en-US" smtClean="0"/>
              <a:t>9</a:t>
            </a:fld>
            <a:endParaRPr lang="en-US"/>
          </a:p>
        </p:txBody>
      </p:sp>
    </p:spTree>
    <p:extLst>
      <p:ext uri="{BB962C8B-B14F-4D97-AF65-F5344CB8AC3E}">
        <p14:creationId xmlns:p14="http://schemas.microsoft.com/office/powerpoint/2010/main" val="44054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FHIR-based Knowledge Representation Specifications</a:t>
            </a:r>
          </a:p>
          <a:p>
            <a:r>
              <a:rPr lang="en-US" dirty="0"/>
              <a:t>This diagram depicts 4 categories of specifications, with representative examples of each category, illustrating how the various pieces can be used together to deliver shareable clinical reasoning artifacts such as quality measures and decision support rules.</a:t>
            </a:r>
          </a:p>
          <a:p>
            <a:r>
              <a:rPr lang="en-US" dirty="0"/>
              <a:t>Along the bottom of the diagram are the foundational standards, including FHIR, with the 5 layers of Foundation, Conformance, Administration, Clinical, and Reasoning, as well as expression language and integration standards including </a:t>
            </a:r>
            <a:r>
              <a:rPr lang="en-US" dirty="0" err="1"/>
              <a:t>FHIRPath</a:t>
            </a:r>
            <a:r>
              <a:rPr lang="en-US" dirty="0"/>
              <a:t>, Clinical Quality Language, CDS Hooks, and SMART-on-FHIR.</a:t>
            </a:r>
          </a:p>
          <a:p>
            <a:r>
              <a:rPr lang="en-US" dirty="0"/>
              <a:t>In the middle left are the Model Implementation Guides, typically derived from Administration and Clinical resources such as Patient, Encounter, and </a:t>
            </a:r>
            <a:r>
              <a:rPr lang="en-US" dirty="0" err="1"/>
              <a:t>MedicationRequest</a:t>
            </a:r>
            <a:r>
              <a:rPr lang="en-US" dirty="0"/>
              <a:t>. Model IGs are typically built to address a broad range of use cases, focused on a particular target realm or domain.</a:t>
            </a:r>
          </a:p>
          <a:p>
            <a:r>
              <a:rPr lang="en-US" dirty="0"/>
              <a:t>In the middle right are the Specification Implementation Guides, which derive from the FHIR Clinical Reasoning resources to provide implementation guidance and conformance requirements for the creation, distribution, evaluation, and maintenance of shareable clinical knowledge. For example, the Quality Measure IG provides guidance on and conformance requirements for the use of the FHIR Measure and Library resources to create and share clinical quality measures, Data Exchange for Quality Measures (DEQM) provides guidance for reporting quality measures, and the Clinical Practice Guidelines IG (CPG-on-FHIR) demonstrates how to </a:t>
            </a:r>
            <a:r>
              <a:rPr lang="en-US"/>
              <a:t>build shareable computable </a:t>
            </a:r>
            <a:r>
              <a:rPr lang="en-US" dirty="0"/>
              <a:t>guideline content.</a:t>
            </a:r>
          </a:p>
          <a:p>
            <a:r>
              <a:rPr lang="en-US" dirty="0"/>
              <a:t>And finally, at the top of the diagram, the Content Implementation Guides are FHIR Implementation Guides, but not necessarily balloted as HL7 standards, rather these use the FHIR publication toolchain to support authoring and distribution, but the content is stewarded by separate authorities such as quality agencies and guideline developers; groups that have their own governance and maintenance policies. For example, the HEDIS IG contains HEDIS quality measures expressed using FHIR Measure and Library resources, and conforming to the Quality Measure IG profiles, while the CDC Opioid Prescribing IG and WHO Antenatal Care IGs contain decision support content to streamline guideline implementation. The content IGs conform to the specification IGs, and typically make use of the model IGs to define content focused on a particular realm.</a:t>
            </a:r>
          </a:p>
          <a:p>
            <a:endParaRPr lang="en-US" dirty="0"/>
          </a:p>
          <a:p>
            <a:r>
              <a:rPr lang="en-US" dirty="0"/>
              <a:t>The Foundation layer of FHIR defines the core data exchange protocol. The Conformance layer defines how resources, profiles, and terminologies are represented and used. The Administration layer defines individuals, locations, organizations, and encounters. The Clinical layer defines clinical information such as observations, medications, procedures, and orders. And the Reasoning layer provides definitional artifacts like plan and activity definitions, libraries, and measures.</a:t>
            </a:r>
          </a:p>
          <a:p>
            <a:endParaRPr lang="en-US" dirty="0"/>
          </a:p>
          <a:p>
            <a:r>
              <a:rPr lang="en-US" dirty="0" err="1"/>
              <a:t>FHIRPath</a:t>
            </a:r>
            <a:r>
              <a:rPr lang="en-US" dirty="0"/>
              <a:t> is a simple, yet powerful, model-independent expression language that is used extensively throughout FHIR to describe paths to elements on resources, and define invariants on profiles.</a:t>
            </a:r>
          </a:p>
          <a:p>
            <a:r>
              <a:rPr lang="en-US" dirty="0"/>
              <a:t>CQL is a superset of </a:t>
            </a:r>
            <a:r>
              <a:rPr lang="en-US" dirty="0" err="1"/>
              <a:t>FHIRPath</a:t>
            </a:r>
            <a:r>
              <a:rPr lang="en-US" dirty="0"/>
              <a:t> that provides an author-friendly format for the description of clinical logic, as well as a machine-friendly format for processing the logic.</a:t>
            </a:r>
          </a:p>
          <a:p>
            <a:r>
              <a:rPr lang="en-US" dirty="0"/>
              <a:t>CDS Hooks is an HL7 standard specification for integrating decision support services with clinical systems. It is primarily focused on provide-facing remote decision support within an EMR.</a:t>
            </a:r>
          </a:p>
          <a:p>
            <a:r>
              <a:rPr lang="en-US" dirty="0"/>
              <a:t>SMART-on-FHIR is an HL7 standard specification for integrating clinical applications into EMRs using FHIR.</a:t>
            </a:r>
          </a:p>
          <a:p>
            <a:endParaRPr lang="en-US" dirty="0"/>
          </a:p>
          <a:p>
            <a:r>
              <a:rPr lang="en-US" dirty="0"/>
              <a:t>International Patient Summary (IPS) is a set of internationally applicable FHIR profiles used to share patient information across international boundaries. As a result, it forms an excellent foundation for expressing universally applicable content guidelines such as the WHO Antenatal Care (WHO ANC).</a:t>
            </a:r>
          </a:p>
          <a:p>
            <a:r>
              <a:rPr lang="en-US" dirty="0"/>
              <a:t>US Core is a set of profiles focused on enabling exchange of the US Clinical Data for Interoperability (US CDI), and is supported by a broad range of EMR vendors within the US.</a:t>
            </a:r>
          </a:p>
          <a:p>
            <a:r>
              <a:rPr lang="en-US" dirty="0"/>
              <a:t>QI Core is a set of profiles that derives from US Core to enable quality improvement use cases such as quality measurement and decision support within the US.</a:t>
            </a:r>
          </a:p>
        </p:txBody>
      </p:sp>
      <p:sp>
        <p:nvSpPr>
          <p:cNvPr id="4" name="Slide Number Placeholder 3"/>
          <p:cNvSpPr>
            <a:spLocks noGrp="1"/>
          </p:cNvSpPr>
          <p:nvPr>
            <p:ph type="sldNum" sz="quarter" idx="5"/>
          </p:nvPr>
        </p:nvSpPr>
        <p:spPr/>
        <p:txBody>
          <a:bodyPr/>
          <a:lstStyle/>
          <a:p>
            <a:fld id="{0F200BCC-C81C-427F-BAC9-E9623E22473F}" type="slidenum">
              <a:rPr lang="en-US" smtClean="0"/>
              <a:t>10</a:t>
            </a:fld>
            <a:endParaRPr lang="en-US"/>
          </a:p>
        </p:txBody>
      </p:sp>
    </p:spTree>
    <p:extLst>
      <p:ext uri="{BB962C8B-B14F-4D97-AF65-F5344CB8AC3E}">
        <p14:creationId xmlns:p14="http://schemas.microsoft.com/office/powerpoint/2010/main" val="1798991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916D0-3FC7-48DE-A169-C6D48660D6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6FB54E-F7D6-42B8-93E9-ACFE033D9C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124EDC-04B5-4064-B4E0-00889E1FCA6E}"/>
              </a:ext>
            </a:extLst>
          </p:cNvPr>
          <p:cNvSpPr>
            <a:spLocks noGrp="1"/>
          </p:cNvSpPr>
          <p:nvPr>
            <p:ph type="dt" sz="half" idx="10"/>
          </p:nvPr>
        </p:nvSpPr>
        <p:spPr/>
        <p:txBody>
          <a:bodyPr/>
          <a:lstStyle/>
          <a:p>
            <a:fld id="{F201E405-9471-4BE3-8A8B-95E639A9EAAC}" type="datetimeFigureOut">
              <a:rPr lang="en-US" smtClean="0"/>
              <a:t>6/9/2026</a:t>
            </a:fld>
            <a:endParaRPr lang="en-US"/>
          </a:p>
        </p:txBody>
      </p:sp>
      <p:sp>
        <p:nvSpPr>
          <p:cNvPr id="5" name="Footer Placeholder 4">
            <a:extLst>
              <a:ext uri="{FF2B5EF4-FFF2-40B4-BE49-F238E27FC236}">
                <a16:creationId xmlns:a16="http://schemas.microsoft.com/office/drawing/2014/main" id="{482C9072-A680-49A4-A77E-064083F262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76B84B-AF4B-4EB9-ACF7-F1CC6EFC085F}"/>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536081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2A0B7-523D-487D-B980-6BF56C3F977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E28469-4C35-446D-9A16-440AF16550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683433-4C59-4B4E-92CF-51F7258F21A5}"/>
              </a:ext>
            </a:extLst>
          </p:cNvPr>
          <p:cNvSpPr>
            <a:spLocks noGrp="1"/>
          </p:cNvSpPr>
          <p:nvPr>
            <p:ph type="dt" sz="half" idx="10"/>
          </p:nvPr>
        </p:nvSpPr>
        <p:spPr/>
        <p:txBody>
          <a:bodyPr/>
          <a:lstStyle/>
          <a:p>
            <a:fld id="{F201E405-9471-4BE3-8A8B-95E639A9EAAC}" type="datetimeFigureOut">
              <a:rPr lang="en-US" smtClean="0"/>
              <a:t>6/9/2026</a:t>
            </a:fld>
            <a:endParaRPr lang="en-US"/>
          </a:p>
        </p:txBody>
      </p:sp>
      <p:sp>
        <p:nvSpPr>
          <p:cNvPr id="5" name="Footer Placeholder 4">
            <a:extLst>
              <a:ext uri="{FF2B5EF4-FFF2-40B4-BE49-F238E27FC236}">
                <a16:creationId xmlns:a16="http://schemas.microsoft.com/office/drawing/2014/main" id="{E4FC1D7C-2D54-4151-BF56-99912DB32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70CAD1-C956-46BA-9CC3-65A858A46B34}"/>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04433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C37EE-B959-49E3-A0D6-9E1B8F77A4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6539F74-B925-4A7B-9A38-6154EF48E7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B684A3-0D18-43A0-8D5B-6C459593C6AA}"/>
              </a:ext>
            </a:extLst>
          </p:cNvPr>
          <p:cNvSpPr>
            <a:spLocks noGrp="1"/>
          </p:cNvSpPr>
          <p:nvPr>
            <p:ph type="dt" sz="half" idx="10"/>
          </p:nvPr>
        </p:nvSpPr>
        <p:spPr/>
        <p:txBody>
          <a:bodyPr/>
          <a:lstStyle/>
          <a:p>
            <a:fld id="{F201E405-9471-4BE3-8A8B-95E639A9EAAC}" type="datetimeFigureOut">
              <a:rPr lang="en-US" smtClean="0"/>
              <a:t>6/9/2026</a:t>
            </a:fld>
            <a:endParaRPr lang="en-US"/>
          </a:p>
        </p:txBody>
      </p:sp>
      <p:sp>
        <p:nvSpPr>
          <p:cNvPr id="5" name="Footer Placeholder 4">
            <a:extLst>
              <a:ext uri="{FF2B5EF4-FFF2-40B4-BE49-F238E27FC236}">
                <a16:creationId xmlns:a16="http://schemas.microsoft.com/office/drawing/2014/main" id="{17B017A3-604B-471E-878D-5D1198C7F6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3D5AD8-DBFA-4B6F-A180-4A233327BE7F}"/>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944532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D7D6A-4247-493B-BD0D-B0B4C61686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D728B47-CCAA-4252-834E-54391EDC75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1E8E13-AA3A-4F46-A6AC-1130FE6536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B66AA7-D9E6-47CD-807F-DEC972E67C7D}"/>
              </a:ext>
            </a:extLst>
          </p:cNvPr>
          <p:cNvSpPr>
            <a:spLocks noGrp="1"/>
          </p:cNvSpPr>
          <p:nvPr>
            <p:ph type="dt" sz="half" idx="10"/>
          </p:nvPr>
        </p:nvSpPr>
        <p:spPr/>
        <p:txBody>
          <a:bodyPr/>
          <a:lstStyle/>
          <a:p>
            <a:fld id="{F201E405-9471-4BE3-8A8B-95E639A9EAAC}" type="datetimeFigureOut">
              <a:rPr lang="en-US" smtClean="0"/>
              <a:t>6/9/2026</a:t>
            </a:fld>
            <a:endParaRPr lang="en-US"/>
          </a:p>
        </p:txBody>
      </p:sp>
      <p:sp>
        <p:nvSpPr>
          <p:cNvPr id="6" name="Footer Placeholder 5">
            <a:extLst>
              <a:ext uri="{FF2B5EF4-FFF2-40B4-BE49-F238E27FC236}">
                <a16:creationId xmlns:a16="http://schemas.microsoft.com/office/drawing/2014/main" id="{0983CE5A-C6AE-4E7C-976B-69721EF72F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DB184D-4A6A-4442-AF29-5349528FE2EC}"/>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2452774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A07C8-2AD2-4AAF-BA06-131DA198B0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5BC4D45-4088-40B1-AA07-D990371E06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9E44A4-1D39-4200-86D5-A94F755510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005826B-639A-4B81-ABF9-9B104274F6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472226-FA54-4EEB-A6C9-1ADD530A25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8743223-EB9E-4212-922B-D6498D09C89B}"/>
              </a:ext>
            </a:extLst>
          </p:cNvPr>
          <p:cNvSpPr>
            <a:spLocks noGrp="1"/>
          </p:cNvSpPr>
          <p:nvPr>
            <p:ph type="dt" sz="half" idx="10"/>
          </p:nvPr>
        </p:nvSpPr>
        <p:spPr/>
        <p:txBody>
          <a:bodyPr/>
          <a:lstStyle/>
          <a:p>
            <a:fld id="{F201E405-9471-4BE3-8A8B-95E639A9EAAC}" type="datetimeFigureOut">
              <a:rPr lang="en-US" smtClean="0"/>
              <a:t>6/9/2026</a:t>
            </a:fld>
            <a:endParaRPr lang="en-US"/>
          </a:p>
        </p:txBody>
      </p:sp>
      <p:sp>
        <p:nvSpPr>
          <p:cNvPr id="8" name="Footer Placeholder 7">
            <a:extLst>
              <a:ext uri="{FF2B5EF4-FFF2-40B4-BE49-F238E27FC236}">
                <a16:creationId xmlns:a16="http://schemas.microsoft.com/office/drawing/2014/main" id="{170AF060-F581-4A2F-8808-26F239A3FA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57EEBE6-CB89-4FA7-9435-3FAE5B1DA939}"/>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2792053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DE274-81C3-42B7-9582-9EF787B1F2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5B8C55-CF7F-4518-ABDA-E3D3EF000607}"/>
              </a:ext>
            </a:extLst>
          </p:cNvPr>
          <p:cNvSpPr>
            <a:spLocks noGrp="1"/>
          </p:cNvSpPr>
          <p:nvPr>
            <p:ph type="dt" sz="half" idx="10"/>
          </p:nvPr>
        </p:nvSpPr>
        <p:spPr/>
        <p:txBody>
          <a:bodyPr/>
          <a:lstStyle/>
          <a:p>
            <a:fld id="{F201E405-9471-4BE3-8A8B-95E639A9EAAC}" type="datetimeFigureOut">
              <a:rPr lang="en-US" smtClean="0"/>
              <a:t>6/9/2026</a:t>
            </a:fld>
            <a:endParaRPr lang="en-US"/>
          </a:p>
        </p:txBody>
      </p:sp>
      <p:sp>
        <p:nvSpPr>
          <p:cNvPr id="4" name="Footer Placeholder 3">
            <a:extLst>
              <a:ext uri="{FF2B5EF4-FFF2-40B4-BE49-F238E27FC236}">
                <a16:creationId xmlns:a16="http://schemas.microsoft.com/office/drawing/2014/main" id="{9D45AD7C-D367-456B-82C6-A4053F17ED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0CD656-F35D-4856-AE36-2D1C2F177692}"/>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628800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6D546A-2F6A-4D8E-BC76-659E64D0BE54}"/>
              </a:ext>
            </a:extLst>
          </p:cNvPr>
          <p:cNvSpPr>
            <a:spLocks noGrp="1"/>
          </p:cNvSpPr>
          <p:nvPr>
            <p:ph type="dt" sz="half" idx="10"/>
          </p:nvPr>
        </p:nvSpPr>
        <p:spPr/>
        <p:txBody>
          <a:bodyPr/>
          <a:lstStyle/>
          <a:p>
            <a:fld id="{F201E405-9471-4BE3-8A8B-95E639A9EAAC}" type="datetimeFigureOut">
              <a:rPr lang="en-US" smtClean="0"/>
              <a:t>6/9/2026</a:t>
            </a:fld>
            <a:endParaRPr lang="en-US"/>
          </a:p>
        </p:txBody>
      </p:sp>
      <p:sp>
        <p:nvSpPr>
          <p:cNvPr id="3" name="Footer Placeholder 2">
            <a:extLst>
              <a:ext uri="{FF2B5EF4-FFF2-40B4-BE49-F238E27FC236}">
                <a16:creationId xmlns:a16="http://schemas.microsoft.com/office/drawing/2014/main" id="{23C85935-652F-442B-97E4-3DE1266B98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032A59-3F6C-4BEC-9F12-9CEAFAB59CA6}"/>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2729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C7E293-90FD-412D-8181-86AD7DD120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2D63AB9-A155-4FF9-9CDF-B0E27F9FB7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011FA67-297B-4EBC-9C3F-29FAEDFD50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10B9B2-BE6C-4C9B-9642-2D726C58FF58}"/>
              </a:ext>
            </a:extLst>
          </p:cNvPr>
          <p:cNvSpPr>
            <a:spLocks noGrp="1"/>
          </p:cNvSpPr>
          <p:nvPr>
            <p:ph type="dt" sz="half" idx="10"/>
          </p:nvPr>
        </p:nvSpPr>
        <p:spPr/>
        <p:txBody>
          <a:bodyPr/>
          <a:lstStyle/>
          <a:p>
            <a:fld id="{F201E405-9471-4BE3-8A8B-95E639A9EAAC}" type="datetimeFigureOut">
              <a:rPr lang="en-US" smtClean="0"/>
              <a:t>6/9/2026</a:t>
            </a:fld>
            <a:endParaRPr lang="en-US"/>
          </a:p>
        </p:txBody>
      </p:sp>
      <p:sp>
        <p:nvSpPr>
          <p:cNvPr id="6" name="Footer Placeholder 5">
            <a:extLst>
              <a:ext uri="{FF2B5EF4-FFF2-40B4-BE49-F238E27FC236}">
                <a16:creationId xmlns:a16="http://schemas.microsoft.com/office/drawing/2014/main" id="{38AD2F41-6DEA-4F1E-83BA-6CF6EB32EF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8E53BC-E9A1-4164-9DC8-35EA9A49FA61}"/>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504911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499AA-B8E9-40B0-950E-0D4C0380D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D396655-66B0-4AFA-9C38-ACCC9B66A1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7E8DDEB-026B-4D4C-B604-D27A9D3E4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848266-F96E-441E-92F0-560E3FA32AB5}"/>
              </a:ext>
            </a:extLst>
          </p:cNvPr>
          <p:cNvSpPr>
            <a:spLocks noGrp="1"/>
          </p:cNvSpPr>
          <p:nvPr>
            <p:ph type="dt" sz="half" idx="10"/>
          </p:nvPr>
        </p:nvSpPr>
        <p:spPr/>
        <p:txBody>
          <a:bodyPr/>
          <a:lstStyle/>
          <a:p>
            <a:fld id="{F201E405-9471-4BE3-8A8B-95E639A9EAAC}" type="datetimeFigureOut">
              <a:rPr lang="en-US" smtClean="0"/>
              <a:t>6/9/2026</a:t>
            </a:fld>
            <a:endParaRPr lang="en-US"/>
          </a:p>
        </p:txBody>
      </p:sp>
      <p:sp>
        <p:nvSpPr>
          <p:cNvPr id="6" name="Footer Placeholder 5">
            <a:extLst>
              <a:ext uri="{FF2B5EF4-FFF2-40B4-BE49-F238E27FC236}">
                <a16:creationId xmlns:a16="http://schemas.microsoft.com/office/drawing/2014/main" id="{2F4231DA-F8BC-4D8F-A6AE-2DB1A73541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9405A-2434-463F-98B5-69133A05B91C}"/>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1415956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3A7173-9469-410E-9780-9B1F2CA7A76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CB4B02F-26BF-4F6F-A59E-6A2DE5011EE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5B8D76-B477-4382-968D-9FDB1F9DA4C8}"/>
              </a:ext>
            </a:extLst>
          </p:cNvPr>
          <p:cNvSpPr>
            <a:spLocks noGrp="1"/>
          </p:cNvSpPr>
          <p:nvPr>
            <p:ph type="dt" sz="half" idx="10"/>
          </p:nvPr>
        </p:nvSpPr>
        <p:spPr/>
        <p:txBody>
          <a:bodyPr/>
          <a:lstStyle/>
          <a:p>
            <a:fld id="{F201E405-9471-4BE3-8A8B-95E639A9EAAC}" type="datetimeFigureOut">
              <a:rPr lang="en-US" smtClean="0"/>
              <a:t>6/9/2026</a:t>
            </a:fld>
            <a:endParaRPr lang="en-US"/>
          </a:p>
        </p:txBody>
      </p:sp>
      <p:sp>
        <p:nvSpPr>
          <p:cNvPr id="5" name="Footer Placeholder 4">
            <a:extLst>
              <a:ext uri="{FF2B5EF4-FFF2-40B4-BE49-F238E27FC236}">
                <a16:creationId xmlns:a16="http://schemas.microsoft.com/office/drawing/2014/main" id="{5D100299-6874-4E81-B496-A01EF024C0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BDB754-228F-4E51-8F9F-0C799891765E}"/>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663840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A3318A-CA5A-4371-9D57-604E3B17DF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A198A49-D41E-493D-9132-5B1A090613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A3AAFE-1343-4CA3-8A7C-1B9C68A5F8FA}"/>
              </a:ext>
            </a:extLst>
          </p:cNvPr>
          <p:cNvSpPr>
            <a:spLocks noGrp="1"/>
          </p:cNvSpPr>
          <p:nvPr>
            <p:ph type="dt" sz="half" idx="10"/>
          </p:nvPr>
        </p:nvSpPr>
        <p:spPr/>
        <p:txBody>
          <a:bodyPr/>
          <a:lstStyle/>
          <a:p>
            <a:fld id="{F201E405-9471-4BE3-8A8B-95E639A9EAAC}" type="datetimeFigureOut">
              <a:rPr lang="en-US" smtClean="0"/>
              <a:t>6/9/2026</a:t>
            </a:fld>
            <a:endParaRPr lang="en-US"/>
          </a:p>
        </p:txBody>
      </p:sp>
      <p:sp>
        <p:nvSpPr>
          <p:cNvPr id="5" name="Footer Placeholder 4">
            <a:extLst>
              <a:ext uri="{FF2B5EF4-FFF2-40B4-BE49-F238E27FC236}">
                <a16:creationId xmlns:a16="http://schemas.microsoft.com/office/drawing/2014/main" id="{47307716-9A40-4148-B942-693998812A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F2BBBB-0D57-46FA-B641-630F71CB3B5F}"/>
              </a:ext>
            </a:extLst>
          </p:cNvPr>
          <p:cNvSpPr>
            <a:spLocks noGrp="1"/>
          </p:cNvSpPr>
          <p:nvPr>
            <p:ph type="sldNum" sz="quarter" idx="12"/>
          </p:nvPr>
        </p:nvSpPr>
        <p:spPr/>
        <p:txBody>
          <a:bodyPr/>
          <a:lstStyle/>
          <a:p>
            <a:fld id="{8D7ABFE1-7BFF-4DCF-BF00-F60FE2D7F04D}" type="slidenum">
              <a:rPr lang="en-US" smtClean="0"/>
              <a:t>‹#›</a:t>
            </a:fld>
            <a:endParaRPr lang="en-US"/>
          </a:p>
        </p:txBody>
      </p:sp>
    </p:spTree>
    <p:extLst>
      <p:ext uri="{BB962C8B-B14F-4D97-AF65-F5344CB8AC3E}">
        <p14:creationId xmlns:p14="http://schemas.microsoft.com/office/powerpoint/2010/main" val="341397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B755FF-88FF-42CA-8B7F-A2EE736D1B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B2251B-2445-4199-8DEE-3D991E2E92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80C35-DFA6-4424-B446-5E61B8F3C2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01E405-9471-4BE3-8A8B-95E639A9EAAC}" type="datetimeFigureOut">
              <a:rPr lang="en-US" smtClean="0"/>
              <a:t>6/9/2026</a:t>
            </a:fld>
            <a:endParaRPr lang="en-US"/>
          </a:p>
        </p:txBody>
      </p:sp>
      <p:sp>
        <p:nvSpPr>
          <p:cNvPr id="5" name="Footer Placeholder 4">
            <a:extLst>
              <a:ext uri="{FF2B5EF4-FFF2-40B4-BE49-F238E27FC236}">
                <a16:creationId xmlns:a16="http://schemas.microsoft.com/office/drawing/2014/main" id="{C752D876-480C-43E1-91F0-B51504775B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7631EC2-4A99-417D-A10F-90E40D84560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7ABFE1-7BFF-4DCF-BF00-F60FE2D7F04D}" type="slidenum">
              <a:rPr lang="en-US" smtClean="0"/>
              <a:t>‹#›</a:t>
            </a:fld>
            <a:endParaRPr lang="en-US"/>
          </a:p>
        </p:txBody>
      </p:sp>
    </p:spTree>
    <p:extLst>
      <p:ext uri="{BB962C8B-B14F-4D97-AF65-F5344CB8AC3E}">
        <p14:creationId xmlns:p14="http://schemas.microsoft.com/office/powerpoint/2010/main" val="31586581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tif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tif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4.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20.png"/><Relationship Id="rId5" Type="http://schemas.openxmlformats.org/officeDocument/2006/relationships/image" Target="../media/image14.svg"/><Relationship Id="rId15" Type="http://schemas.openxmlformats.org/officeDocument/2006/relationships/image" Target="../media/image24.png"/><Relationship Id="rId23" Type="http://schemas.openxmlformats.org/officeDocument/2006/relationships/image" Target="../media/image8.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12.png"/><Relationship Id="rId21" Type="http://schemas.openxmlformats.org/officeDocument/2006/relationships/image" Target="../media/image30.png"/><Relationship Id="rId7" Type="http://schemas.openxmlformats.org/officeDocument/2006/relationships/image" Target="../media/image16.sv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5.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5.svg"/><Relationship Id="rId11" Type="http://schemas.openxmlformats.org/officeDocument/2006/relationships/image" Target="../media/image20.png"/><Relationship Id="rId24" Type="http://schemas.openxmlformats.org/officeDocument/2006/relationships/image" Target="../media/image32.png"/><Relationship Id="rId5" Type="http://schemas.openxmlformats.org/officeDocument/2006/relationships/image" Target="../media/image14.svg"/><Relationship Id="rId15" Type="http://schemas.openxmlformats.org/officeDocument/2006/relationships/image" Target="../media/image24.png"/><Relationship Id="rId23" Type="http://schemas.openxmlformats.org/officeDocument/2006/relationships/image" Target="../media/image8.png"/><Relationship Id="rId10" Type="http://schemas.openxmlformats.org/officeDocument/2006/relationships/image" Target="../media/image19.png"/><Relationship Id="rId19" Type="http://schemas.openxmlformats.org/officeDocument/2006/relationships/image" Target="../media/image28.png"/><Relationship Id="rId4" Type="http://schemas.openxmlformats.org/officeDocument/2006/relationships/image" Target="../media/image13.svg"/><Relationship Id="rId9" Type="http://schemas.openxmlformats.org/officeDocument/2006/relationships/image" Target="../media/image18.png"/><Relationship Id="rId14" Type="http://schemas.openxmlformats.org/officeDocument/2006/relationships/image" Target="../media/image23.png"/><Relationship Id="rId22" Type="http://schemas.openxmlformats.org/officeDocument/2006/relationships/image" Target="../media/image31.png"/></Relationships>
</file>

<file path=ppt/slides/_rels/slide10.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22.png"/><Relationship Id="rId18" Type="http://schemas.openxmlformats.org/officeDocument/2006/relationships/image" Target="../media/image27.png"/><Relationship Id="rId3" Type="http://schemas.openxmlformats.org/officeDocument/2006/relationships/image" Target="../media/image20.png"/><Relationship Id="rId21" Type="http://schemas.openxmlformats.org/officeDocument/2006/relationships/image" Target="../media/image30.png"/><Relationship Id="rId7" Type="http://schemas.openxmlformats.org/officeDocument/2006/relationships/image" Target="../media/image14.svg"/><Relationship Id="rId12" Type="http://schemas.openxmlformats.org/officeDocument/2006/relationships/image" Target="../media/image19.png"/><Relationship Id="rId17" Type="http://schemas.openxmlformats.org/officeDocument/2006/relationships/image" Target="../media/image26.png"/><Relationship Id="rId25" Type="http://schemas.openxmlformats.org/officeDocument/2006/relationships/image" Target="../media/image33.png"/><Relationship Id="rId2" Type="http://schemas.openxmlformats.org/officeDocument/2006/relationships/notesSlide" Target="../notesSlides/notesSlide6.xml"/><Relationship Id="rId16" Type="http://schemas.openxmlformats.org/officeDocument/2006/relationships/image" Target="../media/image25.png"/><Relationship Id="rId20"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13.svg"/><Relationship Id="rId11" Type="http://schemas.openxmlformats.org/officeDocument/2006/relationships/image" Target="../media/image18.png"/><Relationship Id="rId24" Type="http://schemas.openxmlformats.org/officeDocument/2006/relationships/image" Target="../media/image32.png"/><Relationship Id="rId5" Type="http://schemas.openxmlformats.org/officeDocument/2006/relationships/image" Target="../media/image12.png"/><Relationship Id="rId15" Type="http://schemas.openxmlformats.org/officeDocument/2006/relationships/image" Target="../media/image24.png"/><Relationship Id="rId23" Type="http://schemas.openxmlformats.org/officeDocument/2006/relationships/image" Target="../media/image8.png"/><Relationship Id="rId10" Type="http://schemas.openxmlformats.org/officeDocument/2006/relationships/image" Target="../media/image17.svg"/><Relationship Id="rId19" Type="http://schemas.openxmlformats.org/officeDocument/2006/relationships/image" Target="../media/image28.png"/><Relationship Id="rId4" Type="http://schemas.openxmlformats.org/officeDocument/2006/relationships/image" Target="../media/image21.png"/><Relationship Id="rId9" Type="http://schemas.openxmlformats.org/officeDocument/2006/relationships/image" Target="../media/image16.svg"/><Relationship Id="rId14" Type="http://schemas.openxmlformats.org/officeDocument/2006/relationships/image" Target="../media/image23.png"/><Relationship Id="rId22" Type="http://schemas.openxmlformats.org/officeDocument/2006/relationships/image" Target="../media/image31.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confluence.hl7.org/display/HL7/2024+January+Cycle" TargetMode="External"/><Relationship Id="rId2" Type="http://schemas.openxmlformats.org/officeDocument/2006/relationships/chart" Target="../charts/chart1.xml"/><Relationship Id="rId1" Type="http://schemas.openxmlformats.org/officeDocument/2006/relationships/slideLayout" Target="../slideLayouts/slideLayout7.xml"/><Relationship Id="rId6" Type="http://schemas.openxmlformats.org/officeDocument/2006/relationships/hyperlink" Target="https://confluence.hl7.org/display/HL7/2024+September+Ballot+Cycle" TargetMode="External"/><Relationship Id="rId5" Type="http://schemas.openxmlformats.org/officeDocument/2006/relationships/hyperlink" Target="https://confluence.hl7.org/display/HL7/2024+May+Ballot+Cycle" TargetMode="External"/><Relationship Id="rId4"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5E8EF-F08A-4697-A0C4-EC1BE5F60C31}"/>
              </a:ext>
            </a:extLst>
          </p:cNvPr>
          <p:cNvSpPr>
            <a:spLocks noGrp="1"/>
          </p:cNvSpPr>
          <p:nvPr>
            <p:ph type="title"/>
          </p:nvPr>
        </p:nvSpPr>
        <p:spPr>
          <a:xfrm>
            <a:off x="838200" y="365125"/>
            <a:ext cx="10515600" cy="1325563"/>
          </a:xfrm>
        </p:spPr>
        <p:txBody>
          <a:bodyPr/>
          <a:lstStyle/>
          <a:p>
            <a:r>
              <a:rPr lang="en-US" dirty="0"/>
              <a:t>Quality Improvement Ecosystem</a:t>
            </a:r>
          </a:p>
        </p:txBody>
      </p:sp>
      <p:sp>
        <p:nvSpPr>
          <p:cNvPr id="56" name="TextBox 55">
            <a:extLst>
              <a:ext uri="{FF2B5EF4-FFF2-40B4-BE49-F238E27FC236}">
                <a16:creationId xmlns:a16="http://schemas.microsoft.com/office/drawing/2014/main" id="{261DBFD1-1BF8-489A-B090-89B99C9A9447}"/>
              </a:ext>
            </a:extLst>
          </p:cNvPr>
          <p:cNvSpPr txBox="1"/>
          <p:nvPr/>
        </p:nvSpPr>
        <p:spPr>
          <a:xfrm>
            <a:off x="1761864" y="2671064"/>
            <a:ext cx="2169322" cy="830997"/>
          </a:xfrm>
          <a:prstGeom prst="rect">
            <a:avLst/>
          </a:prstGeom>
          <a:noFill/>
        </p:spPr>
        <p:txBody>
          <a:bodyPr wrap="square" rtlCol="0">
            <a:spAutoFit/>
          </a:bodyPr>
          <a:lstStyle/>
          <a:p>
            <a:pPr algn="ctr"/>
            <a:r>
              <a:rPr lang="en-US" sz="1600" b="1" dirty="0"/>
              <a:t>1. RESEARCH, PAYER &amp; PUBLIC HEALTH SURVEILLANCE</a:t>
            </a:r>
          </a:p>
        </p:txBody>
      </p:sp>
      <p:sp>
        <p:nvSpPr>
          <p:cNvPr id="57" name="TextBox 56">
            <a:extLst>
              <a:ext uri="{FF2B5EF4-FFF2-40B4-BE49-F238E27FC236}">
                <a16:creationId xmlns:a16="http://schemas.microsoft.com/office/drawing/2014/main" id="{C95949AD-377D-4930-AD53-6A96513F74C8}"/>
              </a:ext>
            </a:extLst>
          </p:cNvPr>
          <p:cNvSpPr txBox="1"/>
          <p:nvPr/>
        </p:nvSpPr>
        <p:spPr>
          <a:xfrm>
            <a:off x="1954641" y="3436310"/>
            <a:ext cx="1724824" cy="461665"/>
          </a:xfrm>
          <a:prstGeom prst="rect">
            <a:avLst/>
          </a:prstGeom>
          <a:noFill/>
        </p:spPr>
        <p:txBody>
          <a:bodyPr wrap="square" rtlCol="0">
            <a:spAutoFit/>
          </a:bodyPr>
          <a:lstStyle/>
          <a:p>
            <a:pPr algn="ctr"/>
            <a:r>
              <a:rPr lang="en-US" sz="1200" dirty="0">
                <a:solidFill>
                  <a:schemeClr val="accent4">
                    <a:lumMod val="75000"/>
                  </a:schemeClr>
                </a:solidFill>
              </a:rPr>
              <a:t>What is ACTUALLY happening and why?  </a:t>
            </a:r>
          </a:p>
        </p:txBody>
      </p:sp>
      <p:pic>
        <p:nvPicPr>
          <p:cNvPr id="58" name="Picture 57">
            <a:extLst>
              <a:ext uri="{FF2B5EF4-FFF2-40B4-BE49-F238E27FC236}">
                <a16:creationId xmlns:a16="http://schemas.microsoft.com/office/drawing/2014/main" id="{64724405-0692-45F9-BED1-D07F151E91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1682" y="1830937"/>
            <a:ext cx="588485" cy="1023453"/>
          </a:xfrm>
          <a:prstGeom prst="rect">
            <a:avLst/>
          </a:prstGeom>
        </p:spPr>
      </p:pic>
      <p:sp>
        <p:nvSpPr>
          <p:cNvPr id="59" name="TextBox 58">
            <a:extLst>
              <a:ext uri="{FF2B5EF4-FFF2-40B4-BE49-F238E27FC236}">
                <a16:creationId xmlns:a16="http://schemas.microsoft.com/office/drawing/2014/main" id="{4104B11D-EE7E-4AE1-8341-A137E53ED68D}"/>
              </a:ext>
            </a:extLst>
          </p:cNvPr>
          <p:cNvSpPr txBox="1"/>
          <p:nvPr/>
        </p:nvSpPr>
        <p:spPr>
          <a:xfrm>
            <a:off x="4168343" y="2534341"/>
            <a:ext cx="2081594" cy="769441"/>
          </a:xfrm>
          <a:prstGeom prst="rect">
            <a:avLst/>
          </a:prstGeom>
          <a:noFill/>
        </p:spPr>
        <p:txBody>
          <a:bodyPr wrap="square" rtlCol="0">
            <a:spAutoFit/>
          </a:bodyPr>
          <a:lstStyle/>
          <a:p>
            <a:pPr algn="ctr"/>
            <a:r>
              <a:rPr lang="en-US" sz="1600" b="1" dirty="0"/>
              <a:t>2. GUIDELINES </a:t>
            </a:r>
          </a:p>
          <a:p>
            <a:pPr algn="ctr"/>
            <a:r>
              <a:rPr lang="en-US" sz="1400" b="1" dirty="0"/>
              <a:t>(Professional Societies, CDC, etc.)</a:t>
            </a:r>
          </a:p>
        </p:txBody>
      </p:sp>
      <p:sp>
        <p:nvSpPr>
          <p:cNvPr id="60" name="TextBox 59">
            <a:extLst>
              <a:ext uri="{FF2B5EF4-FFF2-40B4-BE49-F238E27FC236}">
                <a16:creationId xmlns:a16="http://schemas.microsoft.com/office/drawing/2014/main" id="{C9DC7D3E-A723-463D-A6E0-59D84199CF40}"/>
              </a:ext>
            </a:extLst>
          </p:cNvPr>
          <p:cNvSpPr txBox="1"/>
          <p:nvPr/>
        </p:nvSpPr>
        <p:spPr>
          <a:xfrm>
            <a:off x="4125670" y="3216587"/>
            <a:ext cx="2081595" cy="461665"/>
          </a:xfrm>
          <a:prstGeom prst="rect">
            <a:avLst/>
          </a:prstGeom>
          <a:noFill/>
        </p:spPr>
        <p:txBody>
          <a:bodyPr wrap="square" rtlCol="0">
            <a:spAutoFit/>
          </a:bodyPr>
          <a:lstStyle/>
          <a:p>
            <a:pPr algn="ctr"/>
            <a:r>
              <a:rPr lang="en-US" sz="1200" dirty="0">
                <a:solidFill>
                  <a:schemeClr val="accent4">
                    <a:lumMod val="75000"/>
                  </a:schemeClr>
                </a:solidFill>
              </a:rPr>
              <a:t>What SHOULD happen. What do we want to happen? </a:t>
            </a:r>
          </a:p>
        </p:txBody>
      </p:sp>
      <p:pic>
        <p:nvPicPr>
          <p:cNvPr id="61" name="Picture 60">
            <a:extLst>
              <a:ext uri="{FF2B5EF4-FFF2-40B4-BE49-F238E27FC236}">
                <a16:creationId xmlns:a16="http://schemas.microsoft.com/office/drawing/2014/main" id="{274AFC73-6931-4875-BFEB-77E7BCF6A3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58913" y="1851389"/>
            <a:ext cx="1236766" cy="695680"/>
          </a:xfrm>
          <a:prstGeom prst="rect">
            <a:avLst/>
          </a:prstGeom>
        </p:spPr>
      </p:pic>
      <p:sp>
        <p:nvSpPr>
          <p:cNvPr id="62" name="TextBox 61">
            <a:extLst>
              <a:ext uri="{FF2B5EF4-FFF2-40B4-BE49-F238E27FC236}">
                <a16:creationId xmlns:a16="http://schemas.microsoft.com/office/drawing/2014/main" id="{DBE5FC02-F7A6-4AB3-BDEA-4BAF9DA6E445}"/>
              </a:ext>
            </a:extLst>
          </p:cNvPr>
          <p:cNvSpPr txBox="1"/>
          <p:nvPr/>
        </p:nvSpPr>
        <p:spPr>
          <a:xfrm>
            <a:off x="3575777" y="5052965"/>
            <a:ext cx="1552197" cy="338554"/>
          </a:xfrm>
          <a:prstGeom prst="rect">
            <a:avLst/>
          </a:prstGeom>
          <a:noFill/>
        </p:spPr>
        <p:txBody>
          <a:bodyPr wrap="square" rtlCol="0">
            <a:spAutoFit/>
          </a:bodyPr>
          <a:lstStyle/>
          <a:p>
            <a:pPr algn="r"/>
            <a:r>
              <a:rPr lang="en-US" sz="1600" b="1" dirty="0"/>
              <a:t>6. REPORTING</a:t>
            </a:r>
          </a:p>
        </p:txBody>
      </p:sp>
      <p:sp>
        <p:nvSpPr>
          <p:cNvPr id="63" name="TextBox 62">
            <a:extLst>
              <a:ext uri="{FF2B5EF4-FFF2-40B4-BE49-F238E27FC236}">
                <a16:creationId xmlns:a16="http://schemas.microsoft.com/office/drawing/2014/main" id="{161602B3-C846-4070-97FD-D963CE4C0945}"/>
              </a:ext>
            </a:extLst>
          </p:cNvPr>
          <p:cNvSpPr txBox="1"/>
          <p:nvPr/>
        </p:nvSpPr>
        <p:spPr>
          <a:xfrm>
            <a:off x="3895630" y="5424304"/>
            <a:ext cx="1280338" cy="646331"/>
          </a:xfrm>
          <a:prstGeom prst="rect">
            <a:avLst/>
          </a:prstGeom>
          <a:noFill/>
        </p:spPr>
        <p:txBody>
          <a:bodyPr wrap="square" rtlCol="0">
            <a:spAutoFit/>
          </a:bodyPr>
          <a:lstStyle/>
          <a:p>
            <a:pPr marL="114300" indent="-114300">
              <a:buFont typeface="Arial" panose="020B0604020202020204" pitchFamily="34" charset="0"/>
              <a:buChar char="•"/>
            </a:pPr>
            <a:r>
              <a:rPr lang="en-US" sz="1200" dirty="0">
                <a:solidFill>
                  <a:schemeClr val="accent4">
                    <a:lumMod val="75000"/>
                  </a:schemeClr>
                </a:solidFill>
              </a:rPr>
              <a:t>Public Health </a:t>
            </a:r>
          </a:p>
          <a:p>
            <a:pPr marL="114300" indent="-114300">
              <a:buFont typeface="Arial" panose="020B0604020202020204" pitchFamily="34" charset="0"/>
              <a:buChar char="•"/>
            </a:pPr>
            <a:r>
              <a:rPr lang="en-US" sz="1200" dirty="0">
                <a:solidFill>
                  <a:schemeClr val="accent4">
                    <a:lumMod val="75000"/>
                  </a:schemeClr>
                </a:solidFill>
              </a:rPr>
              <a:t>Quality</a:t>
            </a:r>
          </a:p>
          <a:p>
            <a:pPr marL="114300" indent="-114300">
              <a:buFont typeface="Arial" panose="020B0604020202020204" pitchFamily="34" charset="0"/>
              <a:buChar char="•"/>
            </a:pPr>
            <a:r>
              <a:rPr lang="en-US" sz="1200" dirty="0">
                <a:solidFill>
                  <a:schemeClr val="accent4">
                    <a:lumMod val="75000"/>
                  </a:schemeClr>
                </a:solidFill>
              </a:rPr>
              <a:t>Safety</a:t>
            </a:r>
          </a:p>
        </p:txBody>
      </p:sp>
      <p:pic>
        <p:nvPicPr>
          <p:cNvPr id="64" name="Picture 63">
            <a:extLst>
              <a:ext uri="{FF2B5EF4-FFF2-40B4-BE49-F238E27FC236}">
                <a16:creationId xmlns:a16="http://schemas.microsoft.com/office/drawing/2014/main" id="{7A8AF27A-2010-4102-A1BD-92294BBD53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76878" y="5088364"/>
            <a:ext cx="1159047" cy="977946"/>
          </a:xfrm>
          <a:prstGeom prst="rect">
            <a:avLst/>
          </a:prstGeom>
          <a:noFill/>
        </p:spPr>
      </p:pic>
      <p:sp>
        <p:nvSpPr>
          <p:cNvPr id="65" name="TextBox 64">
            <a:extLst>
              <a:ext uri="{FF2B5EF4-FFF2-40B4-BE49-F238E27FC236}">
                <a16:creationId xmlns:a16="http://schemas.microsoft.com/office/drawing/2014/main" id="{DBAA027C-0DFE-4014-B5CA-F0A413B63481}"/>
              </a:ext>
            </a:extLst>
          </p:cNvPr>
          <p:cNvSpPr txBox="1"/>
          <p:nvPr/>
        </p:nvSpPr>
        <p:spPr>
          <a:xfrm>
            <a:off x="7478720" y="1968927"/>
            <a:ext cx="1236765" cy="830997"/>
          </a:xfrm>
          <a:prstGeom prst="rect">
            <a:avLst/>
          </a:prstGeom>
          <a:noFill/>
        </p:spPr>
        <p:txBody>
          <a:bodyPr wrap="square" rtlCol="0">
            <a:spAutoFit/>
          </a:bodyPr>
          <a:lstStyle/>
          <a:p>
            <a:r>
              <a:rPr lang="en-US" sz="1600" b="1" dirty="0"/>
              <a:t>3. CLINICAL DECISION SUPPORT</a:t>
            </a:r>
          </a:p>
        </p:txBody>
      </p:sp>
      <p:sp>
        <p:nvSpPr>
          <p:cNvPr id="66" name="TextBox 65">
            <a:extLst>
              <a:ext uri="{FF2B5EF4-FFF2-40B4-BE49-F238E27FC236}">
                <a16:creationId xmlns:a16="http://schemas.microsoft.com/office/drawing/2014/main" id="{D1921C7B-0E2D-462F-9E9A-0C92FCFC828C}"/>
              </a:ext>
            </a:extLst>
          </p:cNvPr>
          <p:cNvSpPr txBox="1"/>
          <p:nvPr/>
        </p:nvSpPr>
        <p:spPr>
          <a:xfrm>
            <a:off x="7498342" y="2739462"/>
            <a:ext cx="1319859" cy="646331"/>
          </a:xfrm>
          <a:prstGeom prst="rect">
            <a:avLst/>
          </a:prstGeom>
          <a:noFill/>
        </p:spPr>
        <p:txBody>
          <a:bodyPr wrap="square" rtlCol="0">
            <a:spAutoFit/>
          </a:bodyPr>
          <a:lstStyle/>
          <a:p>
            <a:r>
              <a:rPr lang="en-US" sz="1200" dirty="0">
                <a:solidFill>
                  <a:schemeClr val="accent4">
                    <a:lumMod val="75000"/>
                  </a:schemeClr>
                </a:solidFill>
              </a:rPr>
              <a:t>MAKING it happen within local workflow.</a:t>
            </a:r>
          </a:p>
        </p:txBody>
      </p:sp>
      <p:pic>
        <p:nvPicPr>
          <p:cNvPr id="67" name="Picture 66">
            <a:extLst>
              <a:ext uri="{FF2B5EF4-FFF2-40B4-BE49-F238E27FC236}">
                <a16:creationId xmlns:a16="http://schemas.microsoft.com/office/drawing/2014/main" id="{91C8B2B0-D2AE-4486-9F54-B3416160E4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38729" y="2248539"/>
            <a:ext cx="931135" cy="921587"/>
          </a:xfrm>
          <a:prstGeom prst="rect">
            <a:avLst/>
          </a:prstGeom>
        </p:spPr>
      </p:pic>
      <p:sp>
        <p:nvSpPr>
          <p:cNvPr id="68" name="TextBox 67">
            <a:extLst>
              <a:ext uri="{FF2B5EF4-FFF2-40B4-BE49-F238E27FC236}">
                <a16:creationId xmlns:a16="http://schemas.microsoft.com/office/drawing/2014/main" id="{3CE50687-C376-4601-9B8B-5A1BA3FE0696}"/>
              </a:ext>
            </a:extLst>
          </p:cNvPr>
          <p:cNvSpPr txBox="1"/>
          <p:nvPr/>
        </p:nvSpPr>
        <p:spPr>
          <a:xfrm>
            <a:off x="6535300" y="4995574"/>
            <a:ext cx="2260806" cy="584775"/>
          </a:xfrm>
          <a:prstGeom prst="rect">
            <a:avLst/>
          </a:prstGeom>
          <a:noFill/>
        </p:spPr>
        <p:txBody>
          <a:bodyPr wrap="square" rtlCol="0">
            <a:spAutoFit/>
          </a:bodyPr>
          <a:lstStyle/>
          <a:p>
            <a:r>
              <a:rPr lang="en-US" sz="1600" b="1" dirty="0"/>
              <a:t>5. MEASUREMENT ANALYTICS</a:t>
            </a:r>
          </a:p>
        </p:txBody>
      </p:sp>
      <p:sp>
        <p:nvSpPr>
          <p:cNvPr id="69" name="TextBox 68">
            <a:extLst>
              <a:ext uri="{FF2B5EF4-FFF2-40B4-BE49-F238E27FC236}">
                <a16:creationId xmlns:a16="http://schemas.microsoft.com/office/drawing/2014/main" id="{EEFB8484-5220-4F95-8B3C-1FC563D67F24}"/>
              </a:ext>
            </a:extLst>
          </p:cNvPr>
          <p:cNvSpPr txBox="1"/>
          <p:nvPr/>
        </p:nvSpPr>
        <p:spPr>
          <a:xfrm>
            <a:off x="6535300" y="5560516"/>
            <a:ext cx="1963746" cy="646331"/>
          </a:xfrm>
          <a:prstGeom prst="rect">
            <a:avLst/>
          </a:prstGeom>
          <a:noFill/>
        </p:spPr>
        <p:txBody>
          <a:bodyPr wrap="square" rtlCol="0">
            <a:spAutoFit/>
          </a:bodyPr>
          <a:lstStyle/>
          <a:p>
            <a:r>
              <a:rPr lang="en-US" sz="1200" dirty="0">
                <a:solidFill>
                  <a:schemeClr val="accent4">
                    <a:lumMod val="75000"/>
                  </a:schemeClr>
                </a:solidFill>
              </a:rPr>
              <a:t>What DID happen? What processes and outcomes have been achieved? </a:t>
            </a:r>
          </a:p>
        </p:txBody>
      </p:sp>
      <p:pic>
        <p:nvPicPr>
          <p:cNvPr id="70" name="Picture 69">
            <a:extLst>
              <a:ext uri="{FF2B5EF4-FFF2-40B4-BE49-F238E27FC236}">
                <a16:creationId xmlns:a16="http://schemas.microsoft.com/office/drawing/2014/main" id="{4753B1CA-0350-4457-A4B5-C7EF9B2583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33688" y="4425329"/>
            <a:ext cx="921529" cy="633552"/>
          </a:xfrm>
          <a:prstGeom prst="rect">
            <a:avLst/>
          </a:prstGeom>
        </p:spPr>
      </p:pic>
      <p:cxnSp>
        <p:nvCxnSpPr>
          <p:cNvPr id="71" name="Straight Arrow Connector 70">
            <a:extLst>
              <a:ext uri="{FF2B5EF4-FFF2-40B4-BE49-F238E27FC236}">
                <a16:creationId xmlns:a16="http://schemas.microsoft.com/office/drawing/2014/main" id="{E44011DC-41D1-490F-BA09-67C42C7AC1D3}"/>
              </a:ext>
            </a:extLst>
          </p:cNvPr>
          <p:cNvCxnSpPr>
            <a:cxnSpLocks/>
          </p:cNvCxnSpPr>
          <p:nvPr/>
        </p:nvCxnSpPr>
        <p:spPr>
          <a:xfrm>
            <a:off x="3448616" y="2215217"/>
            <a:ext cx="945223"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FAA7D3F-C064-4138-9A1C-D9D019AC1236}"/>
              </a:ext>
            </a:extLst>
          </p:cNvPr>
          <p:cNvCxnSpPr/>
          <p:nvPr/>
        </p:nvCxnSpPr>
        <p:spPr>
          <a:xfrm>
            <a:off x="6109152" y="2215217"/>
            <a:ext cx="713996"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D992D7D5-E04D-49F8-B187-731275CC4AC7}"/>
              </a:ext>
            </a:extLst>
          </p:cNvPr>
          <p:cNvCxnSpPr>
            <a:cxnSpLocks/>
          </p:cNvCxnSpPr>
          <p:nvPr/>
        </p:nvCxnSpPr>
        <p:spPr>
          <a:xfrm>
            <a:off x="7271628" y="3448317"/>
            <a:ext cx="22825" cy="839617"/>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78165D4-A138-4193-AF5D-D24457DE9CCB}"/>
              </a:ext>
            </a:extLst>
          </p:cNvPr>
          <p:cNvCxnSpPr>
            <a:cxnSpLocks/>
          </p:cNvCxnSpPr>
          <p:nvPr/>
        </p:nvCxnSpPr>
        <p:spPr>
          <a:xfrm flipH="1">
            <a:off x="5211327" y="5474166"/>
            <a:ext cx="995938"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18">
            <a:extLst>
              <a:ext uri="{FF2B5EF4-FFF2-40B4-BE49-F238E27FC236}">
                <a16:creationId xmlns:a16="http://schemas.microsoft.com/office/drawing/2014/main" id="{D79B4200-7CD5-45C4-B92D-9A503944590E}"/>
              </a:ext>
            </a:extLst>
          </p:cNvPr>
          <p:cNvCxnSpPr>
            <a:cxnSpLocks/>
            <a:stCxn id="64" idx="1"/>
          </p:cNvCxnSpPr>
          <p:nvPr/>
        </p:nvCxnSpPr>
        <p:spPr>
          <a:xfrm rot="10800000">
            <a:off x="2530730" y="4083981"/>
            <a:ext cx="346148" cy="1493356"/>
          </a:xfrm>
          <a:prstGeom prst="bentConnector2">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70B4891-0C3B-4104-BE87-B059463F0E7A}"/>
              </a:ext>
            </a:extLst>
          </p:cNvPr>
          <p:cNvSpPr txBox="1"/>
          <p:nvPr/>
        </p:nvSpPr>
        <p:spPr>
          <a:xfrm>
            <a:off x="4148867" y="4150502"/>
            <a:ext cx="2712115" cy="200055"/>
          </a:xfrm>
          <a:prstGeom prst="rect">
            <a:avLst/>
          </a:prstGeom>
          <a:noFill/>
        </p:spPr>
        <p:txBody>
          <a:bodyPr wrap="square" lIns="0" tIns="0" rIns="0" bIns="0" rtlCol="0">
            <a:spAutoFit/>
          </a:bodyPr>
          <a:lstStyle/>
          <a:p>
            <a:r>
              <a:rPr lang="en-US" sz="1300" dirty="0"/>
              <a:t>Patient, provider, population, public</a:t>
            </a:r>
          </a:p>
        </p:txBody>
      </p:sp>
      <p:pic>
        <p:nvPicPr>
          <p:cNvPr id="77" name="Picture 76">
            <a:extLst>
              <a:ext uri="{FF2B5EF4-FFF2-40B4-BE49-F238E27FC236}">
                <a16:creationId xmlns:a16="http://schemas.microsoft.com/office/drawing/2014/main" id="{99ABF394-C9F9-4928-83F6-9560E2BFBEE9}"/>
              </a:ext>
            </a:extLst>
          </p:cNvPr>
          <p:cNvPicPr>
            <a:picLocks noChangeAspect="1"/>
          </p:cNvPicPr>
          <p:nvPr/>
        </p:nvPicPr>
        <p:blipFill>
          <a:blip r:embed="rId7"/>
          <a:stretch>
            <a:fillRect/>
          </a:stretch>
        </p:blipFill>
        <p:spPr>
          <a:xfrm>
            <a:off x="3369499" y="3935399"/>
            <a:ext cx="799655" cy="649320"/>
          </a:xfrm>
          <a:prstGeom prst="rect">
            <a:avLst/>
          </a:prstGeom>
        </p:spPr>
      </p:pic>
      <p:sp>
        <p:nvSpPr>
          <p:cNvPr id="78" name="TextBox 77">
            <a:extLst>
              <a:ext uri="{FF2B5EF4-FFF2-40B4-BE49-F238E27FC236}">
                <a16:creationId xmlns:a16="http://schemas.microsoft.com/office/drawing/2014/main" id="{57203055-5D7B-43D8-84F9-29C07B8B15BF}"/>
              </a:ext>
            </a:extLst>
          </p:cNvPr>
          <p:cNvSpPr txBox="1"/>
          <p:nvPr/>
        </p:nvSpPr>
        <p:spPr>
          <a:xfrm>
            <a:off x="8926132" y="3392932"/>
            <a:ext cx="1193912" cy="584775"/>
          </a:xfrm>
          <a:prstGeom prst="rect">
            <a:avLst/>
          </a:prstGeom>
          <a:noFill/>
        </p:spPr>
        <p:txBody>
          <a:bodyPr wrap="square" rtlCol="0">
            <a:spAutoFit/>
          </a:bodyPr>
          <a:lstStyle/>
          <a:p>
            <a:r>
              <a:rPr lang="en-US" sz="1600" b="1" dirty="0"/>
              <a:t>4. CLINICAL CARE</a:t>
            </a:r>
          </a:p>
        </p:txBody>
      </p:sp>
      <p:sp>
        <p:nvSpPr>
          <p:cNvPr id="79" name="TextBox 78">
            <a:extLst>
              <a:ext uri="{FF2B5EF4-FFF2-40B4-BE49-F238E27FC236}">
                <a16:creationId xmlns:a16="http://schemas.microsoft.com/office/drawing/2014/main" id="{0EDCC91C-3311-45D7-86E9-F6A488903631}"/>
              </a:ext>
            </a:extLst>
          </p:cNvPr>
          <p:cNvSpPr txBox="1"/>
          <p:nvPr/>
        </p:nvSpPr>
        <p:spPr>
          <a:xfrm>
            <a:off x="8986176" y="3860931"/>
            <a:ext cx="1342467" cy="461665"/>
          </a:xfrm>
          <a:prstGeom prst="rect">
            <a:avLst/>
          </a:prstGeom>
          <a:noFill/>
        </p:spPr>
        <p:txBody>
          <a:bodyPr wrap="square" rtlCol="0">
            <a:spAutoFit/>
          </a:bodyPr>
          <a:lstStyle/>
          <a:p>
            <a:r>
              <a:rPr lang="en-US" sz="1200" dirty="0">
                <a:solidFill>
                  <a:schemeClr val="accent4">
                    <a:lumMod val="75000"/>
                  </a:schemeClr>
                </a:solidFill>
              </a:rPr>
              <a:t>Clinician and Patient Workflow.</a:t>
            </a:r>
          </a:p>
        </p:txBody>
      </p:sp>
      <p:pic>
        <p:nvPicPr>
          <p:cNvPr id="80" name="Picture 79">
            <a:extLst>
              <a:ext uri="{FF2B5EF4-FFF2-40B4-BE49-F238E27FC236}">
                <a16:creationId xmlns:a16="http://schemas.microsoft.com/office/drawing/2014/main" id="{0850B545-2EA6-4588-A007-541A6AE9396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063194" y="3570362"/>
            <a:ext cx="1045989" cy="634131"/>
          </a:xfrm>
          <a:prstGeom prst="rect">
            <a:avLst/>
          </a:prstGeom>
        </p:spPr>
      </p:pic>
      <p:cxnSp>
        <p:nvCxnSpPr>
          <p:cNvPr id="81" name="Straight Arrow Connector 80">
            <a:extLst>
              <a:ext uri="{FF2B5EF4-FFF2-40B4-BE49-F238E27FC236}">
                <a16:creationId xmlns:a16="http://schemas.microsoft.com/office/drawing/2014/main" id="{75DF8450-2378-4191-983D-EFB42DE54D36}"/>
              </a:ext>
            </a:extLst>
          </p:cNvPr>
          <p:cNvCxnSpPr>
            <a:cxnSpLocks/>
          </p:cNvCxnSpPr>
          <p:nvPr/>
        </p:nvCxnSpPr>
        <p:spPr>
          <a:xfrm flipH="1">
            <a:off x="7441738" y="3808431"/>
            <a:ext cx="658036" cy="0"/>
          </a:xfrm>
          <a:prstGeom prst="straightConnector1">
            <a:avLst/>
          </a:prstGeom>
          <a:ln w="60325">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E0A15FE3-40C3-4CB0-B33B-A98F6FF3973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1604280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5E8EF-F08A-4697-A0C4-EC1BE5F60C31}"/>
              </a:ext>
            </a:extLst>
          </p:cNvPr>
          <p:cNvSpPr>
            <a:spLocks noGrp="1"/>
          </p:cNvSpPr>
          <p:nvPr>
            <p:ph type="title"/>
          </p:nvPr>
        </p:nvSpPr>
        <p:spPr>
          <a:xfrm>
            <a:off x="838200" y="365125"/>
            <a:ext cx="10515600" cy="1325563"/>
          </a:xfrm>
        </p:spPr>
        <p:txBody>
          <a:bodyPr/>
          <a:lstStyle/>
          <a:p>
            <a:r>
              <a:rPr lang="en-US" dirty="0"/>
              <a:t>Quality Improvement Ecosystem</a:t>
            </a:r>
          </a:p>
        </p:txBody>
      </p:sp>
      <p:sp>
        <p:nvSpPr>
          <p:cNvPr id="56" name="TextBox 55">
            <a:extLst>
              <a:ext uri="{FF2B5EF4-FFF2-40B4-BE49-F238E27FC236}">
                <a16:creationId xmlns:a16="http://schemas.microsoft.com/office/drawing/2014/main" id="{261DBFD1-1BF8-489A-B090-89B99C9A9447}"/>
              </a:ext>
            </a:extLst>
          </p:cNvPr>
          <p:cNvSpPr txBox="1"/>
          <p:nvPr/>
        </p:nvSpPr>
        <p:spPr>
          <a:xfrm>
            <a:off x="1761864" y="2671064"/>
            <a:ext cx="2169322" cy="830997"/>
          </a:xfrm>
          <a:prstGeom prst="rect">
            <a:avLst/>
          </a:prstGeom>
          <a:noFill/>
        </p:spPr>
        <p:txBody>
          <a:bodyPr wrap="square" rtlCol="0">
            <a:spAutoFit/>
          </a:bodyPr>
          <a:lstStyle/>
          <a:p>
            <a:pPr algn="ctr"/>
            <a:r>
              <a:rPr lang="en-US" sz="1600" b="1" dirty="0"/>
              <a:t>1. RESEARCH, PAYER &amp; PUBLIC HEALTH SURVEILLANCE</a:t>
            </a:r>
          </a:p>
        </p:txBody>
      </p:sp>
      <p:sp>
        <p:nvSpPr>
          <p:cNvPr id="57" name="TextBox 56">
            <a:extLst>
              <a:ext uri="{FF2B5EF4-FFF2-40B4-BE49-F238E27FC236}">
                <a16:creationId xmlns:a16="http://schemas.microsoft.com/office/drawing/2014/main" id="{C95949AD-377D-4930-AD53-6A96513F74C8}"/>
              </a:ext>
            </a:extLst>
          </p:cNvPr>
          <p:cNvSpPr txBox="1"/>
          <p:nvPr/>
        </p:nvSpPr>
        <p:spPr>
          <a:xfrm>
            <a:off x="1954641" y="3436310"/>
            <a:ext cx="1724824" cy="461665"/>
          </a:xfrm>
          <a:prstGeom prst="rect">
            <a:avLst/>
          </a:prstGeom>
          <a:noFill/>
        </p:spPr>
        <p:txBody>
          <a:bodyPr wrap="square" rtlCol="0">
            <a:spAutoFit/>
          </a:bodyPr>
          <a:lstStyle/>
          <a:p>
            <a:pPr algn="ctr"/>
            <a:r>
              <a:rPr lang="en-US" sz="1200" dirty="0">
                <a:solidFill>
                  <a:schemeClr val="accent4">
                    <a:lumMod val="75000"/>
                  </a:schemeClr>
                </a:solidFill>
              </a:rPr>
              <a:t>What is ACTUALLY happening and why?  </a:t>
            </a:r>
          </a:p>
        </p:txBody>
      </p:sp>
      <p:pic>
        <p:nvPicPr>
          <p:cNvPr id="58" name="Picture 57">
            <a:extLst>
              <a:ext uri="{FF2B5EF4-FFF2-40B4-BE49-F238E27FC236}">
                <a16:creationId xmlns:a16="http://schemas.microsoft.com/office/drawing/2014/main" id="{64724405-0692-45F9-BED1-D07F151E91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41682" y="1830937"/>
            <a:ext cx="588485" cy="1023453"/>
          </a:xfrm>
          <a:prstGeom prst="rect">
            <a:avLst/>
          </a:prstGeom>
        </p:spPr>
      </p:pic>
      <p:sp>
        <p:nvSpPr>
          <p:cNvPr id="59" name="TextBox 58">
            <a:extLst>
              <a:ext uri="{FF2B5EF4-FFF2-40B4-BE49-F238E27FC236}">
                <a16:creationId xmlns:a16="http://schemas.microsoft.com/office/drawing/2014/main" id="{4104B11D-EE7E-4AE1-8341-A137E53ED68D}"/>
              </a:ext>
            </a:extLst>
          </p:cNvPr>
          <p:cNvSpPr txBox="1"/>
          <p:nvPr/>
        </p:nvSpPr>
        <p:spPr>
          <a:xfrm>
            <a:off x="4168343" y="2534341"/>
            <a:ext cx="2081594" cy="769441"/>
          </a:xfrm>
          <a:prstGeom prst="rect">
            <a:avLst/>
          </a:prstGeom>
          <a:noFill/>
        </p:spPr>
        <p:txBody>
          <a:bodyPr wrap="square" rtlCol="0">
            <a:spAutoFit/>
          </a:bodyPr>
          <a:lstStyle/>
          <a:p>
            <a:pPr algn="ctr"/>
            <a:r>
              <a:rPr lang="en-US" sz="1600" b="1" dirty="0"/>
              <a:t>2. GUIDELINES </a:t>
            </a:r>
          </a:p>
          <a:p>
            <a:pPr algn="ctr"/>
            <a:r>
              <a:rPr lang="en-US" sz="1400" b="1" dirty="0"/>
              <a:t>(Professional Societies, CDC, etc.)</a:t>
            </a:r>
          </a:p>
        </p:txBody>
      </p:sp>
      <p:sp>
        <p:nvSpPr>
          <p:cNvPr id="60" name="TextBox 59">
            <a:extLst>
              <a:ext uri="{FF2B5EF4-FFF2-40B4-BE49-F238E27FC236}">
                <a16:creationId xmlns:a16="http://schemas.microsoft.com/office/drawing/2014/main" id="{C9DC7D3E-A723-463D-A6E0-59D84199CF40}"/>
              </a:ext>
            </a:extLst>
          </p:cNvPr>
          <p:cNvSpPr txBox="1"/>
          <p:nvPr/>
        </p:nvSpPr>
        <p:spPr>
          <a:xfrm>
            <a:off x="4125670" y="3216587"/>
            <a:ext cx="2081595" cy="461665"/>
          </a:xfrm>
          <a:prstGeom prst="rect">
            <a:avLst/>
          </a:prstGeom>
          <a:noFill/>
        </p:spPr>
        <p:txBody>
          <a:bodyPr wrap="square" rtlCol="0">
            <a:spAutoFit/>
          </a:bodyPr>
          <a:lstStyle/>
          <a:p>
            <a:pPr algn="ctr"/>
            <a:r>
              <a:rPr lang="en-US" sz="1200" dirty="0">
                <a:solidFill>
                  <a:schemeClr val="accent4">
                    <a:lumMod val="75000"/>
                  </a:schemeClr>
                </a:solidFill>
              </a:rPr>
              <a:t>What SHOULD happen. What do we want to happen? </a:t>
            </a:r>
          </a:p>
        </p:txBody>
      </p:sp>
      <p:pic>
        <p:nvPicPr>
          <p:cNvPr id="61" name="Picture 60">
            <a:extLst>
              <a:ext uri="{FF2B5EF4-FFF2-40B4-BE49-F238E27FC236}">
                <a16:creationId xmlns:a16="http://schemas.microsoft.com/office/drawing/2014/main" id="{274AFC73-6931-4875-BFEB-77E7BCF6A3F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58913" y="1851389"/>
            <a:ext cx="1236766" cy="695680"/>
          </a:xfrm>
          <a:prstGeom prst="rect">
            <a:avLst/>
          </a:prstGeom>
        </p:spPr>
      </p:pic>
      <p:sp>
        <p:nvSpPr>
          <p:cNvPr id="62" name="TextBox 61">
            <a:extLst>
              <a:ext uri="{FF2B5EF4-FFF2-40B4-BE49-F238E27FC236}">
                <a16:creationId xmlns:a16="http://schemas.microsoft.com/office/drawing/2014/main" id="{DBE5FC02-F7A6-4AB3-BDEA-4BAF9DA6E445}"/>
              </a:ext>
            </a:extLst>
          </p:cNvPr>
          <p:cNvSpPr txBox="1"/>
          <p:nvPr/>
        </p:nvSpPr>
        <p:spPr>
          <a:xfrm>
            <a:off x="3575777" y="5052965"/>
            <a:ext cx="1552197" cy="338554"/>
          </a:xfrm>
          <a:prstGeom prst="rect">
            <a:avLst/>
          </a:prstGeom>
          <a:noFill/>
        </p:spPr>
        <p:txBody>
          <a:bodyPr wrap="square" rtlCol="0">
            <a:spAutoFit/>
          </a:bodyPr>
          <a:lstStyle/>
          <a:p>
            <a:pPr algn="r"/>
            <a:r>
              <a:rPr lang="en-US" sz="1600" b="1" dirty="0"/>
              <a:t>6. REPORTING</a:t>
            </a:r>
          </a:p>
        </p:txBody>
      </p:sp>
      <p:sp>
        <p:nvSpPr>
          <p:cNvPr id="63" name="TextBox 62">
            <a:extLst>
              <a:ext uri="{FF2B5EF4-FFF2-40B4-BE49-F238E27FC236}">
                <a16:creationId xmlns:a16="http://schemas.microsoft.com/office/drawing/2014/main" id="{161602B3-C846-4070-97FD-D963CE4C0945}"/>
              </a:ext>
            </a:extLst>
          </p:cNvPr>
          <p:cNvSpPr txBox="1"/>
          <p:nvPr/>
        </p:nvSpPr>
        <p:spPr>
          <a:xfrm>
            <a:off x="3895630" y="5424304"/>
            <a:ext cx="1280338" cy="646331"/>
          </a:xfrm>
          <a:prstGeom prst="rect">
            <a:avLst/>
          </a:prstGeom>
          <a:noFill/>
        </p:spPr>
        <p:txBody>
          <a:bodyPr wrap="square" rtlCol="0">
            <a:spAutoFit/>
          </a:bodyPr>
          <a:lstStyle/>
          <a:p>
            <a:pPr marL="114300" indent="-114300">
              <a:buFont typeface="Arial" panose="020B0604020202020204" pitchFamily="34" charset="0"/>
              <a:buChar char="•"/>
            </a:pPr>
            <a:r>
              <a:rPr lang="en-US" sz="1200" dirty="0">
                <a:solidFill>
                  <a:schemeClr val="accent4">
                    <a:lumMod val="75000"/>
                  </a:schemeClr>
                </a:solidFill>
              </a:rPr>
              <a:t>Public Health </a:t>
            </a:r>
          </a:p>
          <a:p>
            <a:pPr marL="114300" indent="-114300">
              <a:buFont typeface="Arial" panose="020B0604020202020204" pitchFamily="34" charset="0"/>
              <a:buChar char="•"/>
            </a:pPr>
            <a:r>
              <a:rPr lang="en-US" sz="1200" dirty="0">
                <a:solidFill>
                  <a:schemeClr val="accent4">
                    <a:lumMod val="75000"/>
                  </a:schemeClr>
                </a:solidFill>
              </a:rPr>
              <a:t>Quality</a:t>
            </a:r>
          </a:p>
          <a:p>
            <a:pPr marL="114300" indent="-114300">
              <a:buFont typeface="Arial" panose="020B0604020202020204" pitchFamily="34" charset="0"/>
              <a:buChar char="•"/>
            </a:pPr>
            <a:r>
              <a:rPr lang="en-US" sz="1200" dirty="0">
                <a:solidFill>
                  <a:schemeClr val="accent4">
                    <a:lumMod val="75000"/>
                  </a:schemeClr>
                </a:solidFill>
              </a:rPr>
              <a:t>Safety</a:t>
            </a:r>
          </a:p>
        </p:txBody>
      </p:sp>
      <p:pic>
        <p:nvPicPr>
          <p:cNvPr id="64" name="Picture 63">
            <a:extLst>
              <a:ext uri="{FF2B5EF4-FFF2-40B4-BE49-F238E27FC236}">
                <a16:creationId xmlns:a16="http://schemas.microsoft.com/office/drawing/2014/main" id="{7A8AF27A-2010-4102-A1BD-92294BBD53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76878" y="5088364"/>
            <a:ext cx="1159047" cy="977946"/>
          </a:xfrm>
          <a:prstGeom prst="rect">
            <a:avLst/>
          </a:prstGeom>
          <a:noFill/>
        </p:spPr>
      </p:pic>
      <p:sp>
        <p:nvSpPr>
          <p:cNvPr id="65" name="TextBox 64">
            <a:extLst>
              <a:ext uri="{FF2B5EF4-FFF2-40B4-BE49-F238E27FC236}">
                <a16:creationId xmlns:a16="http://schemas.microsoft.com/office/drawing/2014/main" id="{DBAA027C-0DFE-4014-B5CA-F0A413B63481}"/>
              </a:ext>
            </a:extLst>
          </p:cNvPr>
          <p:cNvSpPr txBox="1"/>
          <p:nvPr/>
        </p:nvSpPr>
        <p:spPr>
          <a:xfrm>
            <a:off x="7478720" y="1968927"/>
            <a:ext cx="1236765" cy="830997"/>
          </a:xfrm>
          <a:prstGeom prst="rect">
            <a:avLst/>
          </a:prstGeom>
          <a:noFill/>
        </p:spPr>
        <p:txBody>
          <a:bodyPr wrap="square" rtlCol="0">
            <a:spAutoFit/>
          </a:bodyPr>
          <a:lstStyle/>
          <a:p>
            <a:r>
              <a:rPr lang="en-US" sz="1600" b="1" dirty="0"/>
              <a:t>3. CLINICAL DECISION SUPPORT</a:t>
            </a:r>
          </a:p>
        </p:txBody>
      </p:sp>
      <p:sp>
        <p:nvSpPr>
          <p:cNvPr id="66" name="TextBox 65">
            <a:extLst>
              <a:ext uri="{FF2B5EF4-FFF2-40B4-BE49-F238E27FC236}">
                <a16:creationId xmlns:a16="http://schemas.microsoft.com/office/drawing/2014/main" id="{D1921C7B-0E2D-462F-9E9A-0C92FCFC828C}"/>
              </a:ext>
            </a:extLst>
          </p:cNvPr>
          <p:cNvSpPr txBox="1"/>
          <p:nvPr/>
        </p:nvSpPr>
        <p:spPr>
          <a:xfrm>
            <a:off x="7498342" y="2739462"/>
            <a:ext cx="1319859" cy="646331"/>
          </a:xfrm>
          <a:prstGeom prst="rect">
            <a:avLst/>
          </a:prstGeom>
          <a:noFill/>
        </p:spPr>
        <p:txBody>
          <a:bodyPr wrap="square" rtlCol="0">
            <a:spAutoFit/>
          </a:bodyPr>
          <a:lstStyle/>
          <a:p>
            <a:r>
              <a:rPr lang="en-US" sz="1200" dirty="0">
                <a:solidFill>
                  <a:schemeClr val="accent4">
                    <a:lumMod val="75000"/>
                  </a:schemeClr>
                </a:solidFill>
              </a:rPr>
              <a:t>MAKING it happen within local workflow.</a:t>
            </a:r>
          </a:p>
        </p:txBody>
      </p:sp>
      <p:pic>
        <p:nvPicPr>
          <p:cNvPr id="67" name="Picture 66">
            <a:extLst>
              <a:ext uri="{FF2B5EF4-FFF2-40B4-BE49-F238E27FC236}">
                <a16:creationId xmlns:a16="http://schemas.microsoft.com/office/drawing/2014/main" id="{91C8B2B0-D2AE-4486-9F54-B3416160E4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38729" y="2248539"/>
            <a:ext cx="931135" cy="921587"/>
          </a:xfrm>
          <a:prstGeom prst="rect">
            <a:avLst/>
          </a:prstGeom>
        </p:spPr>
      </p:pic>
      <p:sp>
        <p:nvSpPr>
          <p:cNvPr id="68" name="TextBox 67">
            <a:extLst>
              <a:ext uri="{FF2B5EF4-FFF2-40B4-BE49-F238E27FC236}">
                <a16:creationId xmlns:a16="http://schemas.microsoft.com/office/drawing/2014/main" id="{3CE50687-C376-4601-9B8B-5A1BA3FE0696}"/>
              </a:ext>
            </a:extLst>
          </p:cNvPr>
          <p:cNvSpPr txBox="1"/>
          <p:nvPr/>
        </p:nvSpPr>
        <p:spPr>
          <a:xfrm>
            <a:off x="6535300" y="4995574"/>
            <a:ext cx="2260806" cy="584775"/>
          </a:xfrm>
          <a:prstGeom prst="rect">
            <a:avLst/>
          </a:prstGeom>
          <a:noFill/>
        </p:spPr>
        <p:txBody>
          <a:bodyPr wrap="square" rtlCol="0">
            <a:spAutoFit/>
          </a:bodyPr>
          <a:lstStyle/>
          <a:p>
            <a:r>
              <a:rPr lang="en-US" sz="1600" b="1" dirty="0"/>
              <a:t>5. MEASUREMENT ANALYTICS</a:t>
            </a:r>
          </a:p>
        </p:txBody>
      </p:sp>
      <p:sp>
        <p:nvSpPr>
          <p:cNvPr id="69" name="TextBox 68">
            <a:extLst>
              <a:ext uri="{FF2B5EF4-FFF2-40B4-BE49-F238E27FC236}">
                <a16:creationId xmlns:a16="http://schemas.microsoft.com/office/drawing/2014/main" id="{EEFB8484-5220-4F95-8B3C-1FC563D67F24}"/>
              </a:ext>
            </a:extLst>
          </p:cNvPr>
          <p:cNvSpPr txBox="1"/>
          <p:nvPr/>
        </p:nvSpPr>
        <p:spPr>
          <a:xfrm>
            <a:off x="6535300" y="5560516"/>
            <a:ext cx="1963746" cy="646331"/>
          </a:xfrm>
          <a:prstGeom prst="rect">
            <a:avLst/>
          </a:prstGeom>
          <a:noFill/>
        </p:spPr>
        <p:txBody>
          <a:bodyPr wrap="square" rtlCol="0">
            <a:spAutoFit/>
          </a:bodyPr>
          <a:lstStyle/>
          <a:p>
            <a:r>
              <a:rPr lang="en-US" sz="1200" dirty="0">
                <a:solidFill>
                  <a:schemeClr val="accent4">
                    <a:lumMod val="75000"/>
                  </a:schemeClr>
                </a:solidFill>
              </a:rPr>
              <a:t>What DID happen? What processes and outcomes have been achieved? </a:t>
            </a:r>
          </a:p>
        </p:txBody>
      </p:sp>
      <p:pic>
        <p:nvPicPr>
          <p:cNvPr id="70" name="Picture 69">
            <a:extLst>
              <a:ext uri="{FF2B5EF4-FFF2-40B4-BE49-F238E27FC236}">
                <a16:creationId xmlns:a16="http://schemas.microsoft.com/office/drawing/2014/main" id="{4753B1CA-0350-4457-A4B5-C7EF9B25838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833688" y="4425329"/>
            <a:ext cx="921529" cy="633552"/>
          </a:xfrm>
          <a:prstGeom prst="rect">
            <a:avLst/>
          </a:prstGeom>
        </p:spPr>
      </p:pic>
      <p:cxnSp>
        <p:nvCxnSpPr>
          <p:cNvPr id="71" name="Straight Arrow Connector 70">
            <a:extLst>
              <a:ext uri="{FF2B5EF4-FFF2-40B4-BE49-F238E27FC236}">
                <a16:creationId xmlns:a16="http://schemas.microsoft.com/office/drawing/2014/main" id="{E44011DC-41D1-490F-BA09-67C42C7AC1D3}"/>
              </a:ext>
            </a:extLst>
          </p:cNvPr>
          <p:cNvCxnSpPr>
            <a:cxnSpLocks/>
          </p:cNvCxnSpPr>
          <p:nvPr/>
        </p:nvCxnSpPr>
        <p:spPr>
          <a:xfrm>
            <a:off x="3448616" y="2215217"/>
            <a:ext cx="945223"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FAA7D3F-C064-4138-9A1C-D9D019AC1236}"/>
              </a:ext>
            </a:extLst>
          </p:cNvPr>
          <p:cNvCxnSpPr/>
          <p:nvPr/>
        </p:nvCxnSpPr>
        <p:spPr>
          <a:xfrm>
            <a:off x="6109152" y="2215217"/>
            <a:ext cx="713996"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D992D7D5-E04D-49F8-B187-731275CC4AC7}"/>
              </a:ext>
            </a:extLst>
          </p:cNvPr>
          <p:cNvCxnSpPr>
            <a:cxnSpLocks/>
          </p:cNvCxnSpPr>
          <p:nvPr/>
        </p:nvCxnSpPr>
        <p:spPr>
          <a:xfrm>
            <a:off x="7271628" y="3448317"/>
            <a:ext cx="22825" cy="839617"/>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D78165D4-A138-4193-AF5D-D24457DE9CCB}"/>
              </a:ext>
            </a:extLst>
          </p:cNvPr>
          <p:cNvCxnSpPr>
            <a:cxnSpLocks/>
          </p:cNvCxnSpPr>
          <p:nvPr/>
        </p:nvCxnSpPr>
        <p:spPr>
          <a:xfrm flipH="1">
            <a:off x="5211327" y="5474166"/>
            <a:ext cx="995938" cy="0"/>
          </a:xfrm>
          <a:prstGeom prst="straightConnector1">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5" name="Elbow Connector 18">
            <a:extLst>
              <a:ext uri="{FF2B5EF4-FFF2-40B4-BE49-F238E27FC236}">
                <a16:creationId xmlns:a16="http://schemas.microsoft.com/office/drawing/2014/main" id="{D79B4200-7CD5-45C4-B92D-9A503944590E}"/>
              </a:ext>
            </a:extLst>
          </p:cNvPr>
          <p:cNvCxnSpPr>
            <a:cxnSpLocks/>
            <a:stCxn id="64" idx="1"/>
          </p:cNvCxnSpPr>
          <p:nvPr/>
        </p:nvCxnSpPr>
        <p:spPr>
          <a:xfrm rot="10800000">
            <a:off x="2530730" y="4083981"/>
            <a:ext cx="346148" cy="1493356"/>
          </a:xfrm>
          <a:prstGeom prst="bentConnector2">
            <a:avLst/>
          </a:prstGeom>
          <a:ln w="79375">
            <a:solidFill>
              <a:schemeClr val="bg2">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370B4891-0C3B-4104-BE87-B059463F0E7A}"/>
              </a:ext>
            </a:extLst>
          </p:cNvPr>
          <p:cNvSpPr txBox="1"/>
          <p:nvPr/>
        </p:nvSpPr>
        <p:spPr>
          <a:xfrm>
            <a:off x="4148867" y="4150502"/>
            <a:ext cx="2712115" cy="200055"/>
          </a:xfrm>
          <a:prstGeom prst="rect">
            <a:avLst/>
          </a:prstGeom>
          <a:noFill/>
        </p:spPr>
        <p:txBody>
          <a:bodyPr wrap="square" lIns="0" tIns="0" rIns="0" bIns="0" rtlCol="0">
            <a:spAutoFit/>
          </a:bodyPr>
          <a:lstStyle/>
          <a:p>
            <a:r>
              <a:rPr lang="en-US" sz="1300" dirty="0"/>
              <a:t>Patient, provider, population, public</a:t>
            </a:r>
          </a:p>
        </p:txBody>
      </p:sp>
      <p:pic>
        <p:nvPicPr>
          <p:cNvPr id="77" name="Picture 76">
            <a:extLst>
              <a:ext uri="{FF2B5EF4-FFF2-40B4-BE49-F238E27FC236}">
                <a16:creationId xmlns:a16="http://schemas.microsoft.com/office/drawing/2014/main" id="{99ABF394-C9F9-4928-83F6-9560E2BFBEE9}"/>
              </a:ext>
            </a:extLst>
          </p:cNvPr>
          <p:cNvPicPr>
            <a:picLocks noChangeAspect="1"/>
          </p:cNvPicPr>
          <p:nvPr/>
        </p:nvPicPr>
        <p:blipFill>
          <a:blip r:embed="rId7"/>
          <a:stretch>
            <a:fillRect/>
          </a:stretch>
        </p:blipFill>
        <p:spPr>
          <a:xfrm>
            <a:off x="3369499" y="3935399"/>
            <a:ext cx="799655" cy="649320"/>
          </a:xfrm>
          <a:prstGeom prst="rect">
            <a:avLst/>
          </a:prstGeom>
        </p:spPr>
      </p:pic>
      <p:sp>
        <p:nvSpPr>
          <p:cNvPr id="78" name="TextBox 77">
            <a:extLst>
              <a:ext uri="{FF2B5EF4-FFF2-40B4-BE49-F238E27FC236}">
                <a16:creationId xmlns:a16="http://schemas.microsoft.com/office/drawing/2014/main" id="{57203055-5D7B-43D8-84F9-29C07B8B15BF}"/>
              </a:ext>
            </a:extLst>
          </p:cNvPr>
          <p:cNvSpPr txBox="1"/>
          <p:nvPr/>
        </p:nvSpPr>
        <p:spPr>
          <a:xfrm>
            <a:off x="8926132" y="3392932"/>
            <a:ext cx="1193912" cy="584775"/>
          </a:xfrm>
          <a:prstGeom prst="rect">
            <a:avLst/>
          </a:prstGeom>
          <a:noFill/>
        </p:spPr>
        <p:txBody>
          <a:bodyPr wrap="square" rtlCol="0">
            <a:spAutoFit/>
          </a:bodyPr>
          <a:lstStyle/>
          <a:p>
            <a:r>
              <a:rPr lang="en-US" sz="1600" b="1" dirty="0"/>
              <a:t>4. CLINICAL CARE</a:t>
            </a:r>
          </a:p>
        </p:txBody>
      </p:sp>
      <p:sp>
        <p:nvSpPr>
          <p:cNvPr id="79" name="TextBox 78">
            <a:extLst>
              <a:ext uri="{FF2B5EF4-FFF2-40B4-BE49-F238E27FC236}">
                <a16:creationId xmlns:a16="http://schemas.microsoft.com/office/drawing/2014/main" id="{0EDCC91C-3311-45D7-86E9-F6A488903631}"/>
              </a:ext>
            </a:extLst>
          </p:cNvPr>
          <p:cNvSpPr txBox="1"/>
          <p:nvPr/>
        </p:nvSpPr>
        <p:spPr>
          <a:xfrm>
            <a:off x="8986176" y="3860931"/>
            <a:ext cx="1342467" cy="461665"/>
          </a:xfrm>
          <a:prstGeom prst="rect">
            <a:avLst/>
          </a:prstGeom>
          <a:noFill/>
        </p:spPr>
        <p:txBody>
          <a:bodyPr wrap="square" rtlCol="0">
            <a:spAutoFit/>
          </a:bodyPr>
          <a:lstStyle/>
          <a:p>
            <a:r>
              <a:rPr lang="en-US" sz="1200" dirty="0">
                <a:solidFill>
                  <a:schemeClr val="accent4">
                    <a:lumMod val="75000"/>
                  </a:schemeClr>
                </a:solidFill>
              </a:rPr>
              <a:t>Clinician and Patient Workflow.</a:t>
            </a:r>
          </a:p>
        </p:txBody>
      </p:sp>
      <p:pic>
        <p:nvPicPr>
          <p:cNvPr id="80" name="Picture 79">
            <a:extLst>
              <a:ext uri="{FF2B5EF4-FFF2-40B4-BE49-F238E27FC236}">
                <a16:creationId xmlns:a16="http://schemas.microsoft.com/office/drawing/2014/main" id="{0850B545-2EA6-4588-A007-541A6AE9396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063194" y="3570362"/>
            <a:ext cx="1045989" cy="634131"/>
          </a:xfrm>
          <a:prstGeom prst="rect">
            <a:avLst/>
          </a:prstGeom>
        </p:spPr>
      </p:pic>
      <p:cxnSp>
        <p:nvCxnSpPr>
          <p:cNvPr id="81" name="Straight Arrow Connector 80">
            <a:extLst>
              <a:ext uri="{FF2B5EF4-FFF2-40B4-BE49-F238E27FC236}">
                <a16:creationId xmlns:a16="http://schemas.microsoft.com/office/drawing/2014/main" id="{75DF8450-2378-4191-983D-EFB42DE54D36}"/>
              </a:ext>
            </a:extLst>
          </p:cNvPr>
          <p:cNvCxnSpPr>
            <a:cxnSpLocks/>
          </p:cNvCxnSpPr>
          <p:nvPr/>
        </p:nvCxnSpPr>
        <p:spPr>
          <a:xfrm flipH="1">
            <a:off x="7441738" y="3808431"/>
            <a:ext cx="658036" cy="0"/>
          </a:xfrm>
          <a:prstGeom prst="straightConnector1">
            <a:avLst/>
          </a:prstGeom>
          <a:ln w="60325">
            <a:solidFill>
              <a:schemeClr val="bg2">
                <a:lumMod val="7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11859A90-D428-4C9A-B69D-2716BF187A9B}"/>
              </a:ext>
            </a:extLst>
          </p:cNvPr>
          <p:cNvGrpSpPr/>
          <p:nvPr/>
        </p:nvGrpSpPr>
        <p:grpSpPr>
          <a:xfrm>
            <a:off x="8685261" y="5745669"/>
            <a:ext cx="1071080" cy="469360"/>
            <a:chOff x="573231" y="6245052"/>
            <a:chExt cx="1071080" cy="469360"/>
          </a:xfrm>
        </p:grpSpPr>
        <p:sp>
          <p:nvSpPr>
            <p:cNvPr id="31" name="Rectangle: Rounded Corners 30">
              <a:extLst>
                <a:ext uri="{FF2B5EF4-FFF2-40B4-BE49-F238E27FC236}">
                  <a16:creationId xmlns:a16="http://schemas.microsoft.com/office/drawing/2014/main" id="{D8B556D5-2842-4BED-9559-E68D556A161E}"/>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BE7FC7B-9D0F-4D9A-960A-04BB633A8756}"/>
                </a:ext>
              </a:extLst>
            </p:cNvPr>
            <p:cNvPicPr>
              <a:picLocks noChangeAspect="1"/>
            </p:cNvPicPr>
            <p:nvPr/>
          </p:nvPicPr>
          <p:blipFill>
            <a:blip r:embed="rId9"/>
            <a:stretch>
              <a:fillRect/>
            </a:stretch>
          </p:blipFill>
          <p:spPr>
            <a:xfrm>
              <a:off x="626852" y="6333797"/>
              <a:ext cx="278075" cy="318157"/>
            </a:xfrm>
            <a:prstGeom prst="rect">
              <a:avLst/>
            </a:prstGeom>
          </p:spPr>
        </p:pic>
        <p:sp>
          <p:nvSpPr>
            <p:cNvPr id="33" name="TextBox 32">
              <a:extLst>
                <a:ext uri="{FF2B5EF4-FFF2-40B4-BE49-F238E27FC236}">
                  <a16:creationId xmlns:a16="http://schemas.microsoft.com/office/drawing/2014/main" id="{7382C399-B4E6-4106-B0BE-D5908E1020C2}"/>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34" name="Group 33">
            <a:extLst>
              <a:ext uri="{FF2B5EF4-FFF2-40B4-BE49-F238E27FC236}">
                <a16:creationId xmlns:a16="http://schemas.microsoft.com/office/drawing/2014/main" id="{3FC7E7CF-5574-41F5-AB77-B435712FA1BD}"/>
              </a:ext>
            </a:extLst>
          </p:cNvPr>
          <p:cNvGrpSpPr/>
          <p:nvPr/>
        </p:nvGrpSpPr>
        <p:grpSpPr>
          <a:xfrm>
            <a:off x="6207265" y="1452941"/>
            <a:ext cx="1140877" cy="469360"/>
            <a:chOff x="189466" y="3622532"/>
            <a:chExt cx="1140877" cy="469360"/>
          </a:xfrm>
        </p:grpSpPr>
        <p:sp>
          <p:nvSpPr>
            <p:cNvPr id="35" name="Rectangle: Rounded Corners 34">
              <a:extLst>
                <a:ext uri="{FF2B5EF4-FFF2-40B4-BE49-F238E27FC236}">
                  <a16:creationId xmlns:a16="http://schemas.microsoft.com/office/drawing/2014/main" id="{107E568F-812A-429D-A3A9-1B5A3DF26E7B}"/>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821C6E45-888A-4D65-B397-7A4936F3C94D}"/>
                </a:ext>
              </a:extLst>
            </p:cNvPr>
            <p:cNvPicPr>
              <a:picLocks noChangeAspect="1"/>
            </p:cNvPicPr>
            <p:nvPr/>
          </p:nvPicPr>
          <p:blipFill>
            <a:blip r:embed="rId9"/>
            <a:stretch>
              <a:fillRect/>
            </a:stretch>
          </p:blipFill>
          <p:spPr>
            <a:xfrm>
              <a:off x="280824" y="3699630"/>
              <a:ext cx="278075" cy="318157"/>
            </a:xfrm>
            <a:prstGeom prst="rect">
              <a:avLst/>
            </a:prstGeom>
            <a:solidFill>
              <a:schemeClr val="accent1"/>
            </a:solidFill>
            <a:ln>
              <a:solidFill>
                <a:schemeClr val="bg1"/>
              </a:solidFill>
            </a:ln>
          </p:spPr>
        </p:pic>
        <p:sp>
          <p:nvSpPr>
            <p:cNvPr id="37" name="TextBox 36">
              <a:extLst>
                <a:ext uri="{FF2B5EF4-FFF2-40B4-BE49-F238E27FC236}">
                  <a16:creationId xmlns:a16="http://schemas.microsoft.com/office/drawing/2014/main" id="{1391EC3C-98AB-4204-A324-C916F1DBBE8E}"/>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38" name="Group 37">
            <a:extLst>
              <a:ext uri="{FF2B5EF4-FFF2-40B4-BE49-F238E27FC236}">
                <a16:creationId xmlns:a16="http://schemas.microsoft.com/office/drawing/2014/main" id="{A0D4381E-FE67-4463-BE81-E624698D1533}"/>
              </a:ext>
            </a:extLst>
          </p:cNvPr>
          <p:cNvGrpSpPr/>
          <p:nvPr/>
        </p:nvGrpSpPr>
        <p:grpSpPr>
          <a:xfrm>
            <a:off x="8601754" y="2795720"/>
            <a:ext cx="1466490" cy="469360"/>
            <a:chOff x="5446652" y="6210853"/>
            <a:chExt cx="1466490" cy="469360"/>
          </a:xfrm>
        </p:grpSpPr>
        <p:sp>
          <p:nvSpPr>
            <p:cNvPr id="39" name="Rectangle: Rounded Corners 38">
              <a:extLst>
                <a:ext uri="{FF2B5EF4-FFF2-40B4-BE49-F238E27FC236}">
                  <a16:creationId xmlns:a16="http://schemas.microsoft.com/office/drawing/2014/main" id="{FFE67871-21BC-4804-8380-6283678D87C3}"/>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2E8AF269-F4F4-4E4D-B447-AA1F186F68FC}"/>
                </a:ext>
              </a:extLst>
            </p:cNvPr>
            <p:cNvPicPr>
              <a:picLocks noChangeAspect="1"/>
            </p:cNvPicPr>
            <p:nvPr/>
          </p:nvPicPr>
          <p:blipFill>
            <a:blip r:embed="rId9"/>
            <a:stretch>
              <a:fillRect/>
            </a:stretch>
          </p:blipFill>
          <p:spPr>
            <a:xfrm>
              <a:off x="5481305" y="6292628"/>
              <a:ext cx="278075" cy="318157"/>
            </a:xfrm>
            <a:prstGeom prst="rect">
              <a:avLst/>
            </a:prstGeom>
          </p:spPr>
        </p:pic>
        <p:sp>
          <p:nvSpPr>
            <p:cNvPr id="41" name="TextBox 40">
              <a:extLst>
                <a:ext uri="{FF2B5EF4-FFF2-40B4-BE49-F238E27FC236}">
                  <a16:creationId xmlns:a16="http://schemas.microsoft.com/office/drawing/2014/main" id="{2FD7AFAC-5802-4849-A270-B13534C0DE3D}"/>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42" name="Group 41">
            <a:extLst>
              <a:ext uri="{FF2B5EF4-FFF2-40B4-BE49-F238E27FC236}">
                <a16:creationId xmlns:a16="http://schemas.microsoft.com/office/drawing/2014/main" id="{3C91E37C-7EC5-4341-9D2A-1F2A51D59303}"/>
              </a:ext>
            </a:extLst>
          </p:cNvPr>
          <p:cNvGrpSpPr/>
          <p:nvPr/>
        </p:nvGrpSpPr>
        <p:grpSpPr>
          <a:xfrm>
            <a:off x="3418036" y="1452941"/>
            <a:ext cx="1083966" cy="469360"/>
            <a:chOff x="189466" y="3622532"/>
            <a:chExt cx="1083966" cy="469360"/>
          </a:xfrm>
        </p:grpSpPr>
        <p:sp>
          <p:nvSpPr>
            <p:cNvPr id="43" name="Rectangle: Rounded Corners 42">
              <a:extLst>
                <a:ext uri="{FF2B5EF4-FFF2-40B4-BE49-F238E27FC236}">
                  <a16:creationId xmlns:a16="http://schemas.microsoft.com/office/drawing/2014/main" id="{4FB2345A-2BA8-41EB-BBB8-B8CCC0023239}"/>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28309C9C-9496-4144-8752-CBB789EAF799}"/>
                </a:ext>
              </a:extLst>
            </p:cNvPr>
            <p:cNvPicPr>
              <a:picLocks noChangeAspect="1"/>
            </p:cNvPicPr>
            <p:nvPr/>
          </p:nvPicPr>
          <p:blipFill>
            <a:blip r:embed="rId9"/>
            <a:stretch>
              <a:fillRect/>
            </a:stretch>
          </p:blipFill>
          <p:spPr>
            <a:xfrm>
              <a:off x="280824" y="3699630"/>
              <a:ext cx="278075" cy="318157"/>
            </a:xfrm>
            <a:prstGeom prst="rect">
              <a:avLst/>
            </a:prstGeom>
            <a:solidFill>
              <a:schemeClr val="accent1"/>
            </a:solidFill>
            <a:ln>
              <a:solidFill>
                <a:schemeClr val="bg1"/>
              </a:solidFill>
            </a:ln>
          </p:spPr>
        </p:pic>
        <p:sp>
          <p:nvSpPr>
            <p:cNvPr id="45" name="TextBox 44">
              <a:extLst>
                <a:ext uri="{FF2B5EF4-FFF2-40B4-BE49-F238E27FC236}">
                  <a16:creationId xmlns:a16="http://schemas.microsoft.com/office/drawing/2014/main" id="{0B32677E-B555-4CF9-AF9A-933AEB717F60}"/>
                </a:ext>
              </a:extLst>
            </p:cNvPr>
            <p:cNvSpPr txBox="1"/>
            <p:nvPr/>
          </p:nvSpPr>
          <p:spPr>
            <a:xfrm>
              <a:off x="491652" y="3674042"/>
              <a:ext cx="628698" cy="369332"/>
            </a:xfrm>
            <a:prstGeom prst="rect">
              <a:avLst/>
            </a:prstGeom>
            <a:noFill/>
          </p:spPr>
          <p:txBody>
            <a:bodyPr wrap="none" rtlCol="0">
              <a:spAutoFit/>
            </a:bodyPr>
            <a:lstStyle/>
            <a:p>
              <a:r>
                <a:rPr lang="en-US" b="1" dirty="0"/>
                <a:t>EBM</a:t>
              </a:r>
            </a:p>
          </p:txBody>
        </p:sp>
      </p:grpSp>
      <p:grpSp>
        <p:nvGrpSpPr>
          <p:cNvPr id="46" name="Group 45">
            <a:extLst>
              <a:ext uri="{FF2B5EF4-FFF2-40B4-BE49-F238E27FC236}">
                <a16:creationId xmlns:a16="http://schemas.microsoft.com/office/drawing/2014/main" id="{5BD40F32-1C5C-40EE-A2F5-7870AA41D55D}"/>
              </a:ext>
            </a:extLst>
          </p:cNvPr>
          <p:cNvGrpSpPr/>
          <p:nvPr/>
        </p:nvGrpSpPr>
        <p:grpSpPr>
          <a:xfrm>
            <a:off x="5007378" y="3667142"/>
            <a:ext cx="1207061" cy="469360"/>
            <a:chOff x="8127101" y="6122756"/>
            <a:chExt cx="1207061" cy="469360"/>
          </a:xfrm>
        </p:grpSpPr>
        <p:sp>
          <p:nvSpPr>
            <p:cNvPr id="47" name="Rectangle: Rounded Corners 46">
              <a:extLst>
                <a:ext uri="{FF2B5EF4-FFF2-40B4-BE49-F238E27FC236}">
                  <a16:creationId xmlns:a16="http://schemas.microsoft.com/office/drawing/2014/main" id="{6E528DCF-4BDD-4414-81D2-39612F04DBCC}"/>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8" name="Picture 47">
              <a:extLst>
                <a:ext uri="{FF2B5EF4-FFF2-40B4-BE49-F238E27FC236}">
                  <a16:creationId xmlns:a16="http://schemas.microsoft.com/office/drawing/2014/main" id="{FE7FFACD-ABEF-43BE-A18E-C391D4CA5041}"/>
                </a:ext>
              </a:extLst>
            </p:cNvPr>
            <p:cNvPicPr>
              <a:picLocks noChangeAspect="1"/>
            </p:cNvPicPr>
            <p:nvPr/>
          </p:nvPicPr>
          <p:blipFill>
            <a:blip r:embed="rId9"/>
            <a:stretch>
              <a:fillRect/>
            </a:stretch>
          </p:blipFill>
          <p:spPr>
            <a:xfrm>
              <a:off x="8221454" y="6206857"/>
              <a:ext cx="278075" cy="318157"/>
            </a:xfrm>
            <a:prstGeom prst="rect">
              <a:avLst/>
            </a:prstGeom>
          </p:spPr>
        </p:pic>
        <p:sp>
          <p:nvSpPr>
            <p:cNvPr id="49" name="TextBox 48">
              <a:extLst>
                <a:ext uri="{FF2B5EF4-FFF2-40B4-BE49-F238E27FC236}">
                  <a16:creationId xmlns:a16="http://schemas.microsoft.com/office/drawing/2014/main" id="{4E472C9F-F56A-4D14-961D-FF610AB2584B}"/>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grpSp>
        <p:nvGrpSpPr>
          <p:cNvPr id="50" name="Group 49">
            <a:extLst>
              <a:ext uri="{FF2B5EF4-FFF2-40B4-BE49-F238E27FC236}">
                <a16:creationId xmlns:a16="http://schemas.microsoft.com/office/drawing/2014/main" id="{9123FF6E-3CDE-4756-83D3-36E504C49533}"/>
              </a:ext>
            </a:extLst>
          </p:cNvPr>
          <p:cNvGrpSpPr/>
          <p:nvPr/>
        </p:nvGrpSpPr>
        <p:grpSpPr>
          <a:xfrm>
            <a:off x="5230796" y="5745669"/>
            <a:ext cx="1068039" cy="469360"/>
            <a:chOff x="2716212" y="6306901"/>
            <a:chExt cx="1068039" cy="469360"/>
          </a:xfrm>
        </p:grpSpPr>
        <p:sp>
          <p:nvSpPr>
            <p:cNvPr id="51" name="Rectangle: Rounded Corners 50">
              <a:extLst>
                <a:ext uri="{FF2B5EF4-FFF2-40B4-BE49-F238E27FC236}">
                  <a16:creationId xmlns:a16="http://schemas.microsoft.com/office/drawing/2014/main" id="{60129FEE-7A90-4D3A-85A3-34CEC364724E}"/>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51">
              <a:extLst>
                <a:ext uri="{FF2B5EF4-FFF2-40B4-BE49-F238E27FC236}">
                  <a16:creationId xmlns:a16="http://schemas.microsoft.com/office/drawing/2014/main" id="{B522C727-280F-406A-8395-8A6DCD5CED3B}"/>
                </a:ext>
              </a:extLst>
            </p:cNvPr>
            <p:cNvPicPr>
              <a:picLocks noChangeAspect="1"/>
            </p:cNvPicPr>
            <p:nvPr/>
          </p:nvPicPr>
          <p:blipFill>
            <a:blip r:embed="rId9"/>
            <a:stretch>
              <a:fillRect/>
            </a:stretch>
          </p:blipFill>
          <p:spPr>
            <a:xfrm>
              <a:off x="2773973" y="6397468"/>
              <a:ext cx="278075" cy="318157"/>
            </a:xfrm>
            <a:prstGeom prst="rect">
              <a:avLst/>
            </a:prstGeom>
          </p:spPr>
        </p:pic>
        <p:sp>
          <p:nvSpPr>
            <p:cNvPr id="53" name="TextBox 52">
              <a:extLst>
                <a:ext uri="{FF2B5EF4-FFF2-40B4-BE49-F238E27FC236}">
                  <a16:creationId xmlns:a16="http://schemas.microsoft.com/office/drawing/2014/main" id="{DE66723B-50CF-4A10-A762-6F1476171314}"/>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54" name="Group 53">
            <a:extLst>
              <a:ext uri="{FF2B5EF4-FFF2-40B4-BE49-F238E27FC236}">
                <a16:creationId xmlns:a16="http://schemas.microsoft.com/office/drawing/2014/main" id="{F3FEECBE-C83A-49DE-B1A7-8B14403EE452}"/>
              </a:ext>
            </a:extLst>
          </p:cNvPr>
          <p:cNvGrpSpPr/>
          <p:nvPr/>
        </p:nvGrpSpPr>
        <p:grpSpPr>
          <a:xfrm>
            <a:off x="4103666" y="3676488"/>
            <a:ext cx="864688" cy="469360"/>
            <a:chOff x="125913" y="5331262"/>
            <a:chExt cx="864688" cy="469360"/>
          </a:xfrm>
        </p:grpSpPr>
        <p:sp>
          <p:nvSpPr>
            <p:cNvPr id="55" name="Rectangle: Rounded Corners 54">
              <a:extLst>
                <a:ext uri="{FF2B5EF4-FFF2-40B4-BE49-F238E27FC236}">
                  <a16:creationId xmlns:a16="http://schemas.microsoft.com/office/drawing/2014/main" id="{E1401F7C-321C-4131-BDD7-CE994F719F30}"/>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2" name="Picture 81">
              <a:extLst>
                <a:ext uri="{FF2B5EF4-FFF2-40B4-BE49-F238E27FC236}">
                  <a16:creationId xmlns:a16="http://schemas.microsoft.com/office/drawing/2014/main" id="{1116EC26-8D34-47D2-ABC1-7058F17CE522}"/>
                </a:ext>
              </a:extLst>
            </p:cNvPr>
            <p:cNvPicPr>
              <a:picLocks noChangeAspect="1"/>
            </p:cNvPicPr>
            <p:nvPr/>
          </p:nvPicPr>
          <p:blipFill>
            <a:blip r:embed="rId9"/>
            <a:stretch>
              <a:fillRect/>
            </a:stretch>
          </p:blipFill>
          <p:spPr>
            <a:xfrm>
              <a:off x="162362" y="5431290"/>
              <a:ext cx="278075" cy="318157"/>
            </a:xfrm>
            <a:prstGeom prst="rect">
              <a:avLst/>
            </a:prstGeom>
          </p:spPr>
        </p:pic>
        <p:sp>
          <p:nvSpPr>
            <p:cNvPr id="83" name="TextBox 82">
              <a:extLst>
                <a:ext uri="{FF2B5EF4-FFF2-40B4-BE49-F238E27FC236}">
                  <a16:creationId xmlns:a16="http://schemas.microsoft.com/office/drawing/2014/main" id="{46CB00EC-A64C-4718-A1DB-67D957165486}"/>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84" name="Group 83">
            <a:extLst>
              <a:ext uri="{FF2B5EF4-FFF2-40B4-BE49-F238E27FC236}">
                <a16:creationId xmlns:a16="http://schemas.microsoft.com/office/drawing/2014/main" id="{27F0B9CD-2614-4F52-9207-53A7EC9CC452}"/>
              </a:ext>
            </a:extLst>
          </p:cNvPr>
          <p:cNvGrpSpPr/>
          <p:nvPr/>
        </p:nvGrpSpPr>
        <p:grpSpPr>
          <a:xfrm>
            <a:off x="6253559" y="3667142"/>
            <a:ext cx="864688" cy="469360"/>
            <a:chOff x="125913" y="5331262"/>
            <a:chExt cx="864688" cy="469360"/>
          </a:xfrm>
        </p:grpSpPr>
        <p:sp>
          <p:nvSpPr>
            <p:cNvPr id="85" name="Rectangle: Rounded Corners 84">
              <a:extLst>
                <a:ext uri="{FF2B5EF4-FFF2-40B4-BE49-F238E27FC236}">
                  <a16:creationId xmlns:a16="http://schemas.microsoft.com/office/drawing/2014/main" id="{7498804A-2DF7-4383-B4E5-812BD81917D4}"/>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6" name="Picture 85">
              <a:extLst>
                <a:ext uri="{FF2B5EF4-FFF2-40B4-BE49-F238E27FC236}">
                  <a16:creationId xmlns:a16="http://schemas.microsoft.com/office/drawing/2014/main" id="{9865AEA2-91A8-42B9-A662-8EB8C72353D6}"/>
                </a:ext>
              </a:extLst>
            </p:cNvPr>
            <p:cNvPicPr>
              <a:picLocks noChangeAspect="1"/>
            </p:cNvPicPr>
            <p:nvPr/>
          </p:nvPicPr>
          <p:blipFill>
            <a:blip r:embed="rId9"/>
            <a:stretch>
              <a:fillRect/>
            </a:stretch>
          </p:blipFill>
          <p:spPr>
            <a:xfrm>
              <a:off x="162362" y="5431290"/>
              <a:ext cx="278075" cy="318157"/>
            </a:xfrm>
            <a:prstGeom prst="rect">
              <a:avLst/>
            </a:prstGeom>
          </p:spPr>
        </p:pic>
        <p:sp>
          <p:nvSpPr>
            <p:cNvPr id="87" name="TextBox 86">
              <a:extLst>
                <a:ext uri="{FF2B5EF4-FFF2-40B4-BE49-F238E27FC236}">
                  <a16:creationId xmlns:a16="http://schemas.microsoft.com/office/drawing/2014/main" id="{9CC302DA-D44C-4915-AF77-58D43E408848}"/>
                </a:ext>
              </a:extLst>
            </p:cNvPr>
            <p:cNvSpPr txBox="1"/>
            <p:nvPr/>
          </p:nvSpPr>
          <p:spPr>
            <a:xfrm>
              <a:off x="373190" y="5405702"/>
              <a:ext cx="436338" cy="369332"/>
            </a:xfrm>
            <a:prstGeom prst="rect">
              <a:avLst/>
            </a:prstGeom>
            <a:noFill/>
          </p:spPr>
          <p:txBody>
            <a:bodyPr wrap="none" rtlCol="0">
              <a:spAutoFit/>
            </a:bodyPr>
            <a:lstStyle/>
            <a:p>
              <a:r>
                <a:rPr lang="en-US" b="1" dirty="0"/>
                <a:t>CR</a:t>
              </a:r>
            </a:p>
          </p:txBody>
        </p:sp>
      </p:grpSp>
      <p:grpSp>
        <p:nvGrpSpPr>
          <p:cNvPr id="88" name="Group 87">
            <a:extLst>
              <a:ext uri="{FF2B5EF4-FFF2-40B4-BE49-F238E27FC236}">
                <a16:creationId xmlns:a16="http://schemas.microsoft.com/office/drawing/2014/main" id="{A3797EEA-A193-40F0-93E4-AF8C8A63C9F1}"/>
              </a:ext>
            </a:extLst>
          </p:cNvPr>
          <p:cNvGrpSpPr/>
          <p:nvPr/>
        </p:nvGrpSpPr>
        <p:grpSpPr>
          <a:xfrm>
            <a:off x="1773290" y="5745669"/>
            <a:ext cx="1071080" cy="469360"/>
            <a:chOff x="573231" y="6245052"/>
            <a:chExt cx="1071080" cy="469360"/>
          </a:xfrm>
          <a:solidFill>
            <a:srgbClr val="C00000"/>
          </a:solidFill>
        </p:grpSpPr>
        <p:sp>
          <p:nvSpPr>
            <p:cNvPr id="89" name="Rectangle: Rounded Corners 88">
              <a:extLst>
                <a:ext uri="{FF2B5EF4-FFF2-40B4-BE49-F238E27FC236}">
                  <a16:creationId xmlns:a16="http://schemas.microsoft.com/office/drawing/2014/main" id="{075DF316-1951-446D-9FB1-BDDBDB0AD91A}"/>
                </a:ext>
              </a:extLst>
            </p:cNvPr>
            <p:cNvSpPr/>
            <p:nvPr/>
          </p:nvSpPr>
          <p:spPr>
            <a:xfrm>
              <a:off x="573231" y="6245052"/>
              <a:ext cx="1071080"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TextBox 90">
              <a:extLst>
                <a:ext uri="{FF2B5EF4-FFF2-40B4-BE49-F238E27FC236}">
                  <a16:creationId xmlns:a16="http://schemas.microsoft.com/office/drawing/2014/main" id="{7F7F0A6B-3E2A-441E-8DEE-E9146833C6A9}"/>
                </a:ext>
              </a:extLst>
            </p:cNvPr>
            <p:cNvSpPr txBox="1"/>
            <p:nvPr/>
          </p:nvSpPr>
          <p:spPr>
            <a:xfrm>
              <a:off x="837680" y="6308209"/>
              <a:ext cx="657552"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eCR</a:t>
              </a:r>
              <a:endParaRPr lang="en-US" b="1" dirty="0">
                <a:solidFill>
                  <a:schemeClr val="bg1"/>
                </a:solidFill>
              </a:endParaRPr>
            </a:p>
          </p:txBody>
        </p:sp>
        <p:pic>
          <p:nvPicPr>
            <p:cNvPr id="90" name="Picture 89">
              <a:extLst>
                <a:ext uri="{FF2B5EF4-FFF2-40B4-BE49-F238E27FC236}">
                  <a16:creationId xmlns:a16="http://schemas.microsoft.com/office/drawing/2014/main" id="{E4E98DAE-AA7E-4DE6-BC83-2A7007BFD1E5}"/>
                </a:ext>
              </a:extLst>
            </p:cNvPr>
            <p:cNvPicPr>
              <a:picLocks noChangeAspect="1"/>
            </p:cNvPicPr>
            <p:nvPr/>
          </p:nvPicPr>
          <p:blipFill>
            <a:blip r:embed="rId9"/>
            <a:stretch>
              <a:fillRect/>
            </a:stretch>
          </p:blipFill>
          <p:spPr>
            <a:xfrm>
              <a:off x="626852" y="6333797"/>
              <a:ext cx="278075" cy="318157"/>
            </a:xfrm>
            <a:prstGeom prst="rect">
              <a:avLst/>
            </a:prstGeom>
            <a:grpFill/>
          </p:spPr>
        </p:pic>
      </p:grpSp>
      <p:pic>
        <p:nvPicPr>
          <p:cNvPr id="3" name="Picture 2">
            <a:extLst>
              <a:ext uri="{FF2B5EF4-FFF2-40B4-BE49-F238E27FC236}">
                <a16:creationId xmlns:a16="http://schemas.microsoft.com/office/drawing/2014/main" id="{4323F97B-673F-44E7-9C2F-0AD4BCECB8E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pic>
        <p:nvPicPr>
          <p:cNvPr id="5" name="Picture 4">
            <a:extLst>
              <a:ext uri="{FF2B5EF4-FFF2-40B4-BE49-F238E27FC236}">
                <a16:creationId xmlns:a16="http://schemas.microsoft.com/office/drawing/2014/main" id="{1FD093DA-208B-4FD3-B852-B01F024553AF}"/>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7429" y="3685319"/>
            <a:ext cx="1764127" cy="424956"/>
          </a:xfrm>
          <a:prstGeom prst="rect">
            <a:avLst/>
          </a:prstGeom>
        </p:spPr>
      </p:pic>
    </p:spTree>
    <p:extLst>
      <p:ext uri="{BB962C8B-B14F-4D97-AF65-F5344CB8AC3E}">
        <p14:creationId xmlns:p14="http://schemas.microsoft.com/office/powerpoint/2010/main" val="2993414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9BA14-8F22-406A-9047-F10482775D17}"/>
              </a:ext>
            </a:extLst>
          </p:cNvPr>
          <p:cNvSpPr>
            <a:spLocks noGrp="1"/>
          </p:cNvSpPr>
          <p:nvPr>
            <p:ph type="title"/>
          </p:nvPr>
        </p:nvSpPr>
        <p:spPr/>
        <p:txBody>
          <a:bodyPr/>
          <a:lstStyle/>
          <a:p>
            <a:r>
              <a:rPr lang="en-US" dirty="0"/>
              <a:t>Quality Improvement Ecosystem</a:t>
            </a:r>
          </a:p>
        </p:txBody>
      </p:sp>
      <p:pic>
        <p:nvPicPr>
          <p:cNvPr id="5" name="Picture 4">
            <a:extLst>
              <a:ext uri="{FF2B5EF4-FFF2-40B4-BE49-F238E27FC236}">
                <a16:creationId xmlns:a16="http://schemas.microsoft.com/office/drawing/2014/main" id="{222E4784-3D3F-4495-8225-D1CA97CA7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749" y="1332727"/>
            <a:ext cx="9846501" cy="5375899"/>
          </a:xfrm>
          <a:prstGeom prst="rect">
            <a:avLst/>
          </a:prstGeom>
        </p:spPr>
      </p:pic>
      <p:pic>
        <p:nvPicPr>
          <p:cNvPr id="4" name="Picture 3">
            <a:extLst>
              <a:ext uri="{FF2B5EF4-FFF2-40B4-BE49-F238E27FC236}">
                <a16:creationId xmlns:a16="http://schemas.microsoft.com/office/drawing/2014/main" id="{9448ADB5-69C7-4457-BF59-9E92670F3F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3340671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9BA14-8F22-406A-9047-F10482775D17}"/>
              </a:ext>
            </a:extLst>
          </p:cNvPr>
          <p:cNvSpPr>
            <a:spLocks noGrp="1"/>
          </p:cNvSpPr>
          <p:nvPr>
            <p:ph type="title"/>
          </p:nvPr>
        </p:nvSpPr>
        <p:spPr/>
        <p:txBody>
          <a:bodyPr/>
          <a:lstStyle/>
          <a:p>
            <a:r>
              <a:rPr lang="en-US" dirty="0"/>
              <a:t>Quality Improvement Ecosystem</a:t>
            </a:r>
          </a:p>
        </p:txBody>
      </p:sp>
      <p:pic>
        <p:nvPicPr>
          <p:cNvPr id="5" name="Picture 4">
            <a:extLst>
              <a:ext uri="{FF2B5EF4-FFF2-40B4-BE49-F238E27FC236}">
                <a16:creationId xmlns:a16="http://schemas.microsoft.com/office/drawing/2014/main" id="{222E4784-3D3F-4495-8225-D1CA97CA7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2749" y="1332727"/>
            <a:ext cx="9846501" cy="5375899"/>
          </a:xfrm>
          <a:prstGeom prst="rect">
            <a:avLst/>
          </a:prstGeom>
        </p:spPr>
      </p:pic>
      <p:pic>
        <p:nvPicPr>
          <p:cNvPr id="4" name="Picture 3">
            <a:extLst>
              <a:ext uri="{FF2B5EF4-FFF2-40B4-BE49-F238E27FC236}">
                <a16:creationId xmlns:a16="http://schemas.microsoft.com/office/drawing/2014/main" id="{1461492D-5335-4EA7-B653-0EAD361112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grpSp>
        <p:nvGrpSpPr>
          <p:cNvPr id="6" name="Group 5">
            <a:extLst>
              <a:ext uri="{FF2B5EF4-FFF2-40B4-BE49-F238E27FC236}">
                <a16:creationId xmlns:a16="http://schemas.microsoft.com/office/drawing/2014/main" id="{07C635AD-6D80-446F-96BE-FBDF6F2F2B1F}"/>
              </a:ext>
            </a:extLst>
          </p:cNvPr>
          <p:cNvGrpSpPr/>
          <p:nvPr/>
        </p:nvGrpSpPr>
        <p:grpSpPr>
          <a:xfrm>
            <a:off x="7587962" y="5683211"/>
            <a:ext cx="1071080" cy="469360"/>
            <a:chOff x="573231" y="6245052"/>
            <a:chExt cx="1071080" cy="469360"/>
          </a:xfrm>
        </p:grpSpPr>
        <p:sp>
          <p:nvSpPr>
            <p:cNvPr id="7" name="Rectangle: Rounded Corners 6">
              <a:extLst>
                <a:ext uri="{FF2B5EF4-FFF2-40B4-BE49-F238E27FC236}">
                  <a16:creationId xmlns:a16="http://schemas.microsoft.com/office/drawing/2014/main" id="{6EE01CD2-83B8-429E-9A05-05C2E0C34940}"/>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460B3B9-F782-4CD5-A8F5-31BDB9CBFF90}"/>
                </a:ext>
              </a:extLst>
            </p:cNvPr>
            <p:cNvPicPr>
              <a:picLocks noChangeAspect="1"/>
            </p:cNvPicPr>
            <p:nvPr/>
          </p:nvPicPr>
          <p:blipFill>
            <a:blip r:embed="rId5"/>
            <a:stretch>
              <a:fillRect/>
            </a:stretch>
          </p:blipFill>
          <p:spPr>
            <a:xfrm>
              <a:off x="626852" y="6333797"/>
              <a:ext cx="278075" cy="318157"/>
            </a:xfrm>
            <a:prstGeom prst="rect">
              <a:avLst/>
            </a:prstGeom>
          </p:spPr>
        </p:pic>
        <p:sp>
          <p:nvSpPr>
            <p:cNvPr id="9" name="TextBox 8">
              <a:extLst>
                <a:ext uri="{FF2B5EF4-FFF2-40B4-BE49-F238E27FC236}">
                  <a16:creationId xmlns:a16="http://schemas.microsoft.com/office/drawing/2014/main" id="{333F6DDD-30C6-4250-BF2D-35F89A13F258}"/>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10" name="Group 9">
            <a:extLst>
              <a:ext uri="{FF2B5EF4-FFF2-40B4-BE49-F238E27FC236}">
                <a16:creationId xmlns:a16="http://schemas.microsoft.com/office/drawing/2014/main" id="{C14E2EB5-B0D0-46FE-BE09-A82491BDE0B0}"/>
              </a:ext>
            </a:extLst>
          </p:cNvPr>
          <p:cNvGrpSpPr/>
          <p:nvPr/>
        </p:nvGrpSpPr>
        <p:grpSpPr>
          <a:xfrm>
            <a:off x="6429045" y="1402018"/>
            <a:ext cx="1140877" cy="469360"/>
            <a:chOff x="189466" y="3622532"/>
            <a:chExt cx="1140877" cy="469360"/>
          </a:xfrm>
        </p:grpSpPr>
        <p:sp>
          <p:nvSpPr>
            <p:cNvPr id="11" name="Rectangle: Rounded Corners 10">
              <a:extLst>
                <a:ext uri="{FF2B5EF4-FFF2-40B4-BE49-F238E27FC236}">
                  <a16:creationId xmlns:a16="http://schemas.microsoft.com/office/drawing/2014/main" id="{6C7655C1-3893-4148-AF48-F1C7CF2D3F1B}"/>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871B52A-141E-46A7-B6D7-8584E936A5C2}"/>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13" name="TextBox 12">
              <a:extLst>
                <a:ext uri="{FF2B5EF4-FFF2-40B4-BE49-F238E27FC236}">
                  <a16:creationId xmlns:a16="http://schemas.microsoft.com/office/drawing/2014/main" id="{AAC6B28E-F68D-4A19-899E-FD9894B05244}"/>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14" name="Group 13">
            <a:extLst>
              <a:ext uri="{FF2B5EF4-FFF2-40B4-BE49-F238E27FC236}">
                <a16:creationId xmlns:a16="http://schemas.microsoft.com/office/drawing/2014/main" id="{36374297-0F41-4787-A469-4273CFD08375}"/>
              </a:ext>
            </a:extLst>
          </p:cNvPr>
          <p:cNvGrpSpPr/>
          <p:nvPr/>
        </p:nvGrpSpPr>
        <p:grpSpPr>
          <a:xfrm>
            <a:off x="9277995" y="3106690"/>
            <a:ext cx="1466490" cy="469360"/>
            <a:chOff x="5446652" y="6210853"/>
            <a:chExt cx="1466490" cy="469360"/>
          </a:xfrm>
        </p:grpSpPr>
        <p:sp>
          <p:nvSpPr>
            <p:cNvPr id="15" name="Rectangle: Rounded Corners 14">
              <a:extLst>
                <a:ext uri="{FF2B5EF4-FFF2-40B4-BE49-F238E27FC236}">
                  <a16:creationId xmlns:a16="http://schemas.microsoft.com/office/drawing/2014/main" id="{0DFBDEE9-F43C-48AC-96C2-0D9B0A0CA03E}"/>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DA9EC708-40C5-4C02-AD29-1CC334DED167}"/>
                </a:ext>
              </a:extLst>
            </p:cNvPr>
            <p:cNvPicPr>
              <a:picLocks noChangeAspect="1"/>
            </p:cNvPicPr>
            <p:nvPr/>
          </p:nvPicPr>
          <p:blipFill>
            <a:blip r:embed="rId5"/>
            <a:stretch>
              <a:fillRect/>
            </a:stretch>
          </p:blipFill>
          <p:spPr>
            <a:xfrm>
              <a:off x="5481305" y="6292628"/>
              <a:ext cx="278075" cy="318157"/>
            </a:xfrm>
            <a:prstGeom prst="rect">
              <a:avLst/>
            </a:prstGeom>
          </p:spPr>
        </p:pic>
        <p:sp>
          <p:nvSpPr>
            <p:cNvPr id="17" name="TextBox 16">
              <a:extLst>
                <a:ext uri="{FF2B5EF4-FFF2-40B4-BE49-F238E27FC236}">
                  <a16:creationId xmlns:a16="http://schemas.microsoft.com/office/drawing/2014/main" id="{28CAF02D-0893-435F-9A36-6271CC1815CB}"/>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18" name="Group 17">
            <a:extLst>
              <a:ext uri="{FF2B5EF4-FFF2-40B4-BE49-F238E27FC236}">
                <a16:creationId xmlns:a16="http://schemas.microsoft.com/office/drawing/2014/main" id="{A30CB164-3573-4C07-B922-BBAD43CE6F61}"/>
              </a:ext>
            </a:extLst>
          </p:cNvPr>
          <p:cNvGrpSpPr/>
          <p:nvPr/>
        </p:nvGrpSpPr>
        <p:grpSpPr>
          <a:xfrm>
            <a:off x="3056149" y="1402018"/>
            <a:ext cx="1083966" cy="469360"/>
            <a:chOff x="189466" y="3622532"/>
            <a:chExt cx="1083966" cy="469360"/>
          </a:xfrm>
        </p:grpSpPr>
        <p:sp>
          <p:nvSpPr>
            <p:cNvPr id="19" name="Rectangle: Rounded Corners 18">
              <a:extLst>
                <a:ext uri="{FF2B5EF4-FFF2-40B4-BE49-F238E27FC236}">
                  <a16:creationId xmlns:a16="http://schemas.microsoft.com/office/drawing/2014/main" id="{40710246-32F3-4D67-A6F1-1E0A321F8131}"/>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AF8F5A53-872B-4C28-AD97-5EB702F740BA}"/>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21" name="TextBox 20">
              <a:extLst>
                <a:ext uri="{FF2B5EF4-FFF2-40B4-BE49-F238E27FC236}">
                  <a16:creationId xmlns:a16="http://schemas.microsoft.com/office/drawing/2014/main" id="{8FF789B7-0C3A-4FCA-9C61-F07C9A84D71F}"/>
                </a:ext>
              </a:extLst>
            </p:cNvPr>
            <p:cNvSpPr txBox="1"/>
            <p:nvPr/>
          </p:nvSpPr>
          <p:spPr>
            <a:xfrm>
              <a:off x="491652" y="3674042"/>
              <a:ext cx="628698" cy="369332"/>
            </a:xfrm>
            <a:prstGeom prst="rect">
              <a:avLst/>
            </a:prstGeom>
            <a:noFill/>
          </p:spPr>
          <p:txBody>
            <a:bodyPr wrap="none" rtlCol="0">
              <a:spAutoFit/>
            </a:bodyPr>
            <a:lstStyle/>
            <a:p>
              <a:r>
                <a:rPr lang="en-US" b="1" dirty="0"/>
                <a:t>EBM</a:t>
              </a:r>
            </a:p>
          </p:txBody>
        </p:sp>
      </p:grpSp>
      <p:grpSp>
        <p:nvGrpSpPr>
          <p:cNvPr id="22" name="Group 21">
            <a:extLst>
              <a:ext uri="{FF2B5EF4-FFF2-40B4-BE49-F238E27FC236}">
                <a16:creationId xmlns:a16="http://schemas.microsoft.com/office/drawing/2014/main" id="{7B6F9094-9E09-401B-82EA-5EA7418AC708}"/>
              </a:ext>
            </a:extLst>
          </p:cNvPr>
          <p:cNvGrpSpPr/>
          <p:nvPr/>
        </p:nvGrpSpPr>
        <p:grpSpPr>
          <a:xfrm>
            <a:off x="5007378" y="3667142"/>
            <a:ext cx="1207061" cy="469360"/>
            <a:chOff x="8127101" y="6122756"/>
            <a:chExt cx="1207061" cy="469360"/>
          </a:xfrm>
        </p:grpSpPr>
        <p:sp>
          <p:nvSpPr>
            <p:cNvPr id="23" name="Rectangle: Rounded Corners 22">
              <a:extLst>
                <a:ext uri="{FF2B5EF4-FFF2-40B4-BE49-F238E27FC236}">
                  <a16:creationId xmlns:a16="http://schemas.microsoft.com/office/drawing/2014/main" id="{EDD0625A-3980-4D8E-944A-E977778228DE}"/>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98AE9819-A02B-4C51-BD09-1E7C8518723F}"/>
                </a:ext>
              </a:extLst>
            </p:cNvPr>
            <p:cNvPicPr>
              <a:picLocks noChangeAspect="1"/>
            </p:cNvPicPr>
            <p:nvPr/>
          </p:nvPicPr>
          <p:blipFill>
            <a:blip r:embed="rId5"/>
            <a:stretch>
              <a:fillRect/>
            </a:stretch>
          </p:blipFill>
          <p:spPr>
            <a:xfrm>
              <a:off x="8221454" y="6206857"/>
              <a:ext cx="278075" cy="318157"/>
            </a:xfrm>
            <a:prstGeom prst="rect">
              <a:avLst/>
            </a:prstGeom>
          </p:spPr>
        </p:pic>
        <p:sp>
          <p:nvSpPr>
            <p:cNvPr id="25" name="TextBox 24">
              <a:extLst>
                <a:ext uri="{FF2B5EF4-FFF2-40B4-BE49-F238E27FC236}">
                  <a16:creationId xmlns:a16="http://schemas.microsoft.com/office/drawing/2014/main" id="{70AF0388-A53D-42CA-A98D-0013941E0076}"/>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grpSp>
        <p:nvGrpSpPr>
          <p:cNvPr id="26" name="Group 25">
            <a:extLst>
              <a:ext uri="{FF2B5EF4-FFF2-40B4-BE49-F238E27FC236}">
                <a16:creationId xmlns:a16="http://schemas.microsoft.com/office/drawing/2014/main" id="{8C0FDDE2-D4AA-49AD-A82C-520809232A27}"/>
              </a:ext>
            </a:extLst>
          </p:cNvPr>
          <p:cNvGrpSpPr/>
          <p:nvPr/>
        </p:nvGrpSpPr>
        <p:grpSpPr>
          <a:xfrm>
            <a:off x="3703046" y="5683211"/>
            <a:ext cx="1068039" cy="469360"/>
            <a:chOff x="2716212" y="6306901"/>
            <a:chExt cx="1068039" cy="469360"/>
          </a:xfrm>
        </p:grpSpPr>
        <p:sp>
          <p:nvSpPr>
            <p:cNvPr id="27" name="Rectangle: Rounded Corners 26">
              <a:extLst>
                <a:ext uri="{FF2B5EF4-FFF2-40B4-BE49-F238E27FC236}">
                  <a16:creationId xmlns:a16="http://schemas.microsoft.com/office/drawing/2014/main" id="{A15007A2-CE1F-4BA9-8152-4F3C020D5698}"/>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532A981-9E7F-4900-84A6-0AAB9290FFC0}"/>
                </a:ext>
              </a:extLst>
            </p:cNvPr>
            <p:cNvPicPr>
              <a:picLocks noChangeAspect="1"/>
            </p:cNvPicPr>
            <p:nvPr/>
          </p:nvPicPr>
          <p:blipFill>
            <a:blip r:embed="rId5"/>
            <a:stretch>
              <a:fillRect/>
            </a:stretch>
          </p:blipFill>
          <p:spPr>
            <a:xfrm>
              <a:off x="2773973" y="6397468"/>
              <a:ext cx="278075" cy="318157"/>
            </a:xfrm>
            <a:prstGeom prst="rect">
              <a:avLst/>
            </a:prstGeom>
          </p:spPr>
        </p:pic>
        <p:sp>
          <p:nvSpPr>
            <p:cNvPr id="29" name="TextBox 28">
              <a:extLst>
                <a:ext uri="{FF2B5EF4-FFF2-40B4-BE49-F238E27FC236}">
                  <a16:creationId xmlns:a16="http://schemas.microsoft.com/office/drawing/2014/main" id="{51CB09FD-0A03-406B-885B-832FD513CA6B}"/>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30" name="Group 29">
            <a:extLst>
              <a:ext uri="{FF2B5EF4-FFF2-40B4-BE49-F238E27FC236}">
                <a16:creationId xmlns:a16="http://schemas.microsoft.com/office/drawing/2014/main" id="{F17EEB54-02D3-482A-846C-F43B17C5BD54}"/>
              </a:ext>
            </a:extLst>
          </p:cNvPr>
          <p:cNvGrpSpPr/>
          <p:nvPr/>
        </p:nvGrpSpPr>
        <p:grpSpPr>
          <a:xfrm>
            <a:off x="4103666" y="3676488"/>
            <a:ext cx="864688" cy="469360"/>
            <a:chOff x="125913" y="5331262"/>
            <a:chExt cx="864688" cy="469360"/>
          </a:xfrm>
        </p:grpSpPr>
        <p:sp>
          <p:nvSpPr>
            <p:cNvPr id="31" name="Rectangle: Rounded Corners 30">
              <a:extLst>
                <a:ext uri="{FF2B5EF4-FFF2-40B4-BE49-F238E27FC236}">
                  <a16:creationId xmlns:a16="http://schemas.microsoft.com/office/drawing/2014/main" id="{28FCB5A7-9042-4607-9EB5-EF128F4EF5D7}"/>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C068EDE-E611-4BBC-BF3F-0202C55931BC}"/>
                </a:ext>
              </a:extLst>
            </p:cNvPr>
            <p:cNvPicPr>
              <a:picLocks noChangeAspect="1"/>
            </p:cNvPicPr>
            <p:nvPr/>
          </p:nvPicPr>
          <p:blipFill>
            <a:blip r:embed="rId5"/>
            <a:stretch>
              <a:fillRect/>
            </a:stretch>
          </p:blipFill>
          <p:spPr>
            <a:xfrm>
              <a:off x="162362" y="5431290"/>
              <a:ext cx="278075" cy="318157"/>
            </a:xfrm>
            <a:prstGeom prst="rect">
              <a:avLst/>
            </a:prstGeom>
          </p:spPr>
        </p:pic>
        <p:sp>
          <p:nvSpPr>
            <p:cNvPr id="33" name="TextBox 32">
              <a:extLst>
                <a:ext uri="{FF2B5EF4-FFF2-40B4-BE49-F238E27FC236}">
                  <a16:creationId xmlns:a16="http://schemas.microsoft.com/office/drawing/2014/main" id="{141BC407-923F-407F-A341-B7EEFB604EF8}"/>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34" name="Group 33">
            <a:extLst>
              <a:ext uri="{FF2B5EF4-FFF2-40B4-BE49-F238E27FC236}">
                <a16:creationId xmlns:a16="http://schemas.microsoft.com/office/drawing/2014/main" id="{E1295C20-F7E6-4C4B-A8D3-9332B9561BD9}"/>
              </a:ext>
            </a:extLst>
          </p:cNvPr>
          <p:cNvGrpSpPr/>
          <p:nvPr/>
        </p:nvGrpSpPr>
        <p:grpSpPr>
          <a:xfrm>
            <a:off x="6253559" y="3667142"/>
            <a:ext cx="864688" cy="469360"/>
            <a:chOff x="125913" y="5331262"/>
            <a:chExt cx="864688" cy="469360"/>
          </a:xfrm>
        </p:grpSpPr>
        <p:sp>
          <p:nvSpPr>
            <p:cNvPr id="35" name="Rectangle: Rounded Corners 34">
              <a:extLst>
                <a:ext uri="{FF2B5EF4-FFF2-40B4-BE49-F238E27FC236}">
                  <a16:creationId xmlns:a16="http://schemas.microsoft.com/office/drawing/2014/main" id="{253AC8E4-6B53-4C77-B4C3-CE0AC6FFBE18}"/>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42B20253-F1C1-48C9-B23C-FF44EA097380}"/>
                </a:ext>
              </a:extLst>
            </p:cNvPr>
            <p:cNvPicPr>
              <a:picLocks noChangeAspect="1"/>
            </p:cNvPicPr>
            <p:nvPr/>
          </p:nvPicPr>
          <p:blipFill>
            <a:blip r:embed="rId5"/>
            <a:stretch>
              <a:fillRect/>
            </a:stretch>
          </p:blipFill>
          <p:spPr>
            <a:xfrm>
              <a:off x="162362" y="5431290"/>
              <a:ext cx="278075" cy="318157"/>
            </a:xfrm>
            <a:prstGeom prst="rect">
              <a:avLst/>
            </a:prstGeom>
          </p:spPr>
        </p:pic>
        <p:sp>
          <p:nvSpPr>
            <p:cNvPr id="37" name="TextBox 36">
              <a:extLst>
                <a:ext uri="{FF2B5EF4-FFF2-40B4-BE49-F238E27FC236}">
                  <a16:creationId xmlns:a16="http://schemas.microsoft.com/office/drawing/2014/main" id="{6AEACA82-3E90-4117-AC89-D69742A5F99C}"/>
                </a:ext>
              </a:extLst>
            </p:cNvPr>
            <p:cNvSpPr txBox="1"/>
            <p:nvPr/>
          </p:nvSpPr>
          <p:spPr>
            <a:xfrm>
              <a:off x="373190" y="5405702"/>
              <a:ext cx="436338" cy="369332"/>
            </a:xfrm>
            <a:prstGeom prst="rect">
              <a:avLst/>
            </a:prstGeom>
            <a:noFill/>
          </p:spPr>
          <p:txBody>
            <a:bodyPr wrap="none" rtlCol="0">
              <a:spAutoFit/>
            </a:bodyPr>
            <a:lstStyle/>
            <a:p>
              <a:r>
                <a:rPr lang="en-US" b="1" dirty="0"/>
                <a:t>CR</a:t>
              </a:r>
            </a:p>
          </p:txBody>
        </p:sp>
      </p:grpSp>
      <p:grpSp>
        <p:nvGrpSpPr>
          <p:cNvPr id="38" name="Group 37">
            <a:extLst>
              <a:ext uri="{FF2B5EF4-FFF2-40B4-BE49-F238E27FC236}">
                <a16:creationId xmlns:a16="http://schemas.microsoft.com/office/drawing/2014/main" id="{71734A0B-0CD3-4FFE-8D8E-8A9CA42429F2}"/>
              </a:ext>
            </a:extLst>
          </p:cNvPr>
          <p:cNvGrpSpPr/>
          <p:nvPr/>
        </p:nvGrpSpPr>
        <p:grpSpPr>
          <a:xfrm>
            <a:off x="861440" y="5276309"/>
            <a:ext cx="1071080" cy="469360"/>
            <a:chOff x="573231" y="6245052"/>
            <a:chExt cx="1071080" cy="469360"/>
          </a:xfrm>
          <a:solidFill>
            <a:srgbClr val="C00000"/>
          </a:solidFill>
        </p:grpSpPr>
        <p:sp>
          <p:nvSpPr>
            <p:cNvPr id="39" name="Rectangle: Rounded Corners 38">
              <a:extLst>
                <a:ext uri="{FF2B5EF4-FFF2-40B4-BE49-F238E27FC236}">
                  <a16:creationId xmlns:a16="http://schemas.microsoft.com/office/drawing/2014/main" id="{83B94E53-A9C4-4DFC-BFAC-ED067FEBFA42}"/>
                </a:ext>
              </a:extLst>
            </p:cNvPr>
            <p:cNvSpPr/>
            <p:nvPr/>
          </p:nvSpPr>
          <p:spPr>
            <a:xfrm>
              <a:off x="573231" y="6245052"/>
              <a:ext cx="1071080"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C7EBBE9A-37EA-4124-ADE7-D818A6829AD7}"/>
                </a:ext>
              </a:extLst>
            </p:cNvPr>
            <p:cNvSpPr txBox="1"/>
            <p:nvPr/>
          </p:nvSpPr>
          <p:spPr>
            <a:xfrm>
              <a:off x="837680" y="6308209"/>
              <a:ext cx="657552"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eCR</a:t>
              </a:r>
              <a:endParaRPr lang="en-US" b="1" dirty="0">
                <a:solidFill>
                  <a:schemeClr val="bg1"/>
                </a:solidFill>
              </a:endParaRPr>
            </a:p>
          </p:txBody>
        </p:sp>
        <p:pic>
          <p:nvPicPr>
            <p:cNvPr id="41" name="Picture 40">
              <a:extLst>
                <a:ext uri="{FF2B5EF4-FFF2-40B4-BE49-F238E27FC236}">
                  <a16:creationId xmlns:a16="http://schemas.microsoft.com/office/drawing/2014/main" id="{99209DF1-09CB-400C-9D51-FF72688E3E7A}"/>
                </a:ext>
              </a:extLst>
            </p:cNvPr>
            <p:cNvPicPr>
              <a:picLocks noChangeAspect="1"/>
            </p:cNvPicPr>
            <p:nvPr/>
          </p:nvPicPr>
          <p:blipFill>
            <a:blip r:embed="rId5"/>
            <a:stretch>
              <a:fillRect/>
            </a:stretch>
          </p:blipFill>
          <p:spPr>
            <a:xfrm>
              <a:off x="626852" y="6333797"/>
              <a:ext cx="278075" cy="318157"/>
            </a:xfrm>
            <a:prstGeom prst="rect">
              <a:avLst/>
            </a:prstGeom>
            <a:grpFill/>
          </p:spPr>
        </p:pic>
      </p:grpSp>
      <p:pic>
        <p:nvPicPr>
          <p:cNvPr id="42" name="Picture 41">
            <a:extLst>
              <a:ext uri="{FF2B5EF4-FFF2-40B4-BE49-F238E27FC236}">
                <a16:creationId xmlns:a16="http://schemas.microsoft.com/office/drawing/2014/main" id="{A9659024-FC83-494C-84D9-066C3C9E05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429" y="3685319"/>
            <a:ext cx="1764127" cy="424956"/>
          </a:xfrm>
          <a:prstGeom prst="rect">
            <a:avLst/>
          </a:prstGeom>
        </p:spPr>
      </p:pic>
      <p:sp>
        <p:nvSpPr>
          <p:cNvPr id="43" name="Google Shape;527;p15">
            <a:extLst>
              <a:ext uri="{FF2B5EF4-FFF2-40B4-BE49-F238E27FC236}">
                <a16:creationId xmlns:a16="http://schemas.microsoft.com/office/drawing/2014/main" id="{765A6B6B-49F2-426E-8F7D-F00053A9A792}"/>
              </a:ext>
            </a:extLst>
          </p:cNvPr>
          <p:cNvSpPr txBox="1"/>
          <p:nvPr/>
        </p:nvSpPr>
        <p:spPr>
          <a:xfrm>
            <a:off x="9353025" y="184435"/>
            <a:ext cx="2668539" cy="861734"/>
          </a:xfrm>
          <a:prstGeom prst="rect">
            <a:avLst/>
          </a:prstGeom>
          <a:noFill/>
          <a:ln w="381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1000" b="1" i="0" u="none" strike="noStrike" cap="none" dirty="0">
                <a:solidFill>
                  <a:srgbClr val="000000"/>
                </a:solidFill>
                <a:latin typeface="Calibri"/>
                <a:ea typeface="Calibri"/>
                <a:cs typeface="Calibri"/>
                <a:sym typeface="Calibri"/>
              </a:rPr>
              <a:t>LEGEND: Sponsoring HL7 Workgroups</a:t>
            </a:r>
            <a:endParaRPr sz="2400" dirty="0"/>
          </a:p>
          <a:p>
            <a:pPr marL="0" marR="0" lvl="0" indent="0" algn="l" rtl="0">
              <a:lnSpc>
                <a:spcPct val="100000"/>
              </a:lnSpc>
              <a:spcBef>
                <a:spcPts val="0"/>
              </a:spcBef>
              <a:spcAft>
                <a:spcPts val="0"/>
              </a:spcAft>
              <a:buClr>
                <a:srgbClr val="00B0F0"/>
              </a:buClr>
              <a:buSzPts val="800"/>
              <a:buFont typeface="Arial"/>
              <a:buNone/>
            </a:pPr>
            <a:r>
              <a:rPr lang="en-US" sz="1000" b="1" i="0" u="none" strike="noStrike" cap="none" dirty="0">
                <a:solidFill>
                  <a:srgbClr val="00B0F0"/>
                </a:solidFill>
                <a:latin typeface="Calibri"/>
                <a:ea typeface="Calibri"/>
                <a:cs typeface="Calibri"/>
                <a:sym typeface="Calibri"/>
              </a:rPr>
              <a:t>Clinical Decision Support  (CDS)</a:t>
            </a:r>
            <a:endParaRPr sz="2400" dirty="0"/>
          </a:p>
          <a:p>
            <a:pPr marL="0" marR="0" lvl="0" indent="0" algn="l" rtl="0">
              <a:lnSpc>
                <a:spcPct val="100000"/>
              </a:lnSpc>
              <a:spcBef>
                <a:spcPts val="0"/>
              </a:spcBef>
              <a:spcAft>
                <a:spcPts val="0"/>
              </a:spcAft>
              <a:buClr>
                <a:srgbClr val="7030A0"/>
              </a:buClr>
              <a:buSzPts val="800"/>
              <a:buFont typeface="Arial"/>
              <a:buNone/>
            </a:pPr>
            <a:r>
              <a:rPr lang="en-US" sz="1000" b="1" i="0" u="none" strike="noStrike" cap="none" dirty="0">
                <a:solidFill>
                  <a:srgbClr val="7030A0"/>
                </a:solidFill>
                <a:latin typeface="Calibri"/>
                <a:ea typeface="Calibri"/>
                <a:cs typeface="Calibri"/>
                <a:sym typeface="Calibri"/>
              </a:rPr>
              <a:t>Clinical Quality Information (CQI)</a:t>
            </a:r>
            <a:br>
              <a:rPr lang="en-US" sz="1000" b="1" i="0" u="none" strike="noStrike" cap="none" dirty="0">
                <a:solidFill>
                  <a:srgbClr val="7030A0"/>
                </a:solidFill>
                <a:latin typeface="Calibri"/>
                <a:ea typeface="Calibri"/>
                <a:cs typeface="Calibri"/>
                <a:sym typeface="Calibri"/>
              </a:rPr>
            </a:br>
            <a:r>
              <a:rPr lang="en-US" sz="1000" b="1" i="0" u="none" strike="noStrike" cap="none" dirty="0">
                <a:solidFill>
                  <a:srgbClr val="C00000"/>
                </a:solidFill>
                <a:latin typeface="Calibri"/>
                <a:ea typeface="Calibri"/>
                <a:cs typeface="Calibri"/>
                <a:sym typeface="Calibri"/>
              </a:rPr>
              <a:t>Public Health (PH) </a:t>
            </a:r>
            <a:br>
              <a:rPr lang="en-US" sz="1000" b="1" i="0" u="none" strike="noStrike" cap="none" dirty="0">
                <a:solidFill>
                  <a:srgbClr val="C00000"/>
                </a:solidFill>
                <a:latin typeface="Calibri"/>
                <a:ea typeface="Calibri"/>
                <a:cs typeface="Calibri"/>
                <a:sym typeface="Calibri"/>
              </a:rPr>
            </a:br>
            <a:r>
              <a:rPr lang="en-US" sz="1000" b="1" i="0" u="none" strike="noStrike" cap="none" dirty="0">
                <a:solidFill>
                  <a:schemeClr val="accent6">
                    <a:lumMod val="75000"/>
                  </a:schemeClr>
                </a:solidFill>
                <a:latin typeface="Calibri"/>
                <a:ea typeface="Calibri"/>
                <a:cs typeface="Calibri"/>
                <a:sym typeface="Calibri"/>
              </a:rPr>
              <a:t>Cross Group Projects (CGP)</a:t>
            </a:r>
          </a:p>
        </p:txBody>
      </p:sp>
      <p:grpSp>
        <p:nvGrpSpPr>
          <p:cNvPr id="44" name="Group 43">
            <a:extLst>
              <a:ext uri="{FF2B5EF4-FFF2-40B4-BE49-F238E27FC236}">
                <a16:creationId xmlns:a16="http://schemas.microsoft.com/office/drawing/2014/main" id="{9CB38938-BD0A-4CE9-BE9F-9A68F6DC561C}"/>
              </a:ext>
            </a:extLst>
          </p:cNvPr>
          <p:cNvGrpSpPr/>
          <p:nvPr/>
        </p:nvGrpSpPr>
        <p:grpSpPr>
          <a:xfrm>
            <a:off x="273027" y="4675471"/>
            <a:ext cx="1649766" cy="469360"/>
            <a:chOff x="573231" y="6245052"/>
            <a:chExt cx="1649766" cy="469360"/>
          </a:xfrm>
          <a:solidFill>
            <a:srgbClr val="C00000"/>
          </a:solidFill>
        </p:grpSpPr>
        <p:sp>
          <p:nvSpPr>
            <p:cNvPr id="45" name="Rectangle: Rounded Corners 44">
              <a:extLst>
                <a:ext uri="{FF2B5EF4-FFF2-40B4-BE49-F238E27FC236}">
                  <a16:creationId xmlns:a16="http://schemas.microsoft.com/office/drawing/2014/main" id="{7B1E32F3-3BEA-4A28-9404-7C0D130B9B96}"/>
                </a:ext>
              </a:extLst>
            </p:cNvPr>
            <p:cNvSpPr/>
            <p:nvPr/>
          </p:nvSpPr>
          <p:spPr>
            <a:xfrm>
              <a:off x="573231" y="6245052"/>
              <a:ext cx="1649766"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B21A1E9B-1998-435C-8F51-CD477EB9CBE8}"/>
                </a:ext>
              </a:extLst>
            </p:cNvPr>
            <p:cNvSpPr txBox="1"/>
            <p:nvPr/>
          </p:nvSpPr>
          <p:spPr>
            <a:xfrm>
              <a:off x="837680" y="6308209"/>
              <a:ext cx="1385316"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MedMorph</a:t>
              </a:r>
              <a:endParaRPr lang="en-US" b="1" dirty="0">
                <a:solidFill>
                  <a:schemeClr val="bg1"/>
                </a:solidFill>
              </a:endParaRPr>
            </a:p>
          </p:txBody>
        </p:sp>
        <p:pic>
          <p:nvPicPr>
            <p:cNvPr id="47" name="Picture 46">
              <a:extLst>
                <a:ext uri="{FF2B5EF4-FFF2-40B4-BE49-F238E27FC236}">
                  <a16:creationId xmlns:a16="http://schemas.microsoft.com/office/drawing/2014/main" id="{B86B97AD-A769-45B0-B9B0-38F883F8DD37}"/>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48" name="Group 47">
            <a:extLst>
              <a:ext uri="{FF2B5EF4-FFF2-40B4-BE49-F238E27FC236}">
                <a16:creationId xmlns:a16="http://schemas.microsoft.com/office/drawing/2014/main" id="{84E9DB13-0536-4F9F-A195-9F323C21DA10}"/>
              </a:ext>
            </a:extLst>
          </p:cNvPr>
          <p:cNvGrpSpPr/>
          <p:nvPr/>
        </p:nvGrpSpPr>
        <p:grpSpPr>
          <a:xfrm>
            <a:off x="5031310" y="4208516"/>
            <a:ext cx="1183129" cy="469360"/>
            <a:chOff x="573230" y="6245052"/>
            <a:chExt cx="1183129" cy="469360"/>
          </a:xfrm>
          <a:solidFill>
            <a:srgbClr val="C00000"/>
          </a:solidFill>
        </p:grpSpPr>
        <p:sp>
          <p:nvSpPr>
            <p:cNvPr id="49" name="Rectangle: Rounded Corners 48">
              <a:extLst>
                <a:ext uri="{FF2B5EF4-FFF2-40B4-BE49-F238E27FC236}">
                  <a16:creationId xmlns:a16="http://schemas.microsoft.com/office/drawing/2014/main" id="{4CD91F87-247C-4846-9724-023B1D1EDA84}"/>
                </a:ext>
              </a:extLst>
            </p:cNvPr>
            <p:cNvSpPr/>
            <p:nvPr/>
          </p:nvSpPr>
          <p:spPr>
            <a:xfrm>
              <a:off x="573230" y="6245052"/>
              <a:ext cx="1183129"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BC22DBC6-3DEB-42EF-8F80-76CCF854C377}"/>
                </a:ext>
              </a:extLst>
            </p:cNvPr>
            <p:cNvSpPr txBox="1"/>
            <p:nvPr/>
          </p:nvSpPr>
          <p:spPr>
            <a:xfrm>
              <a:off x="837680" y="6308209"/>
              <a:ext cx="872355" cy="369332"/>
            </a:xfrm>
            <a:prstGeom prst="rect">
              <a:avLst/>
            </a:prstGeom>
            <a:grpFill/>
          </p:spPr>
          <p:txBody>
            <a:bodyPr wrap="none" rtlCol="0">
              <a:spAutoFit/>
            </a:bodyPr>
            <a:lstStyle/>
            <a:p>
              <a:r>
                <a:rPr lang="en-US" b="1" dirty="0">
                  <a:solidFill>
                    <a:schemeClr val="bg1"/>
                  </a:solidFill>
                </a:rPr>
                <a:t>  US PH</a:t>
              </a:r>
            </a:p>
          </p:txBody>
        </p:sp>
        <p:pic>
          <p:nvPicPr>
            <p:cNvPr id="51" name="Picture 50">
              <a:extLst>
                <a:ext uri="{FF2B5EF4-FFF2-40B4-BE49-F238E27FC236}">
                  <a16:creationId xmlns:a16="http://schemas.microsoft.com/office/drawing/2014/main" id="{C2E19E0E-5FB9-4224-A480-E51E7D5CC93F}"/>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57" name="Group 56">
            <a:extLst>
              <a:ext uri="{FF2B5EF4-FFF2-40B4-BE49-F238E27FC236}">
                <a16:creationId xmlns:a16="http://schemas.microsoft.com/office/drawing/2014/main" id="{DC96CC82-DC61-4832-9C7D-C7991A7AD0A9}"/>
              </a:ext>
            </a:extLst>
          </p:cNvPr>
          <p:cNvGrpSpPr/>
          <p:nvPr/>
        </p:nvGrpSpPr>
        <p:grpSpPr>
          <a:xfrm>
            <a:off x="4977998" y="3106690"/>
            <a:ext cx="1289752" cy="469360"/>
            <a:chOff x="8127101" y="6122756"/>
            <a:chExt cx="1289752" cy="469360"/>
          </a:xfrm>
          <a:solidFill>
            <a:schemeClr val="accent6">
              <a:lumMod val="75000"/>
            </a:schemeClr>
          </a:solidFill>
        </p:grpSpPr>
        <p:sp>
          <p:nvSpPr>
            <p:cNvPr id="58" name="Rectangle: Rounded Corners 57">
              <a:extLst>
                <a:ext uri="{FF2B5EF4-FFF2-40B4-BE49-F238E27FC236}">
                  <a16:creationId xmlns:a16="http://schemas.microsoft.com/office/drawing/2014/main" id="{90BE0F37-21F4-41DC-8FAE-8A2BFDB7433F}"/>
                </a:ext>
              </a:extLst>
            </p:cNvPr>
            <p:cNvSpPr/>
            <p:nvPr/>
          </p:nvSpPr>
          <p:spPr>
            <a:xfrm>
              <a:off x="8127101" y="6122756"/>
              <a:ext cx="1289388"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pic>
          <p:nvPicPr>
            <p:cNvPr id="59" name="Picture 58">
              <a:extLst>
                <a:ext uri="{FF2B5EF4-FFF2-40B4-BE49-F238E27FC236}">
                  <a16:creationId xmlns:a16="http://schemas.microsoft.com/office/drawing/2014/main" id="{182C4366-D859-441A-9DC4-317AB36C66C7}"/>
                </a:ext>
              </a:extLst>
            </p:cNvPr>
            <p:cNvPicPr>
              <a:picLocks noChangeAspect="1"/>
            </p:cNvPicPr>
            <p:nvPr/>
          </p:nvPicPr>
          <p:blipFill>
            <a:blip r:embed="rId5"/>
            <a:stretch>
              <a:fillRect/>
            </a:stretch>
          </p:blipFill>
          <p:spPr>
            <a:xfrm>
              <a:off x="8221454" y="6206857"/>
              <a:ext cx="278075" cy="318157"/>
            </a:xfrm>
            <a:prstGeom prst="rect">
              <a:avLst/>
            </a:prstGeom>
            <a:grpFill/>
          </p:spPr>
        </p:pic>
        <p:sp>
          <p:nvSpPr>
            <p:cNvPr id="60" name="TextBox 59">
              <a:extLst>
                <a:ext uri="{FF2B5EF4-FFF2-40B4-BE49-F238E27FC236}">
                  <a16:creationId xmlns:a16="http://schemas.microsoft.com/office/drawing/2014/main" id="{B303D184-9352-40C4-8630-26BE6AE18A3B}"/>
                </a:ext>
              </a:extLst>
            </p:cNvPr>
            <p:cNvSpPr txBox="1"/>
            <p:nvPr/>
          </p:nvSpPr>
          <p:spPr>
            <a:xfrm>
              <a:off x="8479737" y="6178202"/>
              <a:ext cx="937116" cy="369332"/>
            </a:xfrm>
            <a:prstGeom prst="rect">
              <a:avLst/>
            </a:prstGeom>
            <a:grpFill/>
          </p:spPr>
          <p:txBody>
            <a:bodyPr wrap="none" rtlCol="0">
              <a:spAutoFit/>
            </a:bodyPr>
            <a:lstStyle/>
            <a:p>
              <a:r>
                <a:rPr lang="en-US" b="1" dirty="0">
                  <a:solidFill>
                    <a:schemeClr val="bg1"/>
                  </a:solidFill>
                </a:rPr>
                <a:t>US Core</a:t>
              </a:r>
            </a:p>
          </p:txBody>
        </p:sp>
      </p:grpSp>
    </p:spTree>
    <p:extLst>
      <p:ext uri="{BB962C8B-B14F-4D97-AF65-F5344CB8AC3E}">
        <p14:creationId xmlns:p14="http://schemas.microsoft.com/office/powerpoint/2010/main" val="2929265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9BA14-8F22-406A-9047-F10482775D17}"/>
              </a:ext>
            </a:extLst>
          </p:cNvPr>
          <p:cNvSpPr>
            <a:spLocks noGrp="1"/>
          </p:cNvSpPr>
          <p:nvPr>
            <p:ph type="title"/>
          </p:nvPr>
        </p:nvSpPr>
        <p:spPr/>
        <p:txBody>
          <a:bodyPr/>
          <a:lstStyle/>
          <a:p>
            <a:r>
              <a:rPr lang="en-US" dirty="0"/>
              <a:t>Quality Improvement Ecosystem</a:t>
            </a:r>
          </a:p>
        </p:txBody>
      </p:sp>
      <p:pic>
        <p:nvPicPr>
          <p:cNvPr id="5" name="Picture 4">
            <a:extLst>
              <a:ext uri="{FF2B5EF4-FFF2-40B4-BE49-F238E27FC236}">
                <a16:creationId xmlns:a16="http://schemas.microsoft.com/office/drawing/2014/main" id="{222E4784-3D3F-4495-8225-D1CA97CA7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7299" y="1438910"/>
            <a:ext cx="9846501" cy="5375899"/>
          </a:xfrm>
          <a:prstGeom prst="rect">
            <a:avLst/>
          </a:prstGeom>
        </p:spPr>
      </p:pic>
      <p:pic>
        <p:nvPicPr>
          <p:cNvPr id="4" name="Picture 3">
            <a:extLst>
              <a:ext uri="{FF2B5EF4-FFF2-40B4-BE49-F238E27FC236}">
                <a16:creationId xmlns:a16="http://schemas.microsoft.com/office/drawing/2014/main" id="{1461492D-5335-4EA7-B653-0EAD3611123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5077" y="6492875"/>
            <a:ext cx="1128965" cy="211681"/>
          </a:xfrm>
          <a:prstGeom prst="rect">
            <a:avLst/>
          </a:prstGeom>
        </p:spPr>
      </p:pic>
      <p:grpSp>
        <p:nvGrpSpPr>
          <p:cNvPr id="6" name="Group 5">
            <a:extLst>
              <a:ext uri="{FF2B5EF4-FFF2-40B4-BE49-F238E27FC236}">
                <a16:creationId xmlns:a16="http://schemas.microsoft.com/office/drawing/2014/main" id="{07C635AD-6D80-446F-96BE-FBDF6F2F2B1F}"/>
              </a:ext>
            </a:extLst>
          </p:cNvPr>
          <p:cNvGrpSpPr/>
          <p:nvPr/>
        </p:nvGrpSpPr>
        <p:grpSpPr>
          <a:xfrm>
            <a:off x="7922512" y="5789394"/>
            <a:ext cx="1071080" cy="469360"/>
            <a:chOff x="573231" y="6245052"/>
            <a:chExt cx="1071080" cy="469360"/>
          </a:xfrm>
        </p:grpSpPr>
        <p:sp>
          <p:nvSpPr>
            <p:cNvPr id="7" name="Rectangle: Rounded Corners 6">
              <a:extLst>
                <a:ext uri="{FF2B5EF4-FFF2-40B4-BE49-F238E27FC236}">
                  <a16:creationId xmlns:a16="http://schemas.microsoft.com/office/drawing/2014/main" id="{6EE01CD2-83B8-429E-9A05-05C2E0C34940}"/>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A460B3B9-F782-4CD5-A8F5-31BDB9CBFF90}"/>
                </a:ext>
              </a:extLst>
            </p:cNvPr>
            <p:cNvPicPr>
              <a:picLocks noChangeAspect="1"/>
            </p:cNvPicPr>
            <p:nvPr/>
          </p:nvPicPr>
          <p:blipFill>
            <a:blip r:embed="rId5"/>
            <a:stretch>
              <a:fillRect/>
            </a:stretch>
          </p:blipFill>
          <p:spPr>
            <a:xfrm>
              <a:off x="626852" y="6333797"/>
              <a:ext cx="278075" cy="318157"/>
            </a:xfrm>
            <a:prstGeom prst="rect">
              <a:avLst/>
            </a:prstGeom>
          </p:spPr>
        </p:pic>
        <p:sp>
          <p:nvSpPr>
            <p:cNvPr id="9" name="TextBox 8">
              <a:extLst>
                <a:ext uri="{FF2B5EF4-FFF2-40B4-BE49-F238E27FC236}">
                  <a16:creationId xmlns:a16="http://schemas.microsoft.com/office/drawing/2014/main" id="{333F6DDD-30C6-4250-BF2D-35F89A13F258}"/>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10" name="Group 9">
            <a:extLst>
              <a:ext uri="{FF2B5EF4-FFF2-40B4-BE49-F238E27FC236}">
                <a16:creationId xmlns:a16="http://schemas.microsoft.com/office/drawing/2014/main" id="{C14E2EB5-B0D0-46FE-BE09-A82491BDE0B0}"/>
              </a:ext>
            </a:extLst>
          </p:cNvPr>
          <p:cNvGrpSpPr/>
          <p:nvPr/>
        </p:nvGrpSpPr>
        <p:grpSpPr>
          <a:xfrm>
            <a:off x="6763595" y="1508201"/>
            <a:ext cx="1140877" cy="469360"/>
            <a:chOff x="189466" y="3622532"/>
            <a:chExt cx="1140877" cy="469360"/>
          </a:xfrm>
        </p:grpSpPr>
        <p:sp>
          <p:nvSpPr>
            <p:cNvPr id="11" name="Rectangle: Rounded Corners 10">
              <a:extLst>
                <a:ext uri="{FF2B5EF4-FFF2-40B4-BE49-F238E27FC236}">
                  <a16:creationId xmlns:a16="http://schemas.microsoft.com/office/drawing/2014/main" id="{6C7655C1-3893-4148-AF48-F1C7CF2D3F1B}"/>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7871B52A-141E-46A7-B6D7-8584E936A5C2}"/>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13" name="TextBox 12">
              <a:extLst>
                <a:ext uri="{FF2B5EF4-FFF2-40B4-BE49-F238E27FC236}">
                  <a16:creationId xmlns:a16="http://schemas.microsoft.com/office/drawing/2014/main" id="{AAC6B28E-F68D-4A19-899E-FD9894B05244}"/>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14" name="Group 13">
            <a:extLst>
              <a:ext uri="{FF2B5EF4-FFF2-40B4-BE49-F238E27FC236}">
                <a16:creationId xmlns:a16="http://schemas.microsoft.com/office/drawing/2014/main" id="{36374297-0F41-4787-A469-4273CFD08375}"/>
              </a:ext>
            </a:extLst>
          </p:cNvPr>
          <p:cNvGrpSpPr/>
          <p:nvPr/>
        </p:nvGrpSpPr>
        <p:grpSpPr>
          <a:xfrm>
            <a:off x="9612545" y="3212873"/>
            <a:ext cx="1466490" cy="469360"/>
            <a:chOff x="5446652" y="6210853"/>
            <a:chExt cx="1466490" cy="469360"/>
          </a:xfrm>
        </p:grpSpPr>
        <p:sp>
          <p:nvSpPr>
            <p:cNvPr id="15" name="Rectangle: Rounded Corners 14">
              <a:extLst>
                <a:ext uri="{FF2B5EF4-FFF2-40B4-BE49-F238E27FC236}">
                  <a16:creationId xmlns:a16="http://schemas.microsoft.com/office/drawing/2014/main" id="{0DFBDEE9-F43C-48AC-96C2-0D9B0A0CA03E}"/>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DA9EC708-40C5-4C02-AD29-1CC334DED167}"/>
                </a:ext>
              </a:extLst>
            </p:cNvPr>
            <p:cNvPicPr>
              <a:picLocks noChangeAspect="1"/>
            </p:cNvPicPr>
            <p:nvPr/>
          </p:nvPicPr>
          <p:blipFill>
            <a:blip r:embed="rId5"/>
            <a:stretch>
              <a:fillRect/>
            </a:stretch>
          </p:blipFill>
          <p:spPr>
            <a:xfrm>
              <a:off x="5481305" y="6292628"/>
              <a:ext cx="278075" cy="318157"/>
            </a:xfrm>
            <a:prstGeom prst="rect">
              <a:avLst/>
            </a:prstGeom>
          </p:spPr>
        </p:pic>
        <p:sp>
          <p:nvSpPr>
            <p:cNvPr id="17" name="TextBox 16">
              <a:extLst>
                <a:ext uri="{FF2B5EF4-FFF2-40B4-BE49-F238E27FC236}">
                  <a16:creationId xmlns:a16="http://schemas.microsoft.com/office/drawing/2014/main" id="{28CAF02D-0893-435F-9A36-6271CC1815CB}"/>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18" name="Group 17">
            <a:extLst>
              <a:ext uri="{FF2B5EF4-FFF2-40B4-BE49-F238E27FC236}">
                <a16:creationId xmlns:a16="http://schemas.microsoft.com/office/drawing/2014/main" id="{A30CB164-3573-4C07-B922-BBAD43CE6F61}"/>
              </a:ext>
            </a:extLst>
          </p:cNvPr>
          <p:cNvGrpSpPr/>
          <p:nvPr/>
        </p:nvGrpSpPr>
        <p:grpSpPr>
          <a:xfrm>
            <a:off x="3390699" y="1508201"/>
            <a:ext cx="1083966" cy="469360"/>
            <a:chOff x="189466" y="3622532"/>
            <a:chExt cx="1083966" cy="469360"/>
          </a:xfrm>
        </p:grpSpPr>
        <p:sp>
          <p:nvSpPr>
            <p:cNvPr id="19" name="Rectangle: Rounded Corners 18">
              <a:extLst>
                <a:ext uri="{FF2B5EF4-FFF2-40B4-BE49-F238E27FC236}">
                  <a16:creationId xmlns:a16="http://schemas.microsoft.com/office/drawing/2014/main" id="{40710246-32F3-4D67-A6F1-1E0A321F8131}"/>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AF8F5A53-872B-4C28-AD97-5EB702F740BA}"/>
                </a:ext>
              </a:extLst>
            </p:cNvPr>
            <p:cNvPicPr>
              <a:picLocks noChangeAspect="1"/>
            </p:cNvPicPr>
            <p:nvPr/>
          </p:nvPicPr>
          <p:blipFill>
            <a:blip r:embed="rId5"/>
            <a:stretch>
              <a:fillRect/>
            </a:stretch>
          </p:blipFill>
          <p:spPr>
            <a:xfrm>
              <a:off x="280824" y="3699630"/>
              <a:ext cx="278075" cy="318157"/>
            </a:xfrm>
            <a:prstGeom prst="rect">
              <a:avLst/>
            </a:prstGeom>
            <a:solidFill>
              <a:schemeClr val="accent1"/>
            </a:solidFill>
            <a:ln>
              <a:solidFill>
                <a:schemeClr val="bg1"/>
              </a:solidFill>
            </a:ln>
          </p:spPr>
        </p:pic>
        <p:sp>
          <p:nvSpPr>
            <p:cNvPr id="21" name="TextBox 20">
              <a:extLst>
                <a:ext uri="{FF2B5EF4-FFF2-40B4-BE49-F238E27FC236}">
                  <a16:creationId xmlns:a16="http://schemas.microsoft.com/office/drawing/2014/main" id="{8FF789B7-0C3A-4FCA-9C61-F07C9A84D71F}"/>
                </a:ext>
              </a:extLst>
            </p:cNvPr>
            <p:cNvSpPr txBox="1"/>
            <p:nvPr/>
          </p:nvSpPr>
          <p:spPr>
            <a:xfrm>
              <a:off x="491652" y="3674042"/>
              <a:ext cx="628698" cy="369332"/>
            </a:xfrm>
            <a:prstGeom prst="rect">
              <a:avLst/>
            </a:prstGeom>
            <a:noFill/>
          </p:spPr>
          <p:txBody>
            <a:bodyPr wrap="none" rtlCol="0">
              <a:spAutoFit/>
            </a:bodyPr>
            <a:lstStyle/>
            <a:p>
              <a:r>
                <a:rPr lang="en-US" b="1" dirty="0"/>
                <a:t>EBM</a:t>
              </a:r>
            </a:p>
          </p:txBody>
        </p:sp>
      </p:grpSp>
      <p:grpSp>
        <p:nvGrpSpPr>
          <p:cNvPr id="22" name="Group 21">
            <a:extLst>
              <a:ext uri="{FF2B5EF4-FFF2-40B4-BE49-F238E27FC236}">
                <a16:creationId xmlns:a16="http://schemas.microsoft.com/office/drawing/2014/main" id="{7B6F9094-9E09-401B-82EA-5EA7418AC708}"/>
              </a:ext>
            </a:extLst>
          </p:cNvPr>
          <p:cNvGrpSpPr/>
          <p:nvPr/>
        </p:nvGrpSpPr>
        <p:grpSpPr>
          <a:xfrm>
            <a:off x="5341928" y="3773325"/>
            <a:ext cx="1207061" cy="469360"/>
            <a:chOff x="8127101" y="6122756"/>
            <a:chExt cx="1207061" cy="469360"/>
          </a:xfrm>
        </p:grpSpPr>
        <p:sp>
          <p:nvSpPr>
            <p:cNvPr id="23" name="Rectangle: Rounded Corners 22">
              <a:extLst>
                <a:ext uri="{FF2B5EF4-FFF2-40B4-BE49-F238E27FC236}">
                  <a16:creationId xmlns:a16="http://schemas.microsoft.com/office/drawing/2014/main" id="{EDD0625A-3980-4D8E-944A-E977778228DE}"/>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98AE9819-A02B-4C51-BD09-1E7C8518723F}"/>
                </a:ext>
              </a:extLst>
            </p:cNvPr>
            <p:cNvPicPr>
              <a:picLocks noChangeAspect="1"/>
            </p:cNvPicPr>
            <p:nvPr/>
          </p:nvPicPr>
          <p:blipFill>
            <a:blip r:embed="rId5"/>
            <a:stretch>
              <a:fillRect/>
            </a:stretch>
          </p:blipFill>
          <p:spPr>
            <a:xfrm>
              <a:off x="8221454" y="6206857"/>
              <a:ext cx="278075" cy="318157"/>
            </a:xfrm>
            <a:prstGeom prst="rect">
              <a:avLst/>
            </a:prstGeom>
          </p:spPr>
        </p:pic>
        <p:sp>
          <p:nvSpPr>
            <p:cNvPr id="25" name="TextBox 24">
              <a:extLst>
                <a:ext uri="{FF2B5EF4-FFF2-40B4-BE49-F238E27FC236}">
                  <a16:creationId xmlns:a16="http://schemas.microsoft.com/office/drawing/2014/main" id="{70AF0388-A53D-42CA-A98D-0013941E0076}"/>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grpSp>
        <p:nvGrpSpPr>
          <p:cNvPr id="26" name="Group 25">
            <a:extLst>
              <a:ext uri="{FF2B5EF4-FFF2-40B4-BE49-F238E27FC236}">
                <a16:creationId xmlns:a16="http://schemas.microsoft.com/office/drawing/2014/main" id="{8C0FDDE2-D4AA-49AD-A82C-520809232A27}"/>
              </a:ext>
            </a:extLst>
          </p:cNvPr>
          <p:cNvGrpSpPr/>
          <p:nvPr/>
        </p:nvGrpSpPr>
        <p:grpSpPr>
          <a:xfrm>
            <a:off x="4037596" y="5789394"/>
            <a:ext cx="1068039" cy="469360"/>
            <a:chOff x="2716212" y="6306901"/>
            <a:chExt cx="1068039" cy="469360"/>
          </a:xfrm>
        </p:grpSpPr>
        <p:sp>
          <p:nvSpPr>
            <p:cNvPr id="27" name="Rectangle: Rounded Corners 26">
              <a:extLst>
                <a:ext uri="{FF2B5EF4-FFF2-40B4-BE49-F238E27FC236}">
                  <a16:creationId xmlns:a16="http://schemas.microsoft.com/office/drawing/2014/main" id="{A15007A2-CE1F-4BA9-8152-4F3C020D5698}"/>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8" name="Picture 27">
              <a:extLst>
                <a:ext uri="{FF2B5EF4-FFF2-40B4-BE49-F238E27FC236}">
                  <a16:creationId xmlns:a16="http://schemas.microsoft.com/office/drawing/2014/main" id="{A532A981-9E7F-4900-84A6-0AAB9290FFC0}"/>
                </a:ext>
              </a:extLst>
            </p:cNvPr>
            <p:cNvPicPr>
              <a:picLocks noChangeAspect="1"/>
            </p:cNvPicPr>
            <p:nvPr/>
          </p:nvPicPr>
          <p:blipFill>
            <a:blip r:embed="rId5"/>
            <a:stretch>
              <a:fillRect/>
            </a:stretch>
          </p:blipFill>
          <p:spPr>
            <a:xfrm>
              <a:off x="2773973" y="6397468"/>
              <a:ext cx="278075" cy="318157"/>
            </a:xfrm>
            <a:prstGeom prst="rect">
              <a:avLst/>
            </a:prstGeom>
          </p:spPr>
        </p:pic>
        <p:sp>
          <p:nvSpPr>
            <p:cNvPr id="29" name="TextBox 28">
              <a:extLst>
                <a:ext uri="{FF2B5EF4-FFF2-40B4-BE49-F238E27FC236}">
                  <a16:creationId xmlns:a16="http://schemas.microsoft.com/office/drawing/2014/main" id="{51CB09FD-0A03-406B-885B-832FD513CA6B}"/>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30" name="Group 29">
            <a:extLst>
              <a:ext uri="{FF2B5EF4-FFF2-40B4-BE49-F238E27FC236}">
                <a16:creationId xmlns:a16="http://schemas.microsoft.com/office/drawing/2014/main" id="{F17EEB54-02D3-482A-846C-F43B17C5BD54}"/>
              </a:ext>
            </a:extLst>
          </p:cNvPr>
          <p:cNvGrpSpPr/>
          <p:nvPr/>
        </p:nvGrpSpPr>
        <p:grpSpPr>
          <a:xfrm>
            <a:off x="4438216" y="3782671"/>
            <a:ext cx="864688" cy="469360"/>
            <a:chOff x="125913" y="5331262"/>
            <a:chExt cx="864688" cy="469360"/>
          </a:xfrm>
        </p:grpSpPr>
        <p:sp>
          <p:nvSpPr>
            <p:cNvPr id="31" name="Rectangle: Rounded Corners 30">
              <a:extLst>
                <a:ext uri="{FF2B5EF4-FFF2-40B4-BE49-F238E27FC236}">
                  <a16:creationId xmlns:a16="http://schemas.microsoft.com/office/drawing/2014/main" id="{28FCB5A7-9042-4607-9EB5-EF128F4EF5D7}"/>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CC068EDE-E611-4BBC-BF3F-0202C55931BC}"/>
                </a:ext>
              </a:extLst>
            </p:cNvPr>
            <p:cNvPicPr>
              <a:picLocks noChangeAspect="1"/>
            </p:cNvPicPr>
            <p:nvPr/>
          </p:nvPicPr>
          <p:blipFill>
            <a:blip r:embed="rId5"/>
            <a:stretch>
              <a:fillRect/>
            </a:stretch>
          </p:blipFill>
          <p:spPr>
            <a:xfrm>
              <a:off x="162362" y="5431290"/>
              <a:ext cx="278075" cy="318157"/>
            </a:xfrm>
            <a:prstGeom prst="rect">
              <a:avLst/>
            </a:prstGeom>
          </p:spPr>
        </p:pic>
        <p:sp>
          <p:nvSpPr>
            <p:cNvPr id="33" name="TextBox 32">
              <a:extLst>
                <a:ext uri="{FF2B5EF4-FFF2-40B4-BE49-F238E27FC236}">
                  <a16:creationId xmlns:a16="http://schemas.microsoft.com/office/drawing/2014/main" id="{141BC407-923F-407F-A341-B7EEFB604EF8}"/>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34" name="Group 33">
            <a:extLst>
              <a:ext uri="{FF2B5EF4-FFF2-40B4-BE49-F238E27FC236}">
                <a16:creationId xmlns:a16="http://schemas.microsoft.com/office/drawing/2014/main" id="{E1295C20-F7E6-4C4B-A8D3-9332B9561BD9}"/>
              </a:ext>
            </a:extLst>
          </p:cNvPr>
          <p:cNvGrpSpPr/>
          <p:nvPr/>
        </p:nvGrpSpPr>
        <p:grpSpPr>
          <a:xfrm>
            <a:off x="6588109" y="3773325"/>
            <a:ext cx="864688" cy="469360"/>
            <a:chOff x="125913" y="5331262"/>
            <a:chExt cx="864688" cy="469360"/>
          </a:xfrm>
        </p:grpSpPr>
        <p:sp>
          <p:nvSpPr>
            <p:cNvPr id="35" name="Rectangle: Rounded Corners 34">
              <a:extLst>
                <a:ext uri="{FF2B5EF4-FFF2-40B4-BE49-F238E27FC236}">
                  <a16:creationId xmlns:a16="http://schemas.microsoft.com/office/drawing/2014/main" id="{253AC8E4-6B53-4C77-B4C3-CE0AC6FFBE18}"/>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42B20253-F1C1-48C9-B23C-FF44EA097380}"/>
                </a:ext>
              </a:extLst>
            </p:cNvPr>
            <p:cNvPicPr>
              <a:picLocks noChangeAspect="1"/>
            </p:cNvPicPr>
            <p:nvPr/>
          </p:nvPicPr>
          <p:blipFill>
            <a:blip r:embed="rId5"/>
            <a:stretch>
              <a:fillRect/>
            </a:stretch>
          </p:blipFill>
          <p:spPr>
            <a:xfrm>
              <a:off x="162362" y="5431290"/>
              <a:ext cx="278075" cy="318157"/>
            </a:xfrm>
            <a:prstGeom prst="rect">
              <a:avLst/>
            </a:prstGeom>
          </p:spPr>
        </p:pic>
        <p:sp>
          <p:nvSpPr>
            <p:cNvPr id="37" name="TextBox 36">
              <a:extLst>
                <a:ext uri="{FF2B5EF4-FFF2-40B4-BE49-F238E27FC236}">
                  <a16:creationId xmlns:a16="http://schemas.microsoft.com/office/drawing/2014/main" id="{6AEACA82-3E90-4117-AC89-D69742A5F99C}"/>
                </a:ext>
              </a:extLst>
            </p:cNvPr>
            <p:cNvSpPr txBox="1"/>
            <p:nvPr/>
          </p:nvSpPr>
          <p:spPr>
            <a:xfrm>
              <a:off x="373190" y="5405702"/>
              <a:ext cx="436338" cy="369332"/>
            </a:xfrm>
            <a:prstGeom prst="rect">
              <a:avLst/>
            </a:prstGeom>
            <a:noFill/>
          </p:spPr>
          <p:txBody>
            <a:bodyPr wrap="none" rtlCol="0">
              <a:spAutoFit/>
            </a:bodyPr>
            <a:lstStyle/>
            <a:p>
              <a:r>
                <a:rPr lang="en-US" b="1" dirty="0"/>
                <a:t>CR</a:t>
              </a:r>
            </a:p>
          </p:txBody>
        </p:sp>
      </p:grpSp>
      <p:grpSp>
        <p:nvGrpSpPr>
          <p:cNvPr id="38" name="Group 37">
            <a:extLst>
              <a:ext uri="{FF2B5EF4-FFF2-40B4-BE49-F238E27FC236}">
                <a16:creationId xmlns:a16="http://schemas.microsoft.com/office/drawing/2014/main" id="{71734A0B-0CD3-4FFE-8D8E-8A9CA42429F2}"/>
              </a:ext>
            </a:extLst>
          </p:cNvPr>
          <p:cNvGrpSpPr/>
          <p:nvPr/>
        </p:nvGrpSpPr>
        <p:grpSpPr>
          <a:xfrm>
            <a:off x="1195990" y="5382492"/>
            <a:ext cx="1071080" cy="469360"/>
            <a:chOff x="573231" y="6245052"/>
            <a:chExt cx="1071080" cy="469360"/>
          </a:xfrm>
          <a:solidFill>
            <a:srgbClr val="C00000"/>
          </a:solidFill>
        </p:grpSpPr>
        <p:sp>
          <p:nvSpPr>
            <p:cNvPr id="39" name="Rectangle: Rounded Corners 38">
              <a:extLst>
                <a:ext uri="{FF2B5EF4-FFF2-40B4-BE49-F238E27FC236}">
                  <a16:creationId xmlns:a16="http://schemas.microsoft.com/office/drawing/2014/main" id="{83B94E53-A9C4-4DFC-BFAC-ED067FEBFA42}"/>
                </a:ext>
              </a:extLst>
            </p:cNvPr>
            <p:cNvSpPr/>
            <p:nvPr/>
          </p:nvSpPr>
          <p:spPr>
            <a:xfrm>
              <a:off x="573231" y="6245052"/>
              <a:ext cx="1071080"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C7EBBE9A-37EA-4124-ADE7-D818A6829AD7}"/>
                </a:ext>
              </a:extLst>
            </p:cNvPr>
            <p:cNvSpPr txBox="1"/>
            <p:nvPr/>
          </p:nvSpPr>
          <p:spPr>
            <a:xfrm>
              <a:off x="837680" y="6308209"/>
              <a:ext cx="657552"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eCR</a:t>
              </a:r>
              <a:endParaRPr lang="en-US" b="1" dirty="0">
                <a:solidFill>
                  <a:schemeClr val="bg1"/>
                </a:solidFill>
              </a:endParaRPr>
            </a:p>
          </p:txBody>
        </p:sp>
        <p:pic>
          <p:nvPicPr>
            <p:cNvPr id="41" name="Picture 40">
              <a:extLst>
                <a:ext uri="{FF2B5EF4-FFF2-40B4-BE49-F238E27FC236}">
                  <a16:creationId xmlns:a16="http://schemas.microsoft.com/office/drawing/2014/main" id="{99209DF1-09CB-400C-9D51-FF72688E3E7A}"/>
                </a:ext>
              </a:extLst>
            </p:cNvPr>
            <p:cNvPicPr>
              <a:picLocks noChangeAspect="1"/>
            </p:cNvPicPr>
            <p:nvPr/>
          </p:nvPicPr>
          <p:blipFill>
            <a:blip r:embed="rId5"/>
            <a:stretch>
              <a:fillRect/>
            </a:stretch>
          </p:blipFill>
          <p:spPr>
            <a:xfrm>
              <a:off x="626852" y="6333797"/>
              <a:ext cx="278075" cy="318157"/>
            </a:xfrm>
            <a:prstGeom prst="rect">
              <a:avLst/>
            </a:prstGeom>
            <a:grpFill/>
          </p:spPr>
        </p:pic>
      </p:grpSp>
      <p:pic>
        <p:nvPicPr>
          <p:cNvPr id="42" name="Picture 41">
            <a:extLst>
              <a:ext uri="{FF2B5EF4-FFF2-40B4-BE49-F238E27FC236}">
                <a16:creationId xmlns:a16="http://schemas.microsoft.com/office/drawing/2014/main" id="{A9659024-FC83-494C-84D9-066C3C9E05E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1979" y="3791502"/>
            <a:ext cx="1764127" cy="424956"/>
          </a:xfrm>
          <a:prstGeom prst="rect">
            <a:avLst/>
          </a:prstGeom>
        </p:spPr>
      </p:pic>
      <p:sp>
        <p:nvSpPr>
          <p:cNvPr id="43" name="Google Shape;527;p15">
            <a:extLst>
              <a:ext uri="{FF2B5EF4-FFF2-40B4-BE49-F238E27FC236}">
                <a16:creationId xmlns:a16="http://schemas.microsoft.com/office/drawing/2014/main" id="{765A6B6B-49F2-426E-8F7D-F00053A9A792}"/>
              </a:ext>
            </a:extLst>
          </p:cNvPr>
          <p:cNvSpPr txBox="1"/>
          <p:nvPr/>
        </p:nvSpPr>
        <p:spPr>
          <a:xfrm>
            <a:off x="166591" y="1439405"/>
            <a:ext cx="2166040" cy="861734"/>
          </a:xfrm>
          <a:prstGeom prst="rect">
            <a:avLst/>
          </a:prstGeom>
          <a:noFill/>
          <a:ln w="381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n-US" sz="1000" b="1" i="0" u="none" strike="noStrike" cap="none" dirty="0">
                <a:solidFill>
                  <a:srgbClr val="000000"/>
                </a:solidFill>
                <a:latin typeface="Calibri"/>
                <a:ea typeface="Calibri"/>
                <a:cs typeface="Calibri"/>
                <a:sym typeface="Calibri"/>
              </a:rPr>
              <a:t>LEGEND: Sponsoring HL7 Workgroups</a:t>
            </a:r>
            <a:endParaRPr sz="2400" dirty="0"/>
          </a:p>
          <a:p>
            <a:pPr marL="0" marR="0" lvl="0" indent="0" algn="l" rtl="0">
              <a:lnSpc>
                <a:spcPct val="100000"/>
              </a:lnSpc>
              <a:spcBef>
                <a:spcPts val="0"/>
              </a:spcBef>
              <a:spcAft>
                <a:spcPts val="0"/>
              </a:spcAft>
              <a:buClr>
                <a:srgbClr val="00B0F0"/>
              </a:buClr>
              <a:buSzPts val="800"/>
              <a:buFont typeface="Arial"/>
              <a:buNone/>
            </a:pPr>
            <a:r>
              <a:rPr lang="en-US" sz="1000" b="1" i="0" u="none" strike="noStrike" cap="none" dirty="0">
                <a:solidFill>
                  <a:srgbClr val="00B0F0"/>
                </a:solidFill>
                <a:latin typeface="Calibri"/>
                <a:ea typeface="Calibri"/>
                <a:cs typeface="Calibri"/>
                <a:sym typeface="Calibri"/>
              </a:rPr>
              <a:t>Clinical Decision Support  (CDS)</a:t>
            </a:r>
            <a:endParaRPr sz="2400" dirty="0"/>
          </a:p>
          <a:p>
            <a:pPr marL="0" marR="0" lvl="0" indent="0" algn="l" rtl="0">
              <a:lnSpc>
                <a:spcPct val="100000"/>
              </a:lnSpc>
              <a:spcBef>
                <a:spcPts val="0"/>
              </a:spcBef>
              <a:spcAft>
                <a:spcPts val="0"/>
              </a:spcAft>
              <a:buClr>
                <a:srgbClr val="7030A0"/>
              </a:buClr>
              <a:buSzPts val="800"/>
              <a:buFont typeface="Arial"/>
              <a:buNone/>
            </a:pPr>
            <a:r>
              <a:rPr lang="en-US" sz="1000" b="1" i="0" u="none" strike="noStrike" cap="none" dirty="0">
                <a:solidFill>
                  <a:srgbClr val="7030A0"/>
                </a:solidFill>
                <a:latin typeface="Calibri"/>
                <a:ea typeface="Calibri"/>
                <a:cs typeface="Calibri"/>
                <a:sym typeface="Calibri"/>
              </a:rPr>
              <a:t>Clinical Quality Information (CQI)</a:t>
            </a:r>
            <a:br>
              <a:rPr lang="en-US" sz="1000" b="1" i="0" u="none" strike="noStrike" cap="none" dirty="0">
                <a:solidFill>
                  <a:srgbClr val="7030A0"/>
                </a:solidFill>
                <a:latin typeface="Calibri"/>
                <a:ea typeface="Calibri"/>
                <a:cs typeface="Calibri"/>
                <a:sym typeface="Calibri"/>
              </a:rPr>
            </a:br>
            <a:r>
              <a:rPr lang="en-US" sz="1000" b="1" i="0" u="none" strike="noStrike" cap="none" dirty="0">
                <a:solidFill>
                  <a:srgbClr val="C00000"/>
                </a:solidFill>
                <a:latin typeface="Calibri"/>
                <a:ea typeface="Calibri"/>
                <a:cs typeface="Calibri"/>
                <a:sym typeface="Calibri"/>
              </a:rPr>
              <a:t>Public Health (PH) </a:t>
            </a:r>
            <a:br>
              <a:rPr lang="en-US" sz="1000" b="1" i="0" u="none" strike="noStrike" cap="none" dirty="0">
                <a:solidFill>
                  <a:srgbClr val="C00000"/>
                </a:solidFill>
                <a:latin typeface="Calibri"/>
                <a:ea typeface="Calibri"/>
                <a:cs typeface="Calibri"/>
                <a:sym typeface="Calibri"/>
              </a:rPr>
            </a:br>
            <a:r>
              <a:rPr lang="en-US" sz="1000" b="1" i="0" u="none" strike="noStrike" cap="none" dirty="0">
                <a:solidFill>
                  <a:schemeClr val="accent6">
                    <a:lumMod val="75000"/>
                  </a:schemeClr>
                </a:solidFill>
                <a:latin typeface="Calibri"/>
                <a:ea typeface="Calibri"/>
                <a:cs typeface="Calibri"/>
                <a:sym typeface="Calibri"/>
              </a:rPr>
              <a:t>Cross Group Projects (CGP)</a:t>
            </a:r>
          </a:p>
        </p:txBody>
      </p:sp>
      <p:grpSp>
        <p:nvGrpSpPr>
          <p:cNvPr id="44" name="Group 43">
            <a:extLst>
              <a:ext uri="{FF2B5EF4-FFF2-40B4-BE49-F238E27FC236}">
                <a16:creationId xmlns:a16="http://schemas.microsoft.com/office/drawing/2014/main" id="{9CB38938-BD0A-4CE9-BE9F-9A68F6DC561C}"/>
              </a:ext>
            </a:extLst>
          </p:cNvPr>
          <p:cNvGrpSpPr/>
          <p:nvPr/>
        </p:nvGrpSpPr>
        <p:grpSpPr>
          <a:xfrm>
            <a:off x="607577" y="4781654"/>
            <a:ext cx="1649766" cy="469360"/>
            <a:chOff x="573231" y="6245052"/>
            <a:chExt cx="1649766" cy="469360"/>
          </a:xfrm>
          <a:solidFill>
            <a:srgbClr val="C00000"/>
          </a:solidFill>
        </p:grpSpPr>
        <p:sp>
          <p:nvSpPr>
            <p:cNvPr id="45" name="Rectangle: Rounded Corners 44">
              <a:extLst>
                <a:ext uri="{FF2B5EF4-FFF2-40B4-BE49-F238E27FC236}">
                  <a16:creationId xmlns:a16="http://schemas.microsoft.com/office/drawing/2014/main" id="{7B1E32F3-3BEA-4A28-9404-7C0D130B9B96}"/>
                </a:ext>
              </a:extLst>
            </p:cNvPr>
            <p:cNvSpPr/>
            <p:nvPr/>
          </p:nvSpPr>
          <p:spPr>
            <a:xfrm>
              <a:off x="573231" y="6245052"/>
              <a:ext cx="1649766"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B21A1E9B-1998-435C-8F51-CD477EB9CBE8}"/>
                </a:ext>
              </a:extLst>
            </p:cNvPr>
            <p:cNvSpPr txBox="1"/>
            <p:nvPr/>
          </p:nvSpPr>
          <p:spPr>
            <a:xfrm>
              <a:off x="837680" y="6308209"/>
              <a:ext cx="1385316" cy="369332"/>
            </a:xfrm>
            <a:prstGeom prst="rect">
              <a:avLst/>
            </a:prstGeom>
            <a:grpFill/>
          </p:spPr>
          <p:txBody>
            <a:bodyPr wrap="none" rtlCol="0">
              <a:spAutoFit/>
            </a:bodyPr>
            <a:lstStyle/>
            <a:p>
              <a:r>
                <a:rPr lang="en-US" b="1" dirty="0">
                  <a:solidFill>
                    <a:schemeClr val="bg1"/>
                  </a:solidFill>
                </a:rPr>
                <a:t>  </a:t>
              </a:r>
              <a:r>
                <a:rPr lang="en-US" b="1" dirty="0" err="1">
                  <a:solidFill>
                    <a:schemeClr val="bg1"/>
                  </a:solidFill>
                </a:rPr>
                <a:t>MedMorph</a:t>
              </a:r>
              <a:endParaRPr lang="en-US" b="1" dirty="0">
                <a:solidFill>
                  <a:schemeClr val="bg1"/>
                </a:solidFill>
              </a:endParaRPr>
            </a:p>
          </p:txBody>
        </p:sp>
        <p:pic>
          <p:nvPicPr>
            <p:cNvPr id="47" name="Picture 46">
              <a:extLst>
                <a:ext uri="{FF2B5EF4-FFF2-40B4-BE49-F238E27FC236}">
                  <a16:creationId xmlns:a16="http://schemas.microsoft.com/office/drawing/2014/main" id="{B86B97AD-A769-45B0-B9B0-38F883F8DD37}"/>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48" name="Group 47">
            <a:extLst>
              <a:ext uri="{FF2B5EF4-FFF2-40B4-BE49-F238E27FC236}">
                <a16:creationId xmlns:a16="http://schemas.microsoft.com/office/drawing/2014/main" id="{84E9DB13-0536-4F9F-A195-9F323C21DA10}"/>
              </a:ext>
            </a:extLst>
          </p:cNvPr>
          <p:cNvGrpSpPr/>
          <p:nvPr/>
        </p:nvGrpSpPr>
        <p:grpSpPr>
          <a:xfrm>
            <a:off x="5365860" y="4314699"/>
            <a:ext cx="1183129" cy="469360"/>
            <a:chOff x="573230" y="6245052"/>
            <a:chExt cx="1183129" cy="469360"/>
          </a:xfrm>
          <a:solidFill>
            <a:srgbClr val="C00000"/>
          </a:solidFill>
        </p:grpSpPr>
        <p:sp>
          <p:nvSpPr>
            <p:cNvPr id="49" name="Rectangle: Rounded Corners 48">
              <a:extLst>
                <a:ext uri="{FF2B5EF4-FFF2-40B4-BE49-F238E27FC236}">
                  <a16:creationId xmlns:a16="http://schemas.microsoft.com/office/drawing/2014/main" id="{4CD91F87-247C-4846-9724-023B1D1EDA84}"/>
                </a:ext>
              </a:extLst>
            </p:cNvPr>
            <p:cNvSpPr/>
            <p:nvPr/>
          </p:nvSpPr>
          <p:spPr>
            <a:xfrm>
              <a:off x="573230" y="6245052"/>
              <a:ext cx="1183129"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BC22DBC6-3DEB-42EF-8F80-76CCF854C377}"/>
                </a:ext>
              </a:extLst>
            </p:cNvPr>
            <p:cNvSpPr txBox="1"/>
            <p:nvPr/>
          </p:nvSpPr>
          <p:spPr>
            <a:xfrm>
              <a:off x="837680" y="6308209"/>
              <a:ext cx="872355" cy="369332"/>
            </a:xfrm>
            <a:prstGeom prst="rect">
              <a:avLst/>
            </a:prstGeom>
            <a:grpFill/>
          </p:spPr>
          <p:txBody>
            <a:bodyPr wrap="none" rtlCol="0">
              <a:spAutoFit/>
            </a:bodyPr>
            <a:lstStyle/>
            <a:p>
              <a:r>
                <a:rPr lang="en-US" b="1" dirty="0">
                  <a:solidFill>
                    <a:schemeClr val="bg1"/>
                  </a:solidFill>
                </a:rPr>
                <a:t>  US PH</a:t>
              </a:r>
            </a:p>
          </p:txBody>
        </p:sp>
        <p:pic>
          <p:nvPicPr>
            <p:cNvPr id="51" name="Picture 50">
              <a:extLst>
                <a:ext uri="{FF2B5EF4-FFF2-40B4-BE49-F238E27FC236}">
                  <a16:creationId xmlns:a16="http://schemas.microsoft.com/office/drawing/2014/main" id="{C2E19E0E-5FB9-4224-A480-E51E7D5CC93F}"/>
                </a:ext>
              </a:extLst>
            </p:cNvPr>
            <p:cNvPicPr>
              <a:picLocks noChangeAspect="1"/>
            </p:cNvPicPr>
            <p:nvPr/>
          </p:nvPicPr>
          <p:blipFill>
            <a:blip r:embed="rId5"/>
            <a:stretch>
              <a:fillRect/>
            </a:stretch>
          </p:blipFill>
          <p:spPr>
            <a:xfrm>
              <a:off x="626852" y="6333797"/>
              <a:ext cx="278075" cy="318157"/>
            </a:xfrm>
            <a:prstGeom prst="rect">
              <a:avLst/>
            </a:prstGeom>
            <a:grpFill/>
          </p:spPr>
        </p:pic>
      </p:grpSp>
      <p:grpSp>
        <p:nvGrpSpPr>
          <p:cNvPr id="57" name="Group 56">
            <a:extLst>
              <a:ext uri="{FF2B5EF4-FFF2-40B4-BE49-F238E27FC236}">
                <a16:creationId xmlns:a16="http://schemas.microsoft.com/office/drawing/2014/main" id="{DC96CC82-DC61-4832-9C7D-C7991A7AD0A9}"/>
              </a:ext>
            </a:extLst>
          </p:cNvPr>
          <p:cNvGrpSpPr/>
          <p:nvPr/>
        </p:nvGrpSpPr>
        <p:grpSpPr>
          <a:xfrm>
            <a:off x="5312548" y="3212873"/>
            <a:ext cx="1289752" cy="469360"/>
            <a:chOff x="8127101" y="6122756"/>
            <a:chExt cx="1289752" cy="469360"/>
          </a:xfrm>
          <a:solidFill>
            <a:schemeClr val="accent6">
              <a:lumMod val="75000"/>
            </a:schemeClr>
          </a:solidFill>
        </p:grpSpPr>
        <p:sp>
          <p:nvSpPr>
            <p:cNvPr id="58" name="Rectangle: Rounded Corners 57">
              <a:extLst>
                <a:ext uri="{FF2B5EF4-FFF2-40B4-BE49-F238E27FC236}">
                  <a16:creationId xmlns:a16="http://schemas.microsoft.com/office/drawing/2014/main" id="{90BE0F37-21F4-41DC-8FAE-8A2BFDB7433F}"/>
                </a:ext>
              </a:extLst>
            </p:cNvPr>
            <p:cNvSpPr/>
            <p:nvPr/>
          </p:nvSpPr>
          <p:spPr>
            <a:xfrm>
              <a:off x="8127101" y="6122756"/>
              <a:ext cx="1289388" cy="469360"/>
            </a:xfrm>
            <a:prstGeom prst="round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Picture 58">
              <a:extLst>
                <a:ext uri="{FF2B5EF4-FFF2-40B4-BE49-F238E27FC236}">
                  <a16:creationId xmlns:a16="http://schemas.microsoft.com/office/drawing/2014/main" id="{182C4366-D859-441A-9DC4-317AB36C66C7}"/>
                </a:ext>
              </a:extLst>
            </p:cNvPr>
            <p:cNvPicPr>
              <a:picLocks noChangeAspect="1"/>
            </p:cNvPicPr>
            <p:nvPr/>
          </p:nvPicPr>
          <p:blipFill>
            <a:blip r:embed="rId5"/>
            <a:stretch>
              <a:fillRect/>
            </a:stretch>
          </p:blipFill>
          <p:spPr>
            <a:xfrm>
              <a:off x="8221454" y="6206857"/>
              <a:ext cx="278075" cy="318157"/>
            </a:xfrm>
            <a:prstGeom prst="rect">
              <a:avLst/>
            </a:prstGeom>
            <a:grpFill/>
          </p:spPr>
        </p:pic>
        <p:sp>
          <p:nvSpPr>
            <p:cNvPr id="60" name="TextBox 59">
              <a:extLst>
                <a:ext uri="{FF2B5EF4-FFF2-40B4-BE49-F238E27FC236}">
                  <a16:creationId xmlns:a16="http://schemas.microsoft.com/office/drawing/2014/main" id="{B303D184-9352-40C4-8630-26BE6AE18A3B}"/>
                </a:ext>
              </a:extLst>
            </p:cNvPr>
            <p:cNvSpPr txBox="1"/>
            <p:nvPr/>
          </p:nvSpPr>
          <p:spPr>
            <a:xfrm>
              <a:off x="8479737" y="6178202"/>
              <a:ext cx="937116" cy="369332"/>
            </a:xfrm>
            <a:prstGeom prst="rect">
              <a:avLst/>
            </a:prstGeom>
            <a:grpFill/>
          </p:spPr>
          <p:txBody>
            <a:bodyPr wrap="none" rtlCol="0">
              <a:spAutoFit/>
            </a:bodyPr>
            <a:lstStyle/>
            <a:p>
              <a:r>
                <a:rPr lang="en-US" b="1" dirty="0">
                  <a:solidFill>
                    <a:schemeClr val="bg1"/>
                  </a:solidFill>
                </a:rPr>
                <a:t>US Core</a:t>
              </a:r>
            </a:p>
          </p:txBody>
        </p:sp>
      </p:grpSp>
    </p:spTree>
    <p:extLst>
      <p:ext uri="{BB962C8B-B14F-4D97-AF65-F5344CB8AC3E}">
        <p14:creationId xmlns:p14="http://schemas.microsoft.com/office/powerpoint/2010/main" val="1314741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8A4E2-247F-4E85-958C-C5E0D2DF50FB}"/>
              </a:ext>
            </a:extLst>
          </p:cNvPr>
          <p:cNvSpPr>
            <a:spLocks noGrp="1"/>
          </p:cNvSpPr>
          <p:nvPr>
            <p:ph type="title"/>
          </p:nvPr>
        </p:nvSpPr>
        <p:spPr/>
        <p:txBody>
          <a:bodyPr/>
          <a:lstStyle/>
          <a:p>
            <a:r>
              <a:rPr lang="en-US" dirty="0"/>
              <a:t>Quality Improvement Standards</a:t>
            </a:r>
          </a:p>
        </p:txBody>
      </p:sp>
      <p:sp>
        <p:nvSpPr>
          <p:cNvPr id="4" name="Rectangle: Rounded Corners 3">
            <a:extLst>
              <a:ext uri="{FF2B5EF4-FFF2-40B4-BE49-F238E27FC236}">
                <a16:creationId xmlns:a16="http://schemas.microsoft.com/office/drawing/2014/main" id="{FE708D5C-AF49-4098-BF67-C01BAA1E3150}"/>
              </a:ext>
            </a:extLst>
          </p:cNvPr>
          <p:cNvSpPr/>
          <p:nvPr/>
        </p:nvSpPr>
        <p:spPr>
          <a:xfrm>
            <a:off x="13970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8CACEBC-8ADB-40ED-9A4A-C6520E21FC8A}"/>
              </a:ext>
            </a:extLst>
          </p:cNvPr>
          <p:cNvSpPr/>
          <p:nvPr/>
        </p:nvSpPr>
        <p:spPr>
          <a:xfrm>
            <a:off x="62484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64A71B6-0CCB-41BC-BC46-62C53796FE62}"/>
              </a:ext>
            </a:extLst>
          </p:cNvPr>
          <p:cNvSpPr/>
          <p:nvPr/>
        </p:nvSpPr>
        <p:spPr>
          <a:xfrm>
            <a:off x="4727575" y="4591302"/>
            <a:ext cx="2927347" cy="1257556"/>
          </a:xfrm>
          <a:prstGeom prst="roundRect">
            <a:avLst>
              <a:gd name="adj" fmla="val 1031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b="1" dirty="0">
                <a:solidFill>
                  <a:schemeClr val="tx1"/>
                </a:solidFill>
              </a:rPr>
              <a:t>Model Guidance</a:t>
            </a:r>
          </a:p>
        </p:txBody>
      </p:sp>
      <p:sp>
        <p:nvSpPr>
          <p:cNvPr id="7" name="Rectangle: Rounded Corners 6">
            <a:extLst>
              <a:ext uri="{FF2B5EF4-FFF2-40B4-BE49-F238E27FC236}">
                <a16:creationId xmlns:a16="http://schemas.microsoft.com/office/drawing/2014/main" id="{DD494243-F2AE-40FE-AE0A-C67369089817}"/>
              </a:ext>
            </a:extLst>
          </p:cNvPr>
          <p:cNvSpPr/>
          <p:nvPr/>
        </p:nvSpPr>
        <p:spPr>
          <a:xfrm>
            <a:off x="1647828" y="3994985"/>
            <a:ext cx="9020173" cy="5020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b="1" dirty="0"/>
          </a:p>
          <a:p>
            <a:pPr algn="ctr"/>
            <a:r>
              <a:rPr lang="en-US" b="1" dirty="0"/>
              <a:t>Logic</a:t>
            </a:r>
          </a:p>
          <a:p>
            <a:pPr algn="ctr"/>
            <a:endParaRPr lang="en-US" b="1" dirty="0"/>
          </a:p>
        </p:txBody>
      </p:sp>
      <p:sp>
        <p:nvSpPr>
          <p:cNvPr id="8" name="Rectangle: Rounded Corners 7">
            <a:extLst>
              <a:ext uri="{FF2B5EF4-FFF2-40B4-BE49-F238E27FC236}">
                <a16:creationId xmlns:a16="http://schemas.microsoft.com/office/drawing/2014/main" id="{41A134AB-F9FC-4DE9-B47F-D66F87C54907}"/>
              </a:ext>
            </a:extLst>
          </p:cNvPr>
          <p:cNvSpPr/>
          <p:nvPr/>
        </p:nvSpPr>
        <p:spPr>
          <a:xfrm>
            <a:off x="7788274" y="4591302"/>
            <a:ext cx="2882897" cy="1257556"/>
          </a:xfrm>
          <a:prstGeom prst="roundRect">
            <a:avLst>
              <a:gd name="adj" fmla="val 10318"/>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pPr algn="r"/>
            <a:r>
              <a:rPr lang="en-US" b="1" dirty="0"/>
              <a:t>Implementation Guidance  </a:t>
            </a:r>
          </a:p>
          <a:p>
            <a:pPr algn="ctr"/>
            <a:endParaRPr lang="en-US" dirty="0"/>
          </a:p>
        </p:txBody>
      </p:sp>
      <p:sp>
        <p:nvSpPr>
          <p:cNvPr id="9" name="Rectangle: Rounded Corners 8">
            <a:extLst>
              <a:ext uri="{FF2B5EF4-FFF2-40B4-BE49-F238E27FC236}">
                <a16:creationId xmlns:a16="http://schemas.microsoft.com/office/drawing/2014/main" id="{643AC33E-F1A4-42F2-9F7C-DCE813215D88}"/>
              </a:ext>
            </a:extLst>
          </p:cNvPr>
          <p:cNvSpPr/>
          <p:nvPr/>
        </p:nvSpPr>
        <p:spPr>
          <a:xfrm>
            <a:off x="1647828" y="4591302"/>
            <a:ext cx="2927347" cy="1257556"/>
          </a:xfrm>
          <a:prstGeom prst="roundRect">
            <a:avLst>
              <a:gd name="adj" fmla="val 1031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r>
              <a:rPr lang="en-US" b="1" dirty="0"/>
              <a:t>Authoring Guidance</a:t>
            </a:r>
          </a:p>
          <a:p>
            <a:pPr algn="ctr"/>
            <a:endParaRPr lang="en-US" dirty="0"/>
          </a:p>
        </p:txBody>
      </p:sp>
      <p:sp>
        <p:nvSpPr>
          <p:cNvPr id="10" name="Rectangle: Rounded Corners 9">
            <a:extLst>
              <a:ext uri="{FF2B5EF4-FFF2-40B4-BE49-F238E27FC236}">
                <a16:creationId xmlns:a16="http://schemas.microsoft.com/office/drawing/2014/main" id="{3CFB8581-9037-439C-AFF0-B7D2E9EC3301}"/>
              </a:ext>
            </a:extLst>
          </p:cNvPr>
          <p:cNvSpPr/>
          <p:nvPr/>
        </p:nvSpPr>
        <p:spPr>
          <a:xfrm>
            <a:off x="1650998" y="2170750"/>
            <a:ext cx="9020173" cy="1724451"/>
          </a:xfrm>
          <a:prstGeom prst="roundRect">
            <a:avLst>
              <a:gd name="adj" fmla="val 714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t>Model</a:t>
            </a:r>
          </a:p>
          <a:p>
            <a:pPr algn="ctr"/>
            <a:endParaRPr lang="en-US" sz="1200" b="1" dirty="0"/>
          </a:p>
          <a:p>
            <a:pPr algn="ctr"/>
            <a:endParaRPr lang="en-US" b="1" dirty="0"/>
          </a:p>
          <a:p>
            <a:pPr algn="ctr"/>
            <a:endParaRPr lang="en-US" dirty="0"/>
          </a:p>
        </p:txBody>
      </p:sp>
      <p:sp>
        <p:nvSpPr>
          <p:cNvPr id="11" name="TextBox 10">
            <a:extLst>
              <a:ext uri="{FF2B5EF4-FFF2-40B4-BE49-F238E27FC236}">
                <a16:creationId xmlns:a16="http://schemas.microsoft.com/office/drawing/2014/main" id="{57546B10-63E7-49D4-AFE2-65E08DDA9941}"/>
              </a:ext>
            </a:extLst>
          </p:cNvPr>
          <p:cNvSpPr txBox="1"/>
          <p:nvPr/>
        </p:nvSpPr>
        <p:spPr>
          <a:xfrm>
            <a:off x="1397000" y="1690688"/>
            <a:ext cx="3060700" cy="369332"/>
          </a:xfrm>
          <a:prstGeom prst="rect">
            <a:avLst/>
          </a:prstGeom>
          <a:noFill/>
        </p:spPr>
        <p:txBody>
          <a:bodyPr wrap="square" rtlCol="0">
            <a:spAutoFit/>
          </a:bodyPr>
          <a:lstStyle/>
          <a:p>
            <a:r>
              <a:rPr lang="en-US" b="1" dirty="0"/>
              <a:t>Specification</a:t>
            </a:r>
          </a:p>
        </p:txBody>
      </p:sp>
      <p:sp>
        <p:nvSpPr>
          <p:cNvPr id="12" name="TextBox 11">
            <a:extLst>
              <a:ext uri="{FF2B5EF4-FFF2-40B4-BE49-F238E27FC236}">
                <a16:creationId xmlns:a16="http://schemas.microsoft.com/office/drawing/2014/main" id="{AFFFB635-0F7A-4C0C-A464-CE662C828CAD}"/>
              </a:ext>
            </a:extLst>
          </p:cNvPr>
          <p:cNvSpPr txBox="1"/>
          <p:nvPr/>
        </p:nvSpPr>
        <p:spPr>
          <a:xfrm>
            <a:off x="8259119" y="1712614"/>
            <a:ext cx="2540000" cy="369332"/>
          </a:xfrm>
          <a:prstGeom prst="rect">
            <a:avLst/>
          </a:prstGeom>
          <a:noFill/>
        </p:spPr>
        <p:txBody>
          <a:bodyPr wrap="square" rtlCol="0">
            <a:spAutoFit/>
          </a:bodyPr>
          <a:lstStyle/>
          <a:p>
            <a:pPr algn="r"/>
            <a:r>
              <a:rPr lang="en-US" b="1" dirty="0"/>
              <a:t>Implementation</a:t>
            </a:r>
          </a:p>
        </p:txBody>
      </p:sp>
      <p:sp>
        <p:nvSpPr>
          <p:cNvPr id="13" name="Rectangle: Rounded Corners 12">
            <a:extLst>
              <a:ext uri="{FF2B5EF4-FFF2-40B4-BE49-F238E27FC236}">
                <a16:creationId xmlns:a16="http://schemas.microsoft.com/office/drawing/2014/main" id="{F20F4941-26E2-4094-99CD-3AE2E85FABD7}"/>
              </a:ext>
            </a:extLst>
          </p:cNvPr>
          <p:cNvSpPr/>
          <p:nvPr/>
        </p:nvSpPr>
        <p:spPr>
          <a:xfrm>
            <a:off x="31686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E7F392F1-AA1A-44B3-8F64-FBE4349F958D}"/>
              </a:ext>
            </a:extLst>
          </p:cNvPr>
          <p:cNvSpPr/>
          <p:nvPr/>
        </p:nvSpPr>
        <p:spPr>
          <a:xfrm>
            <a:off x="71818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960F39D6-73AD-423E-B212-6E73D49747A6}"/>
              </a:ext>
            </a:extLst>
          </p:cNvPr>
          <p:cNvSpPr txBox="1"/>
          <p:nvPr/>
        </p:nvSpPr>
        <p:spPr>
          <a:xfrm>
            <a:off x="3101976" y="2510611"/>
            <a:ext cx="1968501" cy="369332"/>
          </a:xfrm>
          <a:prstGeom prst="rect">
            <a:avLst/>
          </a:prstGeom>
          <a:noFill/>
        </p:spPr>
        <p:txBody>
          <a:bodyPr wrap="square" rtlCol="0">
            <a:spAutoFit/>
          </a:bodyPr>
          <a:lstStyle/>
          <a:p>
            <a:pPr algn="ctr"/>
            <a:r>
              <a:rPr lang="en-US" b="1" dirty="0"/>
              <a:t>Data Producers</a:t>
            </a:r>
          </a:p>
        </p:txBody>
      </p:sp>
      <p:sp>
        <p:nvSpPr>
          <p:cNvPr id="16" name="TextBox 15">
            <a:extLst>
              <a:ext uri="{FF2B5EF4-FFF2-40B4-BE49-F238E27FC236}">
                <a16:creationId xmlns:a16="http://schemas.microsoft.com/office/drawing/2014/main" id="{F4FFE03F-E7A1-45AD-88CF-D267238AF445}"/>
              </a:ext>
            </a:extLst>
          </p:cNvPr>
          <p:cNvSpPr txBox="1"/>
          <p:nvPr/>
        </p:nvSpPr>
        <p:spPr>
          <a:xfrm>
            <a:off x="7142851" y="2492570"/>
            <a:ext cx="1968501" cy="369332"/>
          </a:xfrm>
          <a:prstGeom prst="rect">
            <a:avLst/>
          </a:prstGeom>
          <a:noFill/>
        </p:spPr>
        <p:txBody>
          <a:bodyPr wrap="square" rtlCol="0">
            <a:spAutoFit/>
          </a:bodyPr>
          <a:lstStyle/>
          <a:p>
            <a:pPr algn="ctr"/>
            <a:r>
              <a:rPr lang="en-US" b="1" dirty="0"/>
              <a:t>Data Consumers</a:t>
            </a:r>
          </a:p>
        </p:txBody>
      </p:sp>
      <p:sp>
        <p:nvSpPr>
          <p:cNvPr id="17" name="Arrow: Left-Right 16">
            <a:extLst>
              <a:ext uri="{FF2B5EF4-FFF2-40B4-BE49-F238E27FC236}">
                <a16:creationId xmlns:a16="http://schemas.microsoft.com/office/drawing/2014/main" id="{1FBB5093-5488-436C-B299-1CD0CE37E2ED}"/>
              </a:ext>
            </a:extLst>
          </p:cNvPr>
          <p:cNvSpPr/>
          <p:nvPr/>
        </p:nvSpPr>
        <p:spPr>
          <a:xfrm>
            <a:off x="5146677" y="3183722"/>
            <a:ext cx="2025650" cy="515908"/>
          </a:xfrm>
          <a:prstGeom prst="lef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DA40A4E2-53C2-45C5-B1E4-5FCF2C0981B7}"/>
              </a:ext>
            </a:extLst>
          </p:cNvPr>
          <p:cNvSpPr txBox="1"/>
          <p:nvPr/>
        </p:nvSpPr>
        <p:spPr>
          <a:xfrm>
            <a:off x="5449737" y="3253636"/>
            <a:ext cx="1428753" cy="369332"/>
          </a:xfrm>
          <a:prstGeom prst="rect">
            <a:avLst/>
          </a:prstGeom>
          <a:noFill/>
        </p:spPr>
        <p:txBody>
          <a:bodyPr wrap="square" rtlCol="0">
            <a:spAutoFit/>
          </a:bodyPr>
          <a:lstStyle/>
          <a:p>
            <a:pPr algn="ctr"/>
            <a:r>
              <a:rPr lang="en-US" dirty="0"/>
              <a:t>Interactions</a:t>
            </a:r>
          </a:p>
        </p:txBody>
      </p:sp>
      <p:sp>
        <p:nvSpPr>
          <p:cNvPr id="19" name="Flowchart: Multidocument 18">
            <a:extLst>
              <a:ext uri="{FF2B5EF4-FFF2-40B4-BE49-F238E27FC236}">
                <a16:creationId xmlns:a16="http://schemas.microsoft.com/office/drawing/2014/main" id="{6F15E573-BC0D-4CF5-99CA-36E73286F737}"/>
              </a:ext>
            </a:extLst>
          </p:cNvPr>
          <p:cNvSpPr/>
          <p:nvPr/>
        </p:nvSpPr>
        <p:spPr>
          <a:xfrm>
            <a:off x="9272735"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3C9717C1-3C99-425C-A7C4-055BCE1F5579}"/>
              </a:ext>
            </a:extLst>
          </p:cNvPr>
          <p:cNvSpPr txBox="1"/>
          <p:nvPr/>
        </p:nvSpPr>
        <p:spPr>
          <a:xfrm>
            <a:off x="9189348" y="3865695"/>
            <a:ext cx="1272881" cy="461665"/>
          </a:xfrm>
          <a:prstGeom prst="rect">
            <a:avLst/>
          </a:prstGeom>
          <a:noFill/>
        </p:spPr>
        <p:txBody>
          <a:bodyPr wrap="square" rtlCol="0">
            <a:spAutoFit/>
          </a:bodyPr>
          <a:lstStyle/>
          <a:p>
            <a:pPr algn="ctr"/>
            <a:r>
              <a:rPr lang="en-US" sz="1200" dirty="0"/>
              <a:t>Guidance, Care Gaps, Reports</a:t>
            </a:r>
          </a:p>
        </p:txBody>
      </p:sp>
      <p:sp>
        <p:nvSpPr>
          <p:cNvPr id="21" name="TextBox 20">
            <a:extLst>
              <a:ext uri="{FF2B5EF4-FFF2-40B4-BE49-F238E27FC236}">
                <a16:creationId xmlns:a16="http://schemas.microsoft.com/office/drawing/2014/main" id="{FAF12AD4-FB0C-4F6F-848D-B2C6EE94CA81}"/>
              </a:ext>
            </a:extLst>
          </p:cNvPr>
          <p:cNvSpPr txBox="1"/>
          <p:nvPr/>
        </p:nvSpPr>
        <p:spPr>
          <a:xfrm>
            <a:off x="3360420" y="2873399"/>
            <a:ext cx="1481142" cy="1277273"/>
          </a:xfrm>
          <a:prstGeom prst="rect">
            <a:avLst/>
          </a:prstGeom>
          <a:noFill/>
        </p:spPr>
        <p:txBody>
          <a:bodyPr wrap="square" rtlCol="0">
            <a:spAutoFit/>
          </a:bodyPr>
          <a:lstStyle/>
          <a:p>
            <a:r>
              <a:rPr lang="en-US" sz="1100" dirty="0"/>
              <a:t>Providers</a:t>
            </a:r>
          </a:p>
          <a:p>
            <a:r>
              <a:rPr lang="en-US" sz="1100" dirty="0"/>
              <a:t>Patients</a:t>
            </a:r>
          </a:p>
          <a:p>
            <a:r>
              <a:rPr lang="en-US" sz="1100" dirty="0"/>
              <a:t>Care Givers</a:t>
            </a:r>
          </a:p>
          <a:p>
            <a:r>
              <a:rPr lang="en-US" sz="1100" dirty="0"/>
              <a:t>Clinical Systems</a:t>
            </a:r>
          </a:p>
          <a:p>
            <a:r>
              <a:rPr lang="en-US" sz="1100" dirty="0"/>
              <a:t>Patient Engagement</a:t>
            </a:r>
          </a:p>
          <a:p>
            <a:r>
              <a:rPr lang="en-US" sz="1100" dirty="0"/>
              <a:t>Healthcare Systems</a:t>
            </a:r>
          </a:p>
          <a:p>
            <a:r>
              <a:rPr lang="en-US" sz="1100" dirty="0"/>
              <a:t>Labs and Imaging</a:t>
            </a:r>
          </a:p>
        </p:txBody>
      </p:sp>
      <p:sp>
        <p:nvSpPr>
          <p:cNvPr id="22" name="TextBox 21">
            <a:extLst>
              <a:ext uri="{FF2B5EF4-FFF2-40B4-BE49-F238E27FC236}">
                <a16:creationId xmlns:a16="http://schemas.microsoft.com/office/drawing/2014/main" id="{C027A616-0064-4A42-A465-3AB6F48D8083}"/>
              </a:ext>
            </a:extLst>
          </p:cNvPr>
          <p:cNvSpPr txBox="1"/>
          <p:nvPr/>
        </p:nvSpPr>
        <p:spPr>
          <a:xfrm>
            <a:off x="7378705" y="2855454"/>
            <a:ext cx="1612897" cy="938719"/>
          </a:xfrm>
          <a:prstGeom prst="rect">
            <a:avLst/>
          </a:prstGeom>
          <a:noFill/>
        </p:spPr>
        <p:txBody>
          <a:bodyPr wrap="square" rtlCol="0">
            <a:spAutoFit/>
          </a:bodyPr>
          <a:lstStyle/>
          <a:p>
            <a:r>
              <a:rPr lang="en-US" sz="1100" dirty="0"/>
              <a:t>CDS Services</a:t>
            </a:r>
          </a:p>
          <a:p>
            <a:r>
              <a:rPr lang="en-US" sz="1100" dirty="0"/>
              <a:t>Aggregators</a:t>
            </a:r>
          </a:p>
          <a:p>
            <a:r>
              <a:rPr lang="en-US" sz="1100" dirty="0"/>
              <a:t>Clinical Registries</a:t>
            </a:r>
          </a:p>
          <a:p>
            <a:r>
              <a:rPr lang="en-US" sz="1100" dirty="0"/>
              <a:t>Public Health Agencies</a:t>
            </a:r>
          </a:p>
          <a:p>
            <a:r>
              <a:rPr lang="en-US" sz="1100" dirty="0"/>
              <a:t>Population Health</a:t>
            </a:r>
          </a:p>
        </p:txBody>
      </p:sp>
      <p:sp>
        <p:nvSpPr>
          <p:cNvPr id="23" name="Rectangle: Rounded Corners 22">
            <a:extLst>
              <a:ext uri="{FF2B5EF4-FFF2-40B4-BE49-F238E27FC236}">
                <a16:creationId xmlns:a16="http://schemas.microsoft.com/office/drawing/2014/main" id="{AD3E1B3C-006C-4D6E-9E1E-B4B5BBA4B699}"/>
              </a:ext>
            </a:extLst>
          </p:cNvPr>
          <p:cNvSpPr/>
          <p:nvPr/>
        </p:nvSpPr>
        <p:spPr>
          <a:xfrm>
            <a:off x="3761583" y="4412739"/>
            <a:ext cx="4795834" cy="10185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E68C6BFA-7308-4BB7-9292-4BFF0D30DCF1}"/>
              </a:ext>
            </a:extLst>
          </p:cNvPr>
          <p:cNvSpPr txBox="1"/>
          <p:nvPr/>
        </p:nvSpPr>
        <p:spPr>
          <a:xfrm>
            <a:off x="3653231" y="4779518"/>
            <a:ext cx="1968501" cy="369332"/>
          </a:xfrm>
          <a:prstGeom prst="rect">
            <a:avLst/>
          </a:prstGeom>
          <a:noFill/>
        </p:spPr>
        <p:txBody>
          <a:bodyPr wrap="square" rtlCol="0">
            <a:spAutoFit/>
          </a:bodyPr>
          <a:lstStyle/>
          <a:p>
            <a:pPr algn="ctr"/>
            <a:r>
              <a:rPr lang="en-US" b="1" dirty="0"/>
              <a:t>Specifiers</a:t>
            </a:r>
          </a:p>
        </p:txBody>
      </p:sp>
      <p:sp>
        <p:nvSpPr>
          <p:cNvPr id="25" name="TextBox 24">
            <a:extLst>
              <a:ext uri="{FF2B5EF4-FFF2-40B4-BE49-F238E27FC236}">
                <a16:creationId xmlns:a16="http://schemas.microsoft.com/office/drawing/2014/main" id="{42A05776-1BA8-4940-B7B0-22CD8EE37D69}"/>
              </a:ext>
            </a:extLst>
          </p:cNvPr>
          <p:cNvSpPr txBox="1"/>
          <p:nvPr/>
        </p:nvSpPr>
        <p:spPr>
          <a:xfrm>
            <a:off x="5362577" y="4582579"/>
            <a:ext cx="1968501" cy="769441"/>
          </a:xfrm>
          <a:prstGeom prst="rect">
            <a:avLst/>
          </a:prstGeom>
          <a:noFill/>
        </p:spPr>
        <p:txBody>
          <a:bodyPr wrap="square" rtlCol="0">
            <a:spAutoFit/>
          </a:bodyPr>
          <a:lstStyle/>
          <a:p>
            <a:r>
              <a:rPr lang="en-US" sz="1100" dirty="0"/>
              <a:t>Quality Agencies</a:t>
            </a:r>
          </a:p>
          <a:p>
            <a:r>
              <a:rPr lang="en-US" sz="1100" dirty="0"/>
              <a:t>Government Agencies</a:t>
            </a:r>
          </a:p>
          <a:p>
            <a:r>
              <a:rPr lang="en-US" sz="1100" dirty="0"/>
              <a:t>Industry Consortiums</a:t>
            </a:r>
          </a:p>
          <a:p>
            <a:r>
              <a:rPr lang="en-US" sz="1100" dirty="0"/>
              <a:t>Clinical Professional Societies</a:t>
            </a:r>
          </a:p>
        </p:txBody>
      </p:sp>
      <p:sp>
        <p:nvSpPr>
          <p:cNvPr id="26" name="Flowchart: Multidocument 25">
            <a:extLst>
              <a:ext uri="{FF2B5EF4-FFF2-40B4-BE49-F238E27FC236}">
                <a16:creationId xmlns:a16="http://schemas.microsoft.com/office/drawing/2014/main" id="{ECEE3DEB-6F60-4592-8C3C-6B8720CC93A1}"/>
              </a:ext>
            </a:extLst>
          </p:cNvPr>
          <p:cNvSpPr/>
          <p:nvPr/>
        </p:nvSpPr>
        <p:spPr>
          <a:xfrm>
            <a:off x="1772354"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C4466302-BF14-4406-B344-666E47DD8E34}"/>
              </a:ext>
            </a:extLst>
          </p:cNvPr>
          <p:cNvSpPr txBox="1"/>
          <p:nvPr/>
        </p:nvSpPr>
        <p:spPr>
          <a:xfrm>
            <a:off x="1695751" y="3875345"/>
            <a:ext cx="1289050" cy="461665"/>
          </a:xfrm>
          <a:prstGeom prst="rect">
            <a:avLst/>
          </a:prstGeom>
          <a:noFill/>
        </p:spPr>
        <p:txBody>
          <a:bodyPr wrap="square" rtlCol="0">
            <a:spAutoFit/>
          </a:bodyPr>
          <a:lstStyle/>
          <a:p>
            <a:pPr algn="ctr"/>
            <a:r>
              <a:rPr lang="en-US" sz="1200" dirty="0"/>
              <a:t>Rules, Libraries, Measures</a:t>
            </a:r>
          </a:p>
        </p:txBody>
      </p:sp>
      <p:pic>
        <p:nvPicPr>
          <p:cNvPr id="3" name="Picture 2">
            <a:extLst>
              <a:ext uri="{FF2B5EF4-FFF2-40B4-BE49-F238E27FC236}">
                <a16:creationId xmlns:a16="http://schemas.microsoft.com/office/drawing/2014/main" id="{6FF3DD59-766E-4726-93A3-E03985BD5C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2911702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8A4E2-247F-4E85-958C-C5E0D2DF50FB}"/>
              </a:ext>
            </a:extLst>
          </p:cNvPr>
          <p:cNvSpPr>
            <a:spLocks noGrp="1"/>
          </p:cNvSpPr>
          <p:nvPr>
            <p:ph type="title"/>
          </p:nvPr>
        </p:nvSpPr>
        <p:spPr/>
        <p:txBody>
          <a:bodyPr/>
          <a:lstStyle/>
          <a:p>
            <a:r>
              <a:rPr lang="en-US" dirty="0"/>
              <a:t>Quality Improvement Standards</a:t>
            </a:r>
          </a:p>
        </p:txBody>
      </p:sp>
      <p:sp>
        <p:nvSpPr>
          <p:cNvPr id="4" name="Rectangle: Rounded Corners 3">
            <a:extLst>
              <a:ext uri="{FF2B5EF4-FFF2-40B4-BE49-F238E27FC236}">
                <a16:creationId xmlns:a16="http://schemas.microsoft.com/office/drawing/2014/main" id="{FE708D5C-AF49-4098-BF67-C01BAA1E3150}"/>
              </a:ext>
            </a:extLst>
          </p:cNvPr>
          <p:cNvSpPr/>
          <p:nvPr/>
        </p:nvSpPr>
        <p:spPr>
          <a:xfrm>
            <a:off x="13970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68CACEBC-8ADB-40ED-9A4A-C6520E21FC8A}"/>
              </a:ext>
            </a:extLst>
          </p:cNvPr>
          <p:cNvSpPr/>
          <p:nvPr/>
        </p:nvSpPr>
        <p:spPr>
          <a:xfrm>
            <a:off x="6248400" y="1690688"/>
            <a:ext cx="4699000" cy="4343264"/>
          </a:xfrm>
          <a:prstGeom prst="roundRect">
            <a:avLst>
              <a:gd name="adj" fmla="val 2343"/>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64A71B6-0CCB-41BC-BC46-62C53796FE62}"/>
              </a:ext>
            </a:extLst>
          </p:cNvPr>
          <p:cNvSpPr/>
          <p:nvPr/>
        </p:nvSpPr>
        <p:spPr>
          <a:xfrm>
            <a:off x="4727575" y="4591302"/>
            <a:ext cx="2927347" cy="1257556"/>
          </a:xfrm>
          <a:prstGeom prst="roundRect">
            <a:avLst>
              <a:gd name="adj" fmla="val 10318"/>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b="1" dirty="0">
                <a:solidFill>
                  <a:schemeClr val="tx1"/>
                </a:solidFill>
              </a:rPr>
              <a:t>Model Guidance</a:t>
            </a:r>
          </a:p>
        </p:txBody>
      </p:sp>
      <p:sp>
        <p:nvSpPr>
          <p:cNvPr id="7" name="Rectangle: Rounded Corners 6">
            <a:extLst>
              <a:ext uri="{FF2B5EF4-FFF2-40B4-BE49-F238E27FC236}">
                <a16:creationId xmlns:a16="http://schemas.microsoft.com/office/drawing/2014/main" id="{DD494243-F2AE-40FE-AE0A-C67369089817}"/>
              </a:ext>
            </a:extLst>
          </p:cNvPr>
          <p:cNvSpPr/>
          <p:nvPr/>
        </p:nvSpPr>
        <p:spPr>
          <a:xfrm>
            <a:off x="1647828" y="3994985"/>
            <a:ext cx="9020173" cy="5020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b="1" dirty="0"/>
          </a:p>
          <a:p>
            <a:pPr algn="ctr"/>
            <a:r>
              <a:rPr lang="en-US" b="1" dirty="0"/>
              <a:t>Logic</a:t>
            </a:r>
          </a:p>
          <a:p>
            <a:pPr algn="ctr"/>
            <a:endParaRPr lang="en-US" b="1" dirty="0"/>
          </a:p>
        </p:txBody>
      </p:sp>
      <p:sp>
        <p:nvSpPr>
          <p:cNvPr id="8" name="Rectangle: Rounded Corners 7">
            <a:extLst>
              <a:ext uri="{FF2B5EF4-FFF2-40B4-BE49-F238E27FC236}">
                <a16:creationId xmlns:a16="http://schemas.microsoft.com/office/drawing/2014/main" id="{41A134AB-F9FC-4DE9-B47F-D66F87C54907}"/>
              </a:ext>
            </a:extLst>
          </p:cNvPr>
          <p:cNvSpPr/>
          <p:nvPr/>
        </p:nvSpPr>
        <p:spPr>
          <a:xfrm>
            <a:off x="7788274" y="4591302"/>
            <a:ext cx="2882897" cy="1257556"/>
          </a:xfrm>
          <a:prstGeom prst="roundRect">
            <a:avLst>
              <a:gd name="adj" fmla="val 10318"/>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pPr algn="r"/>
            <a:r>
              <a:rPr lang="en-US" b="1" dirty="0"/>
              <a:t>Implementation Guidance  </a:t>
            </a:r>
          </a:p>
          <a:p>
            <a:pPr algn="ctr"/>
            <a:endParaRPr lang="en-US" dirty="0"/>
          </a:p>
        </p:txBody>
      </p:sp>
      <p:sp>
        <p:nvSpPr>
          <p:cNvPr id="9" name="Rectangle: Rounded Corners 8">
            <a:extLst>
              <a:ext uri="{FF2B5EF4-FFF2-40B4-BE49-F238E27FC236}">
                <a16:creationId xmlns:a16="http://schemas.microsoft.com/office/drawing/2014/main" id="{643AC33E-F1A4-42F2-9F7C-DCE813215D88}"/>
              </a:ext>
            </a:extLst>
          </p:cNvPr>
          <p:cNvSpPr/>
          <p:nvPr/>
        </p:nvSpPr>
        <p:spPr>
          <a:xfrm>
            <a:off x="1647828" y="4591302"/>
            <a:ext cx="2927347" cy="1257556"/>
          </a:xfrm>
          <a:prstGeom prst="roundRect">
            <a:avLst>
              <a:gd name="adj" fmla="val 10318"/>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dirty="0"/>
          </a:p>
          <a:p>
            <a:pPr algn="ctr"/>
            <a:endParaRPr lang="en-US" dirty="0"/>
          </a:p>
          <a:p>
            <a:pPr algn="ctr"/>
            <a:endParaRPr lang="en-US" dirty="0"/>
          </a:p>
          <a:p>
            <a:pPr algn="ctr"/>
            <a:endParaRPr lang="en-US" dirty="0"/>
          </a:p>
          <a:p>
            <a:r>
              <a:rPr lang="en-US" b="1" dirty="0"/>
              <a:t>Authoring Guidance</a:t>
            </a:r>
          </a:p>
          <a:p>
            <a:pPr algn="ctr"/>
            <a:endParaRPr lang="en-US" dirty="0"/>
          </a:p>
        </p:txBody>
      </p:sp>
      <p:sp>
        <p:nvSpPr>
          <p:cNvPr id="10" name="Rectangle: Rounded Corners 9">
            <a:extLst>
              <a:ext uri="{FF2B5EF4-FFF2-40B4-BE49-F238E27FC236}">
                <a16:creationId xmlns:a16="http://schemas.microsoft.com/office/drawing/2014/main" id="{3CFB8581-9037-439C-AFF0-B7D2E9EC3301}"/>
              </a:ext>
            </a:extLst>
          </p:cNvPr>
          <p:cNvSpPr/>
          <p:nvPr/>
        </p:nvSpPr>
        <p:spPr>
          <a:xfrm>
            <a:off x="1650998" y="2170750"/>
            <a:ext cx="9020173" cy="1724451"/>
          </a:xfrm>
          <a:prstGeom prst="roundRect">
            <a:avLst>
              <a:gd name="adj" fmla="val 714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t>Model</a:t>
            </a:r>
          </a:p>
          <a:p>
            <a:pPr algn="ctr"/>
            <a:endParaRPr lang="en-US" sz="1200" b="1" dirty="0"/>
          </a:p>
          <a:p>
            <a:pPr algn="ctr"/>
            <a:endParaRPr lang="en-US" b="1" dirty="0"/>
          </a:p>
          <a:p>
            <a:pPr algn="ctr"/>
            <a:endParaRPr lang="en-US" dirty="0"/>
          </a:p>
        </p:txBody>
      </p:sp>
      <p:sp>
        <p:nvSpPr>
          <p:cNvPr id="11" name="TextBox 10">
            <a:extLst>
              <a:ext uri="{FF2B5EF4-FFF2-40B4-BE49-F238E27FC236}">
                <a16:creationId xmlns:a16="http://schemas.microsoft.com/office/drawing/2014/main" id="{57546B10-63E7-49D4-AFE2-65E08DDA9941}"/>
              </a:ext>
            </a:extLst>
          </p:cNvPr>
          <p:cNvSpPr txBox="1"/>
          <p:nvPr/>
        </p:nvSpPr>
        <p:spPr>
          <a:xfrm>
            <a:off x="1397000" y="1690688"/>
            <a:ext cx="3060700" cy="369332"/>
          </a:xfrm>
          <a:prstGeom prst="rect">
            <a:avLst/>
          </a:prstGeom>
          <a:noFill/>
        </p:spPr>
        <p:txBody>
          <a:bodyPr wrap="square" rtlCol="0">
            <a:spAutoFit/>
          </a:bodyPr>
          <a:lstStyle/>
          <a:p>
            <a:r>
              <a:rPr lang="en-US" b="1" dirty="0"/>
              <a:t>Specification</a:t>
            </a:r>
          </a:p>
        </p:txBody>
      </p:sp>
      <p:sp>
        <p:nvSpPr>
          <p:cNvPr id="12" name="TextBox 11">
            <a:extLst>
              <a:ext uri="{FF2B5EF4-FFF2-40B4-BE49-F238E27FC236}">
                <a16:creationId xmlns:a16="http://schemas.microsoft.com/office/drawing/2014/main" id="{AFFFB635-0F7A-4C0C-A464-CE662C828CAD}"/>
              </a:ext>
            </a:extLst>
          </p:cNvPr>
          <p:cNvSpPr txBox="1"/>
          <p:nvPr/>
        </p:nvSpPr>
        <p:spPr>
          <a:xfrm>
            <a:off x="8259119" y="1712614"/>
            <a:ext cx="2540000" cy="369332"/>
          </a:xfrm>
          <a:prstGeom prst="rect">
            <a:avLst/>
          </a:prstGeom>
          <a:noFill/>
        </p:spPr>
        <p:txBody>
          <a:bodyPr wrap="square" rtlCol="0">
            <a:spAutoFit/>
          </a:bodyPr>
          <a:lstStyle/>
          <a:p>
            <a:pPr algn="r"/>
            <a:r>
              <a:rPr lang="en-US" b="1" dirty="0"/>
              <a:t>Implementation</a:t>
            </a:r>
          </a:p>
        </p:txBody>
      </p:sp>
      <p:sp>
        <p:nvSpPr>
          <p:cNvPr id="13" name="Rectangle: Rounded Corners 12">
            <a:extLst>
              <a:ext uri="{FF2B5EF4-FFF2-40B4-BE49-F238E27FC236}">
                <a16:creationId xmlns:a16="http://schemas.microsoft.com/office/drawing/2014/main" id="{F20F4941-26E2-4094-99CD-3AE2E85FABD7}"/>
              </a:ext>
            </a:extLst>
          </p:cNvPr>
          <p:cNvSpPr/>
          <p:nvPr/>
        </p:nvSpPr>
        <p:spPr>
          <a:xfrm>
            <a:off x="31686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14" name="Rectangle: Rounded Corners 13">
            <a:extLst>
              <a:ext uri="{FF2B5EF4-FFF2-40B4-BE49-F238E27FC236}">
                <a16:creationId xmlns:a16="http://schemas.microsoft.com/office/drawing/2014/main" id="{E7F392F1-AA1A-44B3-8F64-FBE4349F958D}"/>
              </a:ext>
            </a:extLst>
          </p:cNvPr>
          <p:cNvSpPr/>
          <p:nvPr/>
        </p:nvSpPr>
        <p:spPr>
          <a:xfrm>
            <a:off x="7181849" y="2518800"/>
            <a:ext cx="1968501" cy="1724452"/>
          </a:xfrm>
          <a:prstGeom prst="roundRect">
            <a:avLst>
              <a:gd name="adj" fmla="val 6344"/>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TextBox 14">
            <a:extLst>
              <a:ext uri="{FF2B5EF4-FFF2-40B4-BE49-F238E27FC236}">
                <a16:creationId xmlns:a16="http://schemas.microsoft.com/office/drawing/2014/main" id="{960F39D6-73AD-423E-B212-6E73D49747A6}"/>
              </a:ext>
            </a:extLst>
          </p:cNvPr>
          <p:cNvSpPr txBox="1"/>
          <p:nvPr/>
        </p:nvSpPr>
        <p:spPr>
          <a:xfrm>
            <a:off x="3101976" y="2510611"/>
            <a:ext cx="1968501" cy="369332"/>
          </a:xfrm>
          <a:prstGeom prst="rect">
            <a:avLst/>
          </a:prstGeom>
          <a:noFill/>
        </p:spPr>
        <p:txBody>
          <a:bodyPr wrap="square" rtlCol="0">
            <a:spAutoFit/>
          </a:bodyPr>
          <a:lstStyle/>
          <a:p>
            <a:pPr algn="ctr"/>
            <a:r>
              <a:rPr lang="en-US" b="1" dirty="0"/>
              <a:t>Data Producers</a:t>
            </a:r>
          </a:p>
        </p:txBody>
      </p:sp>
      <p:sp>
        <p:nvSpPr>
          <p:cNvPr id="16" name="TextBox 15">
            <a:extLst>
              <a:ext uri="{FF2B5EF4-FFF2-40B4-BE49-F238E27FC236}">
                <a16:creationId xmlns:a16="http://schemas.microsoft.com/office/drawing/2014/main" id="{F4FFE03F-E7A1-45AD-88CF-D267238AF445}"/>
              </a:ext>
            </a:extLst>
          </p:cNvPr>
          <p:cNvSpPr txBox="1"/>
          <p:nvPr/>
        </p:nvSpPr>
        <p:spPr>
          <a:xfrm>
            <a:off x="7142851" y="2492570"/>
            <a:ext cx="1968501" cy="369332"/>
          </a:xfrm>
          <a:prstGeom prst="rect">
            <a:avLst/>
          </a:prstGeom>
          <a:noFill/>
        </p:spPr>
        <p:txBody>
          <a:bodyPr wrap="square" rtlCol="0">
            <a:spAutoFit/>
          </a:bodyPr>
          <a:lstStyle/>
          <a:p>
            <a:pPr algn="ctr"/>
            <a:r>
              <a:rPr lang="en-US" b="1" dirty="0"/>
              <a:t>Data Consumers</a:t>
            </a:r>
          </a:p>
        </p:txBody>
      </p:sp>
      <p:sp>
        <p:nvSpPr>
          <p:cNvPr id="17" name="Arrow: Left-Right 16">
            <a:extLst>
              <a:ext uri="{FF2B5EF4-FFF2-40B4-BE49-F238E27FC236}">
                <a16:creationId xmlns:a16="http://schemas.microsoft.com/office/drawing/2014/main" id="{1FBB5093-5488-436C-B299-1CD0CE37E2ED}"/>
              </a:ext>
            </a:extLst>
          </p:cNvPr>
          <p:cNvSpPr/>
          <p:nvPr/>
        </p:nvSpPr>
        <p:spPr>
          <a:xfrm>
            <a:off x="5146677" y="3183722"/>
            <a:ext cx="2025650" cy="515908"/>
          </a:xfrm>
          <a:prstGeom prst="lef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8" name="TextBox 17">
            <a:extLst>
              <a:ext uri="{FF2B5EF4-FFF2-40B4-BE49-F238E27FC236}">
                <a16:creationId xmlns:a16="http://schemas.microsoft.com/office/drawing/2014/main" id="{DA40A4E2-53C2-45C5-B1E4-5FCF2C0981B7}"/>
              </a:ext>
            </a:extLst>
          </p:cNvPr>
          <p:cNvSpPr txBox="1"/>
          <p:nvPr/>
        </p:nvSpPr>
        <p:spPr>
          <a:xfrm>
            <a:off x="5449737" y="3253636"/>
            <a:ext cx="1428753" cy="369332"/>
          </a:xfrm>
          <a:prstGeom prst="rect">
            <a:avLst/>
          </a:prstGeom>
          <a:noFill/>
        </p:spPr>
        <p:txBody>
          <a:bodyPr wrap="square" rtlCol="0">
            <a:spAutoFit/>
          </a:bodyPr>
          <a:lstStyle/>
          <a:p>
            <a:pPr algn="ctr"/>
            <a:r>
              <a:rPr lang="en-US" dirty="0"/>
              <a:t>Interactions</a:t>
            </a:r>
          </a:p>
        </p:txBody>
      </p:sp>
      <p:sp>
        <p:nvSpPr>
          <p:cNvPr id="19" name="Flowchart: Multidocument 18">
            <a:extLst>
              <a:ext uri="{FF2B5EF4-FFF2-40B4-BE49-F238E27FC236}">
                <a16:creationId xmlns:a16="http://schemas.microsoft.com/office/drawing/2014/main" id="{6F15E573-BC0D-4CF5-99CA-36E73286F737}"/>
              </a:ext>
            </a:extLst>
          </p:cNvPr>
          <p:cNvSpPr/>
          <p:nvPr/>
        </p:nvSpPr>
        <p:spPr>
          <a:xfrm>
            <a:off x="9272735"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3C9717C1-3C99-425C-A7C4-055BCE1F5579}"/>
              </a:ext>
            </a:extLst>
          </p:cNvPr>
          <p:cNvSpPr txBox="1"/>
          <p:nvPr/>
        </p:nvSpPr>
        <p:spPr>
          <a:xfrm>
            <a:off x="9189348" y="3865695"/>
            <a:ext cx="1272881" cy="461665"/>
          </a:xfrm>
          <a:prstGeom prst="rect">
            <a:avLst/>
          </a:prstGeom>
          <a:noFill/>
        </p:spPr>
        <p:txBody>
          <a:bodyPr wrap="square" rtlCol="0">
            <a:spAutoFit/>
          </a:bodyPr>
          <a:lstStyle/>
          <a:p>
            <a:pPr algn="ctr"/>
            <a:r>
              <a:rPr lang="en-US" sz="1200" dirty="0"/>
              <a:t>Guidance, Care Gaps, Reports</a:t>
            </a:r>
          </a:p>
        </p:txBody>
      </p:sp>
      <p:sp>
        <p:nvSpPr>
          <p:cNvPr id="21" name="TextBox 20">
            <a:extLst>
              <a:ext uri="{FF2B5EF4-FFF2-40B4-BE49-F238E27FC236}">
                <a16:creationId xmlns:a16="http://schemas.microsoft.com/office/drawing/2014/main" id="{FAF12AD4-FB0C-4F6F-848D-B2C6EE94CA81}"/>
              </a:ext>
            </a:extLst>
          </p:cNvPr>
          <p:cNvSpPr txBox="1"/>
          <p:nvPr/>
        </p:nvSpPr>
        <p:spPr>
          <a:xfrm>
            <a:off x="3360420" y="2873399"/>
            <a:ext cx="1481142" cy="1277273"/>
          </a:xfrm>
          <a:prstGeom prst="rect">
            <a:avLst/>
          </a:prstGeom>
          <a:noFill/>
        </p:spPr>
        <p:txBody>
          <a:bodyPr wrap="square" rtlCol="0">
            <a:spAutoFit/>
          </a:bodyPr>
          <a:lstStyle/>
          <a:p>
            <a:r>
              <a:rPr lang="en-US" sz="1100" dirty="0"/>
              <a:t>Providers</a:t>
            </a:r>
          </a:p>
          <a:p>
            <a:r>
              <a:rPr lang="en-US" sz="1100" dirty="0"/>
              <a:t>Patients</a:t>
            </a:r>
          </a:p>
          <a:p>
            <a:r>
              <a:rPr lang="en-US" sz="1100" dirty="0"/>
              <a:t>Care Givers</a:t>
            </a:r>
          </a:p>
          <a:p>
            <a:r>
              <a:rPr lang="en-US" sz="1100" dirty="0"/>
              <a:t>Clinical Systems</a:t>
            </a:r>
          </a:p>
          <a:p>
            <a:r>
              <a:rPr lang="en-US" sz="1100" dirty="0"/>
              <a:t>Patient Engagement</a:t>
            </a:r>
          </a:p>
          <a:p>
            <a:r>
              <a:rPr lang="en-US" sz="1100" dirty="0"/>
              <a:t>Healthcare Systems</a:t>
            </a:r>
          </a:p>
          <a:p>
            <a:r>
              <a:rPr lang="en-US" sz="1100" dirty="0"/>
              <a:t>Labs and Imaging</a:t>
            </a:r>
          </a:p>
        </p:txBody>
      </p:sp>
      <p:sp>
        <p:nvSpPr>
          <p:cNvPr id="22" name="TextBox 21">
            <a:extLst>
              <a:ext uri="{FF2B5EF4-FFF2-40B4-BE49-F238E27FC236}">
                <a16:creationId xmlns:a16="http://schemas.microsoft.com/office/drawing/2014/main" id="{C027A616-0064-4A42-A465-3AB6F48D8083}"/>
              </a:ext>
            </a:extLst>
          </p:cNvPr>
          <p:cNvSpPr txBox="1"/>
          <p:nvPr/>
        </p:nvSpPr>
        <p:spPr>
          <a:xfrm>
            <a:off x="7378705" y="2855454"/>
            <a:ext cx="1612897" cy="938719"/>
          </a:xfrm>
          <a:prstGeom prst="rect">
            <a:avLst/>
          </a:prstGeom>
          <a:noFill/>
        </p:spPr>
        <p:txBody>
          <a:bodyPr wrap="square" rtlCol="0">
            <a:spAutoFit/>
          </a:bodyPr>
          <a:lstStyle/>
          <a:p>
            <a:r>
              <a:rPr lang="en-US" sz="1100" dirty="0"/>
              <a:t>CDS Services</a:t>
            </a:r>
          </a:p>
          <a:p>
            <a:r>
              <a:rPr lang="en-US" sz="1100" dirty="0"/>
              <a:t>Aggregators</a:t>
            </a:r>
          </a:p>
          <a:p>
            <a:r>
              <a:rPr lang="en-US" sz="1100" dirty="0"/>
              <a:t>Clinical Registries</a:t>
            </a:r>
          </a:p>
          <a:p>
            <a:r>
              <a:rPr lang="en-US" sz="1100" dirty="0"/>
              <a:t>Public Health Agencies</a:t>
            </a:r>
          </a:p>
          <a:p>
            <a:r>
              <a:rPr lang="en-US" sz="1100" dirty="0"/>
              <a:t>Population Health</a:t>
            </a:r>
          </a:p>
        </p:txBody>
      </p:sp>
      <p:sp>
        <p:nvSpPr>
          <p:cNvPr id="23" name="Rectangle: Rounded Corners 22">
            <a:extLst>
              <a:ext uri="{FF2B5EF4-FFF2-40B4-BE49-F238E27FC236}">
                <a16:creationId xmlns:a16="http://schemas.microsoft.com/office/drawing/2014/main" id="{AD3E1B3C-006C-4D6E-9E1E-B4B5BBA4B699}"/>
              </a:ext>
            </a:extLst>
          </p:cNvPr>
          <p:cNvSpPr/>
          <p:nvPr/>
        </p:nvSpPr>
        <p:spPr>
          <a:xfrm>
            <a:off x="3761583" y="4412739"/>
            <a:ext cx="4795834" cy="1018551"/>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TextBox 23">
            <a:extLst>
              <a:ext uri="{FF2B5EF4-FFF2-40B4-BE49-F238E27FC236}">
                <a16:creationId xmlns:a16="http://schemas.microsoft.com/office/drawing/2014/main" id="{E68C6BFA-7308-4BB7-9292-4BFF0D30DCF1}"/>
              </a:ext>
            </a:extLst>
          </p:cNvPr>
          <p:cNvSpPr txBox="1"/>
          <p:nvPr/>
        </p:nvSpPr>
        <p:spPr>
          <a:xfrm>
            <a:off x="3653231" y="4779518"/>
            <a:ext cx="1968501" cy="369332"/>
          </a:xfrm>
          <a:prstGeom prst="rect">
            <a:avLst/>
          </a:prstGeom>
          <a:noFill/>
        </p:spPr>
        <p:txBody>
          <a:bodyPr wrap="square" rtlCol="0">
            <a:spAutoFit/>
          </a:bodyPr>
          <a:lstStyle/>
          <a:p>
            <a:pPr algn="ctr"/>
            <a:r>
              <a:rPr lang="en-US" b="1" dirty="0"/>
              <a:t>Specifiers</a:t>
            </a:r>
          </a:p>
        </p:txBody>
      </p:sp>
      <p:sp>
        <p:nvSpPr>
          <p:cNvPr id="25" name="TextBox 24">
            <a:extLst>
              <a:ext uri="{FF2B5EF4-FFF2-40B4-BE49-F238E27FC236}">
                <a16:creationId xmlns:a16="http://schemas.microsoft.com/office/drawing/2014/main" id="{42A05776-1BA8-4940-B7B0-22CD8EE37D69}"/>
              </a:ext>
            </a:extLst>
          </p:cNvPr>
          <p:cNvSpPr txBox="1"/>
          <p:nvPr/>
        </p:nvSpPr>
        <p:spPr>
          <a:xfrm>
            <a:off x="5362577" y="4582579"/>
            <a:ext cx="1968501" cy="769441"/>
          </a:xfrm>
          <a:prstGeom prst="rect">
            <a:avLst/>
          </a:prstGeom>
          <a:noFill/>
        </p:spPr>
        <p:txBody>
          <a:bodyPr wrap="square" rtlCol="0">
            <a:spAutoFit/>
          </a:bodyPr>
          <a:lstStyle/>
          <a:p>
            <a:r>
              <a:rPr lang="en-US" sz="1100" dirty="0"/>
              <a:t>Quality Agencies</a:t>
            </a:r>
          </a:p>
          <a:p>
            <a:r>
              <a:rPr lang="en-US" sz="1100" dirty="0"/>
              <a:t>Government Agencies</a:t>
            </a:r>
          </a:p>
          <a:p>
            <a:r>
              <a:rPr lang="en-US" sz="1100" dirty="0"/>
              <a:t>Industry Consortiums</a:t>
            </a:r>
          </a:p>
          <a:p>
            <a:r>
              <a:rPr lang="en-US" sz="1100" dirty="0"/>
              <a:t>Clinical Professional Societies</a:t>
            </a:r>
          </a:p>
        </p:txBody>
      </p:sp>
      <p:sp>
        <p:nvSpPr>
          <p:cNvPr id="26" name="Flowchart: Multidocument 25">
            <a:extLst>
              <a:ext uri="{FF2B5EF4-FFF2-40B4-BE49-F238E27FC236}">
                <a16:creationId xmlns:a16="http://schemas.microsoft.com/office/drawing/2014/main" id="{ECEE3DEB-6F60-4592-8C3C-6B8720CC93A1}"/>
              </a:ext>
            </a:extLst>
          </p:cNvPr>
          <p:cNvSpPr/>
          <p:nvPr/>
        </p:nvSpPr>
        <p:spPr>
          <a:xfrm>
            <a:off x="1772354" y="3572404"/>
            <a:ext cx="1272881" cy="1018550"/>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 name="TextBox 26">
            <a:extLst>
              <a:ext uri="{FF2B5EF4-FFF2-40B4-BE49-F238E27FC236}">
                <a16:creationId xmlns:a16="http://schemas.microsoft.com/office/drawing/2014/main" id="{C4466302-BF14-4406-B344-666E47DD8E34}"/>
              </a:ext>
            </a:extLst>
          </p:cNvPr>
          <p:cNvSpPr txBox="1"/>
          <p:nvPr/>
        </p:nvSpPr>
        <p:spPr>
          <a:xfrm>
            <a:off x="1695751" y="3875345"/>
            <a:ext cx="1289050" cy="461665"/>
          </a:xfrm>
          <a:prstGeom prst="rect">
            <a:avLst/>
          </a:prstGeom>
          <a:noFill/>
        </p:spPr>
        <p:txBody>
          <a:bodyPr wrap="square" rtlCol="0">
            <a:spAutoFit/>
          </a:bodyPr>
          <a:lstStyle/>
          <a:p>
            <a:pPr algn="ctr"/>
            <a:r>
              <a:rPr lang="en-US" sz="1200" dirty="0"/>
              <a:t>Rules, Libraries, Measures</a:t>
            </a:r>
          </a:p>
        </p:txBody>
      </p:sp>
      <p:grpSp>
        <p:nvGrpSpPr>
          <p:cNvPr id="54" name="Group 53">
            <a:extLst>
              <a:ext uri="{FF2B5EF4-FFF2-40B4-BE49-F238E27FC236}">
                <a16:creationId xmlns:a16="http://schemas.microsoft.com/office/drawing/2014/main" id="{BBC0FE01-6C77-4E3B-A212-7D6FF9902C09}"/>
              </a:ext>
            </a:extLst>
          </p:cNvPr>
          <p:cNvGrpSpPr/>
          <p:nvPr/>
        </p:nvGrpSpPr>
        <p:grpSpPr>
          <a:xfrm>
            <a:off x="6496169" y="3876858"/>
            <a:ext cx="864688" cy="469360"/>
            <a:chOff x="125913" y="5331262"/>
            <a:chExt cx="864688" cy="469360"/>
          </a:xfrm>
        </p:grpSpPr>
        <p:sp>
          <p:nvSpPr>
            <p:cNvPr id="49" name="Rectangle: Rounded Corners 48">
              <a:extLst>
                <a:ext uri="{FF2B5EF4-FFF2-40B4-BE49-F238E27FC236}">
                  <a16:creationId xmlns:a16="http://schemas.microsoft.com/office/drawing/2014/main" id="{96749B2F-B375-4E7E-B452-45CFA239CF9A}"/>
                </a:ext>
              </a:extLst>
            </p:cNvPr>
            <p:cNvSpPr/>
            <p:nvPr/>
          </p:nvSpPr>
          <p:spPr>
            <a:xfrm>
              <a:off x="125913" y="5331262"/>
              <a:ext cx="864688"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 name="Picture 31">
              <a:extLst>
                <a:ext uri="{FF2B5EF4-FFF2-40B4-BE49-F238E27FC236}">
                  <a16:creationId xmlns:a16="http://schemas.microsoft.com/office/drawing/2014/main" id="{F6727518-E456-40B9-A018-16429D462881}"/>
                </a:ext>
              </a:extLst>
            </p:cNvPr>
            <p:cNvPicPr>
              <a:picLocks noChangeAspect="1"/>
            </p:cNvPicPr>
            <p:nvPr/>
          </p:nvPicPr>
          <p:blipFill>
            <a:blip r:embed="rId2"/>
            <a:stretch>
              <a:fillRect/>
            </a:stretch>
          </p:blipFill>
          <p:spPr>
            <a:xfrm>
              <a:off x="162362" y="5431290"/>
              <a:ext cx="278075" cy="318157"/>
            </a:xfrm>
            <a:prstGeom prst="rect">
              <a:avLst/>
            </a:prstGeom>
          </p:spPr>
        </p:pic>
        <p:sp>
          <p:nvSpPr>
            <p:cNvPr id="33" name="TextBox 32">
              <a:extLst>
                <a:ext uri="{FF2B5EF4-FFF2-40B4-BE49-F238E27FC236}">
                  <a16:creationId xmlns:a16="http://schemas.microsoft.com/office/drawing/2014/main" id="{C92A9D06-BDCC-426B-A123-070E9D7EF2B1}"/>
                </a:ext>
              </a:extLst>
            </p:cNvPr>
            <p:cNvSpPr txBox="1"/>
            <p:nvPr/>
          </p:nvSpPr>
          <p:spPr>
            <a:xfrm>
              <a:off x="373190" y="5405702"/>
              <a:ext cx="559320" cy="369332"/>
            </a:xfrm>
            <a:prstGeom prst="rect">
              <a:avLst/>
            </a:prstGeom>
            <a:noFill/>
          </p:spPr>
          <p:txBody>
            <a:bodyPr wrap="none" rtlCol="0">
              <a:spAutoFit/>
            </a:bodyPr>
            <a:lstStyle/>
            <a:p>
              <a:r>
                <a:rPr lang="en-US" b="1" dirty="0"/>
                <a:t>CQL</a:t>
              </a:r>
            </a:p>
          </p:txBody>
        </p:sp>
      </p:grpSp>
      <p:grpSp>
        <p:nvGrpSpPr>
          <p:cNvPr id="56" name="Group 55">
            <a:extLst>
              <a:ext uri="{FF2B5EF4-FFF2-40B4-BE49-F238E27FC236}">
                <a16:creationId xmlns:a16="http://schemas.microsoft.com/office/drawing/2014/main" id="{6D4781F8-3462-438C-86BA-354F5C785AC9}"/>
              </a:ext>
            </a:extLst>
          </p:cNvPr>
          <p:cNvGrpSpPr/>
          <p:nvPr/>
        </p:nvGrpSpPr>
        <p:grpSpPr>
          <a:xfrm>
            <a:off x="1505830" y="4569436"/>
            <a:ext cx="1071080" cy="469360"/>
            <a:chOff x="573231" y="6245052"/>
            <a:chExt cx="1071080" cy="469360"/>
          </a:xfrm>
        </p:grpSpPr>
        <p:sp>
          <p:nvSpPr>
            <p:cNvPr id="48" name="Rectangle: Rounded Corners 47">
              <a:extLst>
                <a:ext uri="{FF2B5EF4-FFF2-40B4-BE49-F238E27FC236}">
                  <a16:creationId xmlns:a16="http://schemas.microsoft.com/office/drawing/2014/main" id="{11376B30-9058-45D7-B8DC-70BCEE2E293E}"/>
                </a:ext>
              </a:extLst>
            </p:cNvPr>
            <p:cNvSpPr/>
            <p:nvPr/>
          </p:nvSpPr>
          <p:spPr>
            <a:xfrm>
              <a:off x="573231" y="6245052"/>
              <a:ext cx="1071080"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6" name="Picture 35">
              <a:extLst>
                <a:ext uri="{FF2B5EF4-FFF2-40B4-BE49-F238E27FC236}">
                  <a16:creationId xmlns:a16="http://schemas.microsoft.com/office/drawing/2014/main" id="{FC8B0E0A-24D6-4336-A370-919B056A58BE}"/>
                </a:ext>
              </a:extLst>
            </p:cNvPr>
            <p:cNvPicPr>
              <a:picLocks noChangeAspect="1"/>
            </p:cNvPicPr>
            <p:nvPr/>
          </p:nvPicPr>
          <p:blipFill>
            <a:blip r:embed="rId2"/>
            <a:stretch>
              <a:fillRect/>
            </a:stretch>
          </p:blipFill>
          <p:spPr>
            <a:xfrm>
              <a:off x="626852" y="6333797"/>
              <a:ext cx="278075" cy="318157"/>
            </a:xfrm>
            <a:prstGeom prst="rect">
              <a:avLst/>
            </a:prstGeom>
          </p:spPr>
        </p:pic>
        <p:sp>
          <p:nvSpPr>
            <p:cNvPr id="37" name="TextBox 36">
              <a:extLst>
                <a:ext uri="{FF2B5EF4-FFF2-40B4-BE49-F238E27FC236}">
                  <a16:creationId xmlns:a16="http://schemas.microsoft.com/office/drawing/2014/main" id="{75658CCD-8FC0-4611-AFBB-204EEB3C2982}"/>
                </a:ext>
              </a:extLst>
            </p:cNvPr>
            <p:cNvSpPr txBox="1"/>
            <p:nvPr/>
          </p:nvSpPr>
          <p:spPr>
            <a:xfrm>
              <a:off x="837680" y="6308209"/>
              <a:ext cx="806631" cy="369332"/>
            </a:xfrm>
            <a:prstGeom prst="rect">
              <a:avLst/>
            </a:prstGeom>
            <a:noFill/>
          </p:spPr>
          <p:txBody>
            <a:bodyPr wrap="none" rtlCol="0">
              <a:spAutoFit/>
            </a:bodyPr>
            <a:lstStyle/>
            <a:p>
              <a:r>
                <a:rPr lang="en-US" b="1" dirty="0">
                  <a:solidFill>
                    <a:schemeClr val="bg1"/>
                  </a:solidFill>
                </a:rPr>
                <a:t>QM IG</a:t>
              </a:r>
            </a:p>
          </p:txBody>
        </p:sp>
      </p:grpSp>
      <p:grpSp>
        <p:nvGrpSpPr>
          <p:cNvPr id="57" name="Group 56">
            <a:extLst>
              <a:ext uri="{FF2B5EF4-FFF2-40B4-BE49-F238E27FC236}">
                <a16:creationId xmlns:a16="http://schemas.microsoft.com/office/drawing/2014/main" id="{A9A9E363-8F3B-4E95-867E-653F1DC582F5}"/>
              </a:ext>
            </a:extLst>
          </p:cNvPr>
          <p:cNvGrpSpPr/>
          <p:nvPr/>
        </p:nvGrpSpPr>
        <p:grpSpPr>
          <a:xfrm>
            <a:off x="9668550" y="4751355"/>
            <a:ext cx="1068039" cy="469360"/>
            <a:chOff x="2716212" y="6306901"/>
            <a:chExt cx="1068039" cy="469360"/>
          </a:xfrm>
        </p:grpSpPr>
        <p:sp>
          <p:nvSpPr>
            <p:cNvPr id="51" name="Rectangle: Rounded Corners 50">
              <a:extLst>
                <a:ext uri="{FF2B5EF4-FFF2-40B4-BE49-F238E27FC236}">
                  <a16:creationId xmlns:a16="http://schemas.microsoft.com/office/drawing/2014/main" id="{DA1422B8-056E-43CC-BB45-7F74C4D222AC}"/>
                </a:ext>
              </a:extLst>
            </p:cNvPr>
            <p:cNvSpPr/>
            <p:nvPr/>
          </p:nvSpPr>
          <p:spPr>
            <a:xfrm>
              <a:off x="2716212" y="6306901"/>
              <a:ext cx="1068039"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8" name="Picture 37">
              <a:extLst>
                <a:ext uri="{FF2B5EF4-FFF2-40B4-BE49-F238E27FC236}">
                  <a16:creationId xmlns:a16="http://schemas.microsoft.com/office/drawing/2014/main" id="{B21DCF10-1568-48CC-B834-81CCD78DDE85}"/>
                </a:ext>
              </a:extLst>
            </p:cNvPr>
            <p:cNvPicPr>
              <a:picLocks noChangeAspect="1"/>
            </p:cNvPicPr>
            <p:nvPr/>
          </p:nvPicPr>
          <p:blipFill>
            <a:blip r:embed="rId2"/>
            <a:stretch>
              <a:fillRect/>
            </a:stretch>
          </p:blipFill>
          <p:spPr>
            <a:xfrm>
              <a:off x="2773973" y="6397468"/>
              <a:ext cx="278075" cy="318157"/>
            </a:xfrm>
            <a:prstGeom prst="rect">
              <a:avLst/>
            </a:prstGeom>
          </p:spPr>
        </p:pic>
        <p:sp>
          <p:nvSpPr>
            <p:cNvPr id="39" name="TextBox 38">
              <a:extLst>
                <a:ext uri="{FF2B5EF4-FFF2-40B4-BE49-F238E27FC236}">
                  <a16:creationId xmlns:a16="http://schemas.microsoft.com/office/drawing/2014/main" id="{A7D823BD-47ED-4B18-9994-53B04073C13E}"/>
                </a:ext>
              </a:extLst>
            </p:cNvPr>
            <p:cNvSpPr txBox="1"/>
            <p:nvPr/>
          </p:nvSpPr>
          <p:spPr>
            <a:xfrm>
              <a:off x="2984801" y="6371880"/>
              <a:ext cx="799450" cy="369332"/>
            </a:xfrm>
            <a:prstGeom prst="rect">
              <a:avLst/>
            </a:prstGeom>
            <a:noFill/>
          </p:spPr>
          <p:txBody>
            <a:bodyPr wrap="none" rtlCol="0">
              <a:spAutoFit/>
            </a:bodyPr>
            <a:lstStyle/>
            <a:p>
              <a:r>
                <a:rPr lang="en-US" b="1" dirty="0">
                  <a:solidFill>
                    <a:schemeClr val="bg1"/>
                  </a:solidFill>
                </a:rPr>
                <a:t>DEQM</a:t>
              </a:r>
            </a:p>
          </p:txBody>
        </p:sp>
      </p:grpSp>
      <p:grpSp>
        <p:nvGrpSpPr>
          <p:cNvPr id="55" name="Group 54">
            <a:extLst>
              <a:ext uri="{FF2B5EF4-FFF2-40B4-BE49-F238E27FC236}">
                <a16:creationId xmlns:a16="http://schemas.microsoft.com/office/drawing/2014/main" id="{66B47CD3-588A-4880-B028-D1327FD8BAF5}"/>
              </a:ext>
            </a:extLst>
          </p:cNvPr>
          <p:cNvGrpSpPr/>
          <p:nvPr/>
        </p:nvGrpSpPr>
        <p:grpSpPr>
          <a:xfrm>
            <a:off x="4716492" y="2879943"/>
            <a:ext cx="1466490" cy="469360"/>
            <a:chOff x="5446652" y="6210853"/>
            <a:chExt cx="1466490" cy="469360"/>
          </a:xfrm>
        </p:grpSpPr>
        <p:sp>
          <p:nvSpPr>
            <p:cNvPr id="50" name="Rectangle: Rounded Corners 49">
              <a:extLst>
                <a:ext uri="{FF2B5EF4-FFF2-40B4-BE49-F238E27FC236}">
                  <a16:creationId xmlns:a16="http://schemas.microsoft.com/office/drawing/2014/main" id="{6A86008C-6493-46B5-BAFB-3F12E32DAA73}"/>
                </a:ext>
              </a:extLst>
            </p:cNvPr>
            <p:cNvSpPr/>
            <p:nvPr/>
          </p:nvSpPr>
          <p:spPr>
            <a:xfrm>
              <a:off x="5446652" y="6210853"/>
              <a:ext cx="1431837"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 name="Picture 39">
              <a:extLst>
                <a:ext uri="{FF2B5EF4-FFF2-40B4-BE49-F238E27FC236}">
                  <a16:creationId xmlns:a16="http://schemas.microsoft.com/office/drawing/2014/main" id="{D53F0E3A-F1A3-4200-8761-D1C45152EFCC}"/>
                </a:ext>
              </a:extLst>
            </p:cNvPr>
            <p:cNvPicPr>
              <a:picLocks noChangeAspect="1"/>
            </p:cNvPicPr>
            <p:nvPr/>
          </p:nvPicPr>
          <p:blipFill>
            <a:blip r:embed="rId2"/>
            <a:stretch>
              <a:fillRect/>
            </a:stretch>
          </p:blipFill>
          <p:spPr>
            <a:xfrm>
              <a:off x="5481305" y="6292628"/>
              <a:ext cx="278075" cy="318157"/>
            </a:xfrm>
            <a:prstGeom prst="rect">
              <a:avLst/>
            </a:prstGeom>
          </p:spPr>
        </p:pic>
        <p:sp>
          <p:nvSpPr>
            <p:cNvPr id="41" name="TextBox 40">
              <a:extLst>
                <a:ext uri="{FF2B5EF4-FFF2-40B4-BE49-F238E27FC236}">
                  <a16:creationId xmlns:a16="http://schemas.microsoft.com/office/drawing/2014/main" id="{BBB8D77B-936F-496D-B8CC-9A577C5919DB}"/>
                </a:ext>
              </a:extLst>
            </p:cNvPr>
            <p:cNvSpPr txBox="1"/>
            <p:nvPr/>
          </p:nvSpPr>
          <p:spPr>
            <a:xfrm>
              <a:off x="5706080" y="6272683"/>
              <a:ext cx="1207062" cy="369332"/>
            </a:xfrm>
            <a:prstGeom prst="rect">
              <a:avLst/>
            </a:prstGeom>
            <a:noFill/>
          </p:spPr>
          <p:txBody>
            <a:bodyPr wrap="none" rtlCol="0">
              <a:spAutoFit/>
            </a:bodyPr>
            <a:lstStyle/>
            <a:p>
              <a:r>
                <a:rPr lang="en-US" b="1" dirty="0"/>
                <a:t>CDS Hooks</a:t>
              </a:r>
            </a:p>
          </p:txBody>
        </p:sp>
      </p:grpSp>
      <p:grpSp>
        <p:nvGrpSpPr>
          <p:cNvPr id="53" name="Group 52">
            <a:extLst>
              <a:ext uri="{FF2B5EF4-FFF2-40B4-BE49-F238E27FC236}">
                <a16:creationId xmlns:a16="http://schemas.microsoft.com/office/drawing/2014/main" id="{2205180C-0462-4742-88A9-E42F87C7466B}"/>
              </a:ext>
            </a:extLst>
          </p:cNvPr>
          <p:cNvGrpSpPr/>
          <p:nvPr/>
        </p:nvGrpSpPr>
        <p:grpSpPr>
          <a:xfrm>
            <a:off x="1492944" y="5080087"/>
            <a:ext cx="1140877" cy="469360"/>
            <a:chOff x="189466" y="3622532"/>
            <a:chExt cx="1140877" cy="469360"/>
          </a:xfrm>
        </p:grpSpPr>
        <p:sp>
          <p:nvSpPr>
            <p:cNvPr id="47" name="Rectangle: Rounded Corners 46">
              <a:extLst>
                <a:ext uri="{FF2B5EF4-FFF2-40B4-BE49-F238E27FC236}">
                  <a16:creationId xmlns:a16="http://schemas.microsoft.com/office/drawing/2014/main" id="{B9BC2CCB-9AEA-4959-B878-98DB5E480EAD}"/>
                </a:ext>
              </a:extLst>
            </p:cNvPr>
            <p:cNvSpPr/>
            <p:nvPr/>
          </p:nvSpPr>
          <p:spPr>
            <a:xfrm>
              <a:off x="189466" y="3622532"/>
              <a:ext cx="1083966" cy="469360"/>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3E1B5DE6-82F6-4334-8107-A9EBA267F5A8}"/>
                </a:ext>
              </a:extLst>
            </p:cNvPr>
            <p:cNvPicPr>
              <a:picLocks noChangeAspect="1"/>
            </p:cNvPicPr>
            <p:nvPr/>
          </p:nvPicPr>
          <p:blipFill>
            <a:blip r:embed="rId2"/>
            <a:stretch>
              <a:fillRect/>
            </a:stretch>
          </p:blipFill>
          <p:spPr>
            <a:xfrm>
              <a:off x="280824" y="3699630"/>
              <a:ext cx="278075" cy="318157"/>
            </a:xfrm>
            <a:prstGeom prst="rect">
              <a:avLst/>
            </a:prstGeom>
            <a:solidFill>
              <a:schemeClr val="accent1"/>
            </a:solidFill>
            <a:ln>
              <a:solidFill>
                <a:schemeClr val="bg1"/>
              </a:solidFill>
            </a:ln>
          </p:spPr>
        </p:pic>
        <p:sp>
          <p:nvSpPr>
            <p:cNvPr id="43" name="TextBox 42">
              <a:extLst>
                <a:ext uri="{FF2B5EF4-FFF2-40B4-BE49-F238E27FC236}">
                  <a16:creationId xmlns:a16="http://schemas.microsoft.com/office/drawing/2014/main" id="{7C4244B1-B66E-4B98-BC0E-A03E78F480B1}"/>
                </a:ext>
              </a:extLst>
            </p:cNvPr>
            <p:cNvSpPr txBox="1"/>
            <p:nvPr/>
          </p:nvSpPr>
          <p:spPr>
            <a:xfrm>
              <a:off x="491652" y="3674042"/>
              <a:ext cx="838691" cy="369332"/>
            </a:xfrm>
            <a:prstGeom prst="rect">
              <a:avLst/>
            </a:prstGeom>
            <a:noFill/>
          </p:spPr>
          <p:txBody>
            <a:bodyPr wrap="none" rtlCol="0">
              <a:spAutoFit/>
            </a:bodyPr>
            <a:lstStyle/>
            <a:p>
              <a:r>
                <a:rPr lang="en-US" b="1" dirty="0"/>
                <a:t>CPG IG</a:t>
              </a:r>
            </a:p>
          </p:txBody>
        </p:sp>
      </p:grpSp>
      <p:grpSp>
        <p:nvGrpSpPr>
          <p:cNvPr id="58" name="Group 57">
            <a:extLst>
              <a:ext uri="{FF2B5EF4-FFF2-40B4-BE49-F238E27FC236}">
                <a16:creationId xmlns:a16="http://schemas.microsoft.com/office/drawing/2014/main" id="{B9C64349-B4DA-496F-BFB0-B2A1D39D04E4}"/>
              </a:ext>
            </a:extLst>
          </p:cNvPr>
          <p:cNvGrpSpPr/>
          <p:nvPr/>
        </p:nvGrpSpPr>
        <p:grpSpPr>
          <a:xfrm>
            <a:off x="5644869" y="5760648"/>
            <a:ext cx="1207061" cy="469360"/>
            <a:chOff x="8127101" y="6122756"/>
            <a:chExt cx="1207061" cy="469360"/>
          </a:xfrm>
        </p:grpSpPr>
        <p:sp>
          <p:nvSpPr>
            <p:cNvPr id="52" name="Rectangle: Rounded Corners 51">
              <a:extLst>
                <a:ext uri="{FF2B5EF4-FFF2-40B4-BE49-F238E27FC236}">
                  <a16:creationId xmlns:a16="http://schemas.microsoft.com/office/drawing/2014/main" id="{0B610DA9-3D1E-49B6-A450-DCAE83FCBF9A}"/>
                </a:ext>
              </a:extLst>
            </p:cNvPr>
            <p:cNvSpPr/>
            <p:nvPr/>
          </p:nvSpPr>
          <p:spPr>
            <a:xfrm>
              <a:off x="8127101" y="6122756"/>
              <a:ext cx="1207061" cy="469360"/>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27D9B84C-5236-4126-BC50-C409F628016F}"/>
                </a:ext>
              </a:extLst>
            </p:cNvPr>
            <p:cNvPicPr>
              <a:picLocks noChangeAspect="1"/>
            </p:cNvPicPr>
            <p:nvPr/>
          </p:nvPicPr>
          <p:blipFill>
            <a:blip r:embed="rId2"/>
            <a:stretch>
              <a:fillRect/>
            </a:stretch>
          </p:blipFill>
          <p:spPr>
            <a:xfrm>
              <a:off x="8221454" y="6206857"/>
              <a:ext cx="278075" cy="318157"/>
            </a:xfrm>
            <a:prstGeom prst="rect">
              <a:avLst/>
            </a:prstGeom>
          </p:spPr>
        </p:pic>
        <p:sp>
          <p:nvSpPr>
            <p:cNvPr id="45" name="TextBox 44">
              <a:extLst>
                <a:ext uri="{FF2B5EF4-FFF2-40B4-BE49-F238E27FC236}">
                  <a16:creationId xmlns:a16="http://schemas.microsoft.com/office/drawing/2014/main" id="{AEE93511-BE47-46D6-B1DC-93E35B1E9C27}"/>
                </a:ext>
              </a:extLst>
            </p:cNvPr>
            <p:cNvSpPr txBox="1"/>
            <p:nvPr/>
          </p:nvSpPr>
          <p:spPr>
            <a:xfrm>
              <a:off x="8432282" y="6181269"/>
              <a:ext cx="897040" cy="369332"/>
            </a:xfrm>
            <a:prstGeom prst="rect">
              <a:avLst/>
            </a:prstGeom>
            <a:noFill/>
          </p:spPr>
          <p:txBody>
            <a:bodyPr wrap="none" rtlCol="0">
              <a:spAutoFit/>
            </a:bodyPr>
            <a:lstStyle/>
            <a:p>
              <a:r>
                <a:rPr lang="en-US" b="1" dirty="0">
                  <a:solidFill>
                    <a:schemeClr val="bg1"/>
                  </a:solidFill>
                </a:rPr>
                <a:t>QI Core</a:t>
              </a:r>
            </a:p>
          </p:txBody>
        </p:sp>
      </p:grpSp>
      <p:pic>
        <p:nvPicPr>
          <p:cNvPr id="46" name="Picture 45">
            <a:extLst>
              <a:ext uri="{FF2B5EF4-FFF2-40B4-BE49-F238E27FC236}">
                <a16:creationId xmlns:a16="http://schemas.microsoft.com/office/drawing/2014/main" id="{530D46B5-B7C2-4D64-A177-6A15CEB55A1F}"/>
              </a:ext>
            </a:extLst>
          </p:cNvPr>
          <p:cNvPicPr>
            <a:picLocks noChangeAspect="1"/>
          </p:cNvPicPr>
          <p:nvPr/>
        </p:nvPicPr>
        <p:blipFill>
          <a:blip r:embed="rId3"/>
          <a:stretch>
            <a:fillRect/>
          </a:stretch>
        </p:blipFill>
        <p:spPr>
          <a:xfrm>
            <a:off x="5692133" y="1970816"/>
            <a:ext cx="855312" cy="513188"/>
          </a:xfrm>
          <a:prstGeom prst="rect">
            <a:avLst/>
          </a:prstGeom>
        </p:spPr>
      </p:pic>
      <p:pic>
        <p:nvPicPr>
          <p:cNvPr id="3" name="Picture 2">
            <a:extLst>
              <a:ext uri="{FF2B5EF4-FFF2-40B4-BE49-F238E27FC236}">
                <a16:creationId xmlns:a16="http://schemas.microsoft.com/office/drawing/2014/main" id="{8AEEA2A1-B456-448B-893D-C6ED9499CE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41023095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113">
            <a:extLst>
              <a:ext uri="{FF2B5EF4-FFF2-40B4-BE49-F238E27FC236}">
                <a16:creationId xmlns:a16="http://schemas.microsoft.com/office/drawing/2014/main" id="{A608B4B3-6ACA-468C-9B87-D84219668E0A}"/>
              </a:ext>
            </a:extLst>
          </p:cNvPr>
          <p:cNvSpPr/>
          <p:nvPr/>
        </p:nvSpPr>
        <p:spPr>
          <a:xfrm>
            <a:off x="6630477" y="4197082"/>
            <a:ext cx="107029" cy="789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451E572-F133-420E-A19A-95DD3C3141F3}"/>
              </a:ext>
            </a:extLst>
          </p:cNvPr>
          <p:cNvSpPr/>
          <p:nvPr/>
        </p:nvSpPr>
        <p:spPr>
          <a:xfrm>
            <a:off x="4454819" y="4618912"/>
            <a:ext cx="91278"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1143C50-5FDC-46BC-A593-991634435130}"/>
              </a:ext>
            </a:extLst>
          </p:cNvPr>
          <p:cNvSpPr/>
          <p:nvPr/>
        </p:nvSpPr>
        <p:spPr>
          <a:xfrm>
            <a:off x="5538051" y="4618912"/>
            <a:ext cx="98685"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E2D882D9-63AB-4B59-9154-358DCECA153C}"/>
              </a:ext>
            </a:extLst>
          </p:cNvPr>
          <p:cNvSpPr/>
          <p:nvPr/>
        </p:nvSpPr>
        <p:spPr>
          <a:xfrm>
            <a:off x="7870476" y="2018553"/>
            <a:ext cx="110686" cy="355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9E795C3-B100-4602-B5C1-8BDAC22BC8A2}"/>
              </a:ext>
            </a:extLst>
          </p:cNvPr>
          <p:cNvSpPr/>
          <p:nvPr/>
        </p:nvSpPr>
        <p:spPr>
          <a:xfrm>
            <a:off x="9504824" y="2022643"/>
            <a:ext cx="110686" cy="337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row: Bent 121">
            <a:extLst>
              <a:ext uri="{FF2B5EF4-FFF2-40B4-BE49-F238E27FC236}">
                <a16:creationId xmlns:a16="http://schemas.microsoft.com/office/drawing/2014/main" id="{0A371820-FB66-4B8F-861C-142DE7473493}"/>
              </a:ext>
            </a:extLst>
          </p:cNvPr>
          <p:cNvSpPr/>
          <p:nvPr/>
        </p:nvSpPr>
        <p:spPr>
          <a:xfrm rot="16200000" flipV="1">
            <a:off x="9932099" y="1102780"/>
            <a:ext cx="436817" cy="1564703"/>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Arrow: Bent 112">
            <a:extLst>
              <a:ext uri="{FF2B5EF4-FFF2-40B4-BE49-F238E27FC236}">
                <a16:creationId xmlns:a16="http://schemas.microsoft.com/office/drawing/2014/main" id="{F623CBA2-87DE-4DAE-9661-80903D387E03}"/>
              </a:ext>
            </a:extLst>
          </p:cNvPr>
          <p:cNvSpPr/>
          <p:nvPr/>
        </p:nvSpPr>
        <p:spPr>
          <a:xfrm rot="16200000">
            <a:off x="7040147" y="3059041"/>
            <a:ext cx="431451" cy="1919552"/>
          </a:xfrm>
          <a:prstGeom prst="bentArrow">
            <a:avLst>
              <a:gd name="adj1" fmla="val 27528"/>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1" name="Arrow: Bent 110">
            <a:extLst>
              <a:ext uri="{FF2B5EF4-FFF2-40B4-BE49-F238E27FC236}">
                <a16:creationId xmlns:a16="http://schemas.microsoft.com/office/drawing/2014/main" id="{4C086D16-38B3-4EF5-B13A-0FA4227D36A3}"/>
              </a:ext>
            </a:extLst>
          </p:cNvPr>
          <p:cNvSpPr/>
          <p:nvPr/>
        </p:nvSpPr>
        <p:spPr>
          <a:xfrm rot="16200000" flipV="1">
            <a:off x="10474452" y="3387302"/>
            <a:ext cx="436817" cy="125721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Arrow: Bent 111">
            <a:extLst>
              <a:ext uri="{FF2B5EF4-FFF2-40B4-BE49-F238E27FC236}">
                <a16:creationId xmlns:a16="http://schemas.microsoft.com/office/drawing/2014/main" id="{B2408D3F-D80B-42E3-BC8A-695D68A689A4}"/>
              </a:ext>
            </a:extLst>
          </p:cNvPr>
          <p:cNvSpPr/>
          <p:nvPr/>
        </p:nvSpPr>
        <p:spPr>
          <a:xfrm rot="16200000">
            <a:off x="8575101" y="3168426"/>
            <a:ext cx="436817" cy="1694968"/>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Picture 1">
            <a:extLst>
              <a:ext uri="{FF2B5EF4-FFF2-40B4-BE49-F238E27FC236}">
                <a16:creationId xmlns:a16="http://schemas.microsoft.com/office/drawing/2014/main" id="{B910B5F9-0B96-44E3-947A-60B57301D1BE}"/>
              </a:ext>
            </a:extLst>
          </p:cNvPr>
          <p:cNvPicPr>
            <a:picLocks noChangeAspect="1"/>
          </p:cNvPicPr>
          <p:nvPr/>
        </p:nvPicPr>
        <p:blipFill>
          <a:blip r:embed="rId3"/>
          <a:stretch>
            <a:fillRect/>
          </a:stretch>
        </p:blipFill>
        <p:spPr>
          <a:xfrm>
            <a:off x="282511" y="4770379"/>
            <a:ext cx="1409999" cy="846001"/>
          </a:xfrm>
          <a:prstGeom prst="rect">
            <a:avLst/>
          </a:prstGeom>
        </p:spPr>
      </p:pic>
      <p:grpSp>
        <p:nvGrpSpPr>
          <p:cNvPr id="28" name="Group 27">
            <a:extLst>
              <a:ext uri="{FF2B5EF4-FFF2-40B4-BE49-F238E27FC236}">
                <a16:creationId xmlns:a16="http://schemas.microsoft.com/office/drawing/2014/main" id="{A95FC26E-1C1C-4D67-A246-7ADC3088A85E}"/>
              </a:ext>
            </a:extLst>
          </p:cNvPr>
          <p:cNvGrpSpPr/>
          <p:nvPr/>
        </p:nvGrpSpPr>
        <p:grpSpPr>
          <a:xfrm>
            <a:off x="1579406" y="4964946"/>
            <a:ext cx="1352367" cy="1622840"/>
            <a:chOff x="966000" y="2349000"/>
            <a:chExt cx="1800000" cy="2160000"/>
          </a:xfrm>
        </p:grpSpPr>
        <p:sp>
          <p:nvSpPr>
            <p:cNvPr id="3" name="Rectangle: Diagonal Corners Rounded 2">
              <a:extLst>
                <a:ext uri="{FF2B5EF4-FFF2-40B4-BE49-F238E27FC236}">
                  <a16:creationId xmlns:a16="http://schemas.microsoft.com/office/drawing/2014/main" id="{FCFF04A4-7213-4867-A518-8A9542549217}"/>
                </a:ext>
              </a:extLst>
            </p:cNvPr>
            <p:cNvSpPr/>
            <p:nvPr/>
          </p:nvSpPr>
          <p:spPr>
            <a:xfrm>
              <a:off x="131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4" name="Rectangle 3" descr="City">
              <a:extLst>
                <a:ext uri="{FF2B5EF4-FFF2-40B4-BE49-F238E27FC236}">
                  <a16:creationId xmlns:a16="http://schemas.microsoft.com/office/drawing/2014/main" id="{6C61B9BC-5274-4E3D-8D44-A5BDC90E36AF}"/>
                </a:ext>
              </a:extLst>
            </p:cNvPr>
            <p:cNvSpPr/>
            <p:nvPr/>
          </p:nvSpPr>
          <p:spPr>
            <a:xfrm>
              <a:off x="1551000" y="2583000"/>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5" name="Group 4">
              <a:extLst>
                <a:ext uri="{FF2B5EF4-FFF2-40B4-BE49-F238E27FC236}">
                  <a16:creationId xmlns:a16="http://schemas.microsoft.com/office/drawing/2014/main" id="{4997576B-AC47-4D24-B686-E5479CC62659}"/>
                </a:ext>
              </a:extLst>
            </p:cNvPr>
            <p:cNvGrpSpPr/>
            <p:nvPr/>
          </p:nvGrpSpPr>
          <p:grpSpPr>
            <a:xfrm>
              <a:off x="966000" y="3789000"/>
              <a:ext cx="1800000" cy="720000"/>
              <a:chOff x="127800" y="2535669"/>
              <a:chExt cx="1800000" cy="720000"/>
            </a:xfrm>
          </p:grpSpPr>
          <p:sp>
            <p:nvSpPr>
              <p:cNvPr id="26" name="Rectangle 25">
                <a:extLst>
                  <a:ext uri="{FF2B5EF4-FFF2-40B4-BE49-F238E27FC236}">
                    <a16:creationId xmlns:a16="http://schemas.microsoft.com/office/drawing/2014/main" id="{40A305B3-D5FF-4EC2-AEAF-9DF88623A5DE}"/>
                  </a:ext>
                </a:extLst>
              </p:cNvPr>
              <p:cNvSpPr/>
              <p:nvPr/>
            </p:nvSpPr>
            <p:spPr>
              <a:xfrm>
                <a:off x="12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7" name="TextBox 26">
                <a:extLst>
                  <a:ext uri="{FF2B5EF4-FFF2-40B4-BE49-F238E27FC236}">
                    <a16:creationId xmlns:a16="http://schemas.microsoft.com/office/drawing/2014/main" id="{1C6F5DEC-3322-4F36-B13C-FBB1BD4FD0E4}"/>
                  </a:ext>
                </a:extLst>
              </p:cNvPr>
              <p:cNvSpPr txBox="1"/>
              <p:nvPr/>
            </p:nvSpPr>
            <p:spPr>
              <a:xfrm>
                <a:off x="12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100" dirty="0"/>
                  <a:t>Foundation</a:t>
                </a:r>
              </a:p>
            </p:txBody>
          </p:sp>
        </p:grpSp>
      </p:grpSp>
      <p:grpSp>
        <p:nvGrpSpPr>
          <p:cNvPr id="29" name="Group 28">
            <a:extLst>
              <a:ext uri="{FF2B5EF4-FFF2-40B4-BE49-F238E27FC236}">
                <a16:creationId xmlns:a16="http://schemas.microsoft.com/office/drawing/2014/main" id="{579DC361-DDA4-4926-AB04-F96C8ED9E52A}"/>
              </a:ext>
            </a:extLst>
          </p:cNvPr>
          <p:cNvGrpSpPr/>
          <p:nvPr/>
        </p:nvGrpSpPr>
        <p:grpSpPr>
          <a:xfrm>
            <a:off x="2679021" y="4964946"/>
            <a:ext cx="1352367" cy="1622840"/>
            <a:chOff x="3081000" y="2349000"/>
            <a:chExt cx="1800000" cy="2160000"/>
          </a:xfrm>
        </p:grpSpPr>
        <p:sp>
          <p:nvSpPr>
            <p:cNvPr id="6" name="Rectangle: Diagonal Corners Rounded 5">
              <a:extLst>
                <a:ext uri="{FF2B5EF4-FFF2-40B4-BE49-F238E27FC236}">
                  <a16:creationId xmlns:a16="http://schemas.microsoft.com/office/drawing/2014/main" id="{5D6C6CB2-4E0A-40B5-B0B9-26599C9CD944}"/>
                </a:ext>
              </a:extLst>
            </p:cNvPr>
            <p:cNvSpPr/>
            <p:nvPr/>
          </p:nvSpPr>
          <p:spPr>
            <a:xfrm>
              <a:off x="343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7" name="Rectangle 6" descr="Checkmark">
              <a:extLst>
                <a:ext uri="{FF2B5EF4-FFF2-40B4-BE49-F238E27FC236}">
                  <a16:creationId xmlns:a16="http://schemas.microsoft.com/office/drawing/2014/main" id="{869ED83E-447A-4E66-9E14-F36CC4874C4B}"/>
                </a:ext>
              </a:extLst>
            </p:cNvPr>
            <p:cNvSpPr/>
            <p:nvPr/>
          </p:nvSpPr>
          <p:spPr>
            <a:xfrm>
              <a:off x="366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8" name="Group 7">
              <a:extLst>
                <a:ext uri="{FF2B5EF4-FFF2-40B4-BE49-F238E27FC236}">
                  <a16:creationId xmlns:a16="http://schemas.microsoft.com/office/drawing/2014/main" id="{B9BE6CB9-3CF5-4A1E-900B-D583AAAAC2C3}"/>
                </a:ext>
              </a:extLst>
            </p:cNvPr>
            <p:cNvGrpSpPr/>
            <p:nvPr/>
          </p:nvGrpSpPr>
          <p:grpSpPr>
            <a:xfrm>
              <a:off x="3081000" y="3789000"/>
              <a:ext cx="1800000" cy="720000"/>
              <a:chOff x="2242800" y="2535669"/>
              <a:chExt cx="1800000" cy="720000"/>
            </a:xfrm>
          </p:grpSpPr>
          <p:sp>
            <p:nvSpPr>
              <p:cNvPr id="24" name="Rectangle 23">
                <a:extLst>
                  <a:ext uri="{FF2B5EF4-FFF2-40B4-BE49-F238E27FC236}">
                    <a16:creationId xmlns:a16="http://schemas.microsoft.com/office/drawing/2014/main" id="{F7EE8978-47CE-45BC-8E38-CB2308F687D8}"/>
                  </a:ext>
                </a:extLst>
              </p:cNvPr>
              <p:cNvSpPr/>
              <p:nvPr/>
            </p:nvSpPr>
            <p:spPr>
              <a:xfrm>
                <a:off x="224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5" name="TextBox 24">
                <a:extLst>
                  <a:ext uri="{FF2B5EF4-FFF2-40B4-BE49-F238E27FC236}">
                    <a16:creationId xmlns:a16="http://schemas.microsoft.com/office/drawing/2014/main" id="{273CF8E2-22D9-4656-A7A0-B21CCEEAAE52}"/>
                  </a:ext>
                </a:extLst>
              </p:cNvPr>
              <p:cNvSpPr txBox="1"/>
              <p:nvPr/>
            </p:nvSpPr>
            <p:spPr>
              <a:xfrm>
                <a:off x="224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Conformance</a:t>
                </a:r>
              </a:p>
            </p:txBody>
          </p:sp>
        </p:grpSp>
      </p:grpSp>
      <p:grpSp>
        <p:nvGrpSpPr>
          <p:cNvPr id="30" name="Group 29">
            <a:extLst>
              <a:ext uri="{FF2B5EF4-FFF2-40B4-BE49-F238E27FC236}">
                <a16:creationId xmlns:a16="http://schemas.microsoft.com/office/drawing/2014/main" id="{66110138-5B34-49FA-BAE0-62FF3231E14A}"/>
              </a:ext>
            </a:extLst>
          </p:cNvPr>
          <p:cNvGrpSpPr/>
          <p:nvPr/>
        </p:nvGrpSpPr>
        <p:grpSpPr>
          <a:xfrm>
            <a:off x="3778636" y="4964946"/>
            <a:ext cx="1352367" cy="1622840"/>
            <a:chOff x="5196000" y="2349000"/>
            <a:chExt cx="1800000" cy="2160000"/>
          </a:xfrm>
        </p:grpSpPr>
        <p:sp>
          <p:nvSpPr>
            <p:cNvPr id="9" name="Rectangle: Diagonal Corners Rounded 8">
              <a:extLst>
                <a:ext uri="{FF2B5EF4-FFF2-40B4-BE49-F238E27FC236}">
                  <a16:creationId xmlns:a16="http://schemas.microsoft.com/office/drawing/2014/main" id="{82D03FE5-BD95-4C90-A2D5-3162B3F926FF}"/>
                </a:ext>
              </a:extLst>
            </p:cNvPr>
            <p:cNvSpPr/>
            <p:nvPr/>
          </p:nvSpPr>
          <p:spPr>
            <a:xfrm>
              <a:off x="554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 name="Rectangle 9" descr="Hierarchy">
              <a:extLst>
                <a:ext uri="{FF2B5EF4-FFF2-40B4-BE49-F238E27FC236}">
                  <a16:creationId xmlns:a16="http://schemas.microsoft.com/office/drawing/2014/main" id="{0444D7DE-1E7F-407B-8B8D-517BDE6A8CD5}"/>
                </a:ext>
              </a:extLst>
            </p:cNvPr>
            <p:cNvSpPr/>
            <p:nvPr/>
          </p:nvSpPr>
          <p:spPr>
            <a:xfrm>
              <a:off x="578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1" name="Group 10">
              <a:extLst>
                <a:ext uri="{FF2B5EF4-FFF2-40B4-BE49-F238E27FC236}">
                  <a16:creationId xmlns:a16="http://schemas.microsoft.com/office/drawing/2014/main" id="{40E036D1-BEDD-47DE-8984-D6495F104648}"/>
                </a:ext>
              </a:extLst>
            </p:cNvPr>
            <p:cNvGrpSpPr/>
            <p:nvPr/>
          </p:nvGrpSpPr>
          <p:grpSpPr>
            <a:xfrm>
              <a:off x="5196000" y="3789000"/>
              <a:ext cx="1800000" cy="720000"/>
              <a:chOff x="4357800" y="2535669"/>
              <a:chExt cx="1800000" cy="720000"/>
            </a:xfrm>
          </p:grpSpPr>
          <p:sp>
            <p:nvSpPr>
              <p:cNvPr id="22" name="Rectangle 21">
                <a:extLst>
                  <a:ext uri="{FF2B5EF4-FFF2-40B4-BE49-F238E27FC236}">
                    <a16:creationId xmlns:a16="http://schemas.microsoft.com/office/drawing/2014/main" id="{C8E0982C-9E8A-4305-A9A7-10DA86413B55}"/>
                  </a:ext>
                </a:extLst>
              </p:cNvPr>
              <p:cNvSpPr/>
              <p:nvPr/>
            </p:nvSpPr>
            <p:spPr>
              <a:xfrm>
                <a:off x="435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3" name="TextBox 22">
                <a:extLst>
                  <a:ext uri="{FF2B5EF4-FFF2-40B4-BE49-F238E27FC236}">
                    <a16:creationId xmlns:a16="http://schemas.microsoft.com/office/drawing/2014/main" id="{B79372F8-AE09-4C35-8F1F-698A6785554E}"/>
                  </a:ext>
                </a:extLst>
              </p:cNvPr>
              <p:cNvSpPr txBox="1"/>
              <p:nvPr/>
            </p:nvSpPr>
            <p:spPr>
              <a:xfrm>
                <a:off x="435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Administration</a:t>
                </a:r>
              </a:p>
            </p:txBody>
          </p:sp>
        </p:grpSp>
      </p:grpSp>
      <p:grpSp>
        <p:nvGrpSpPr>
          <p:cNvPr id="31" name="Group 30">
            <a:extLst>
              <a:ext uri="{FF2B5EF4-FFF2-40B4-BE49-F238E27FC236}">
                <a16:creationId xmlns:a16="http://schemas.microsoft.com/office/drawing/2014/main" id="{EE9FCCB7-F8B5-4DA1-ACA0-A87A9ADC69A6}"/>
              </a:ext>
            </a:extLst>
          </p:cNvPr>
          <p:cNvGrpSpPr/>
          <p:nvPr/>
        </p:nvGrpSpPr>
        <p:grpSpPr>
          <a:xfrm>
            <a:off x="4878251" y="4964946"/>
            <a:ext cx="1352367" cy="1622840"/>
            <a:chOff x="7311000" y="2349000"/>
            <a:chExt cx="1800000" cy="2160000"/>
          </a:xfrm>
        </p:grpSpPr>
        <p:sp>
          <p:nvSpPr>
            <p:cNvPr id="12" name="Rectangle: Diagonal Corners Rounded 11">
              <a:extLst>
                <a:ext uri="{FF2B5EF4-FFF2-40B4-BE49-F238E27FC236}">
                  <a16:creationId xmlns:a16="http://schemas.microsoft.com/office/drawing/2014/main" id="{63514769-E01D-4FD0-B2E0-B64FC9214AFA}"/>
                </a:ext>
              </a:extLst>
            </p:cNvPr>
            <p:cNvSpPr/>
            <p:nvPr/>
          </p:nvSpPr>
          <p:spPr>
            <a:xfrm>
              <a:off x="766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3" name="Rectangle 12" descr="Stethoscope">
              <a:extLst>
                <a:ext uri="{FF2B5EF4-FFF2-40B4-BE49-F238E27FC236}">
                  <a16:creationId xmlns:a16="http://schemas.microsoft.com/office/drawing/2014/main" id="{8F189E16-677E-4B32-A7EC-BFFF46FB4D26}"/>
                </a:ext>
              </a:extLst>
            </p:cNvPr>
            <p:cNvSpPr/>
            <p:nvPr/>
          </p:nvSpPr>
          <p:spPr>
            <a:xfrm>
              <a:off x="789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4" name="Group 13">
              <a:extLst>
                <a:ext uri="{FF2B5EF4-FFF2-40B4-BE49-F238E27FC236}">
                  <a16:creationId xmlns:a16="http://schemas.microsoft.com/office/drawing/2014/main" id="{53BF3B34-F81F-48DE-9DCF-B08C9848FA77}"/>
                </a:ext>
              </a:extLst>
            </p:cNvPr>
            <p:cNvGrpSpPr/>
            <p:nvPr/>
          </p:nvGrpSpPr>
          <p:grpSpPr>
            <a:xfrm>
              <a:off x="7311000" y="3789000"/>
              <a:ext cx="1800000" cy="720000"/>
              <a:chOff x="6472800" y="2535669"/>
              <a:chExt cx="1800000" cy="720000"/>
            </a:xfrm>
          </p:grpSpPr>
          <p:sp>
            <p:nvSpPr>
              <p:cNvPr id="20" name="Rectangle 19">
                <a:extLst>
                  <a:ext uri="{FF2B5EF4-FFF2-40B4-BE49-F238E27FC236}">
                    <a16:creationId xmlns:a16="http://schemas.microsoft.com/office/drawing/2014/main" id="{BBEAFC41-A0A1-4E87-AC35-BE88EA5EF283}"/>
                  </a:ext>
                </a:extLst>
              </p:cNvPr>
              <p:cNvSpPr/>
              <p:nvPr/>
            </p:nvSpPr>
            <p:spPr>
              <a:xfrm>
                <a:off x="647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1" name="TextBox 20">
                <a:extLst>
                  <a:ext uri="{FF2B5EF4-FFF2-40B4-BE49-F238E27FC236}">
                    <a16:creationId xmlns:a16="http://schemas.microsoft.com/office/drawing/2014/main" id="{F5ABC41E-FE4C-4F35-B8E3-534B43D10B41}"/>
                  </a:ext>
                </a:extLst>
              </p:cNvPr>
              <p:cNvSpPr txBox="1"/>
              <p:nvPr/>
            </p:nvSpPr>
            <p:spPr>
              <a:xfrm>
                <a:off x="647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Clinical</a:t>
                </a:r>
              </a:p>
            </p:txBody>
          </p:sp>
        </p:grpSp>
      </p:grpSp>
      <p:grpSp>
        <p:nvGrpSpPr>
          <p:cNvPr id="32" name="Group 31">
            <a:extLst>
              <a:ext uri="{FF2B5EF4-FFF2-40B4-BE49-F238E27FC236}">
                <a16:creationId xmlns:a16="http://schemas.microsoft.com/office/drawing/2014/main" id="{9E8EEBFC-35EA-49E3-8DAB-CB0A92C6BE53}"/>
              </a:ext>
            </a:extLst>
          </p:cNvPr>
          <p:cNvGrpSpPr/>
          <p:nvPr/>
        </p:nvGrpSpPr>
        <p:grpSpPr>
          <a:xfrm>
            <a:off x="5977866" y="4964946"/>
            <a:ext cx="1352367" cy="1622840"/>
            <a:chOff x="9426000" y="2349000"/>
            <a:chExt cx="1800000" cy="2160000"/>
          </a:xfrm>
        </p:grpSpPr>
        <p:sp>
          <p:nvSpPr>
            <p:cNvPr id="15" name="Rectangle: Diagonal Corners Rounded 14">
              <a:extLst>
                <a:ext uri="{FF2B5EF4-FFF2-40B4-BE49-F238E27FC236}">
                  <a16:creationId xmlns:a16="http://schemas.microsoft.com/office/drawing/2014/main" id="{5C8DEE5F-48FB-4DCF-B9A6-C77FB7D8F45C}"/>
                </a:ext>
              </a:extLst>
            </p:cNvPr>
            <p:cNvSpPr/>
            <p:nvPr/>
          </p:nvSpPr>
          <p:spPr>
            <a:xfrm>
              <a:off x="977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6" name="Rectangle 15" descr="Head with Gears">
              <a:extLst>
                <a:ext uri="{FF2B5EF4-FFF2-40B4-BE49-F238E27FC236}">
                  <a16:creationId xmlns:a16="http://schemas.microsoft.com/office/drawing/2014/main" id="{DB7C798B-9BED-4FCB-8E4A-8004514E0412}"/>
                </a:ext>
              </a:extLst>
            </p:cNvPr>
            <p:cNvSpPr/>
            <p:nvPr/>
          </p:nvSpPr>
          <p:spPr>
            <a:xfrm>
              <a:off x="1001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7" name="Group 16">
              <a:extLst>
                <a:ext uri="{FF2B5EF4-FFF2-40B4-BE49-F238E27FC236}">
                  <a16:creationId xmlns:a16="http://schemas.microsoft.com/office/drawing/2014/main" id="{6096D43B-20E5-46AC-A161-868B9E1EEFE7}"/>
                </a:ext>
              </a:extLst>
            </p:cNvPr>
            <p:cNvGrpSpPr/>
            <p:nvPr/>
          </p:nvGrpSpPr>
          <p:grpSpPr>
            <a:xfrm>
              <a:off x="9426000" y="3789000"/>
              <a:ext cx="1800000" cy="720000"/>
              <a:chOff x="8587800" y="2535669"/>
              <a:chExt cx="1800000" cy="720000"/>
            </a:xfrm>
          </p:grpSpPr>
          <p:sp>
            <p:nvSpPr>
              <p:cNvPr id="18" name="Rectangle 17">
                <a:extLst>
                  <a:ext uri="{FF2B5EF4-FFF2-40B4-BE49-F238E27FC236}">
                    <a16:creationId xmlns:a16="http://schemas.microsoft.com/office/drawing/2014/main" id="{5B17A45E-E648-41D4-B844-C482712C1DE3}"/>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9" name="TextBox 18">
                <a:extLst>
                  <a:ext uri="{FF2B5EF4-FFF2-40B4-BE49-F238E27FC236}">
                    <a16:creationId xmlns:a16="http://schemas.microsoft.com/office/drawing/2014/main" id="{91F4CFE9-1229-465B-8AB8-0AE3F8A7C43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Reasoning</a:t>
                </a:r>
              </a:p>
            </p:txBody>
          </p:sp>
        </p:grpSp>
      </p:grpSp>
      <p:grpSp>
        <p:nvGrpSpPr>
          <p:cNvPr id="63" name="Group 62">
            <a:extLst>
              <a:ext uri="{FF2B5EF4-FFF2-40B4-BE49-F238E27FC236}">
                <a16:creationId xmlns:a16="http://schemas.microsoft.com/office/drawing/2014/main" id="{44884DFD-F795-447A-AB73-65C28F9EF344}"/>
              </a:ext>
            </a:extLst>
          </p:cNvPr>
          <p:cNvGrpSpPr/>
          <p:nvPr/>
        </p:nvGrpSpPr>
        <p:grpSpPr>
          <a:xfrm>
            <a:off x="10376327" y="2505317"/>
            <a:ext cx="1352367" cy="1489677"/>
            <a:chOff x="2907510" y="1010464"/>
            <a:chExt cx="1800000" cy="1982760"/>
          </a:xfrm>
        </p:grpSpPr>
        <p:sp>
          <p:nvSpPr>
            <p:cNvPr id="33" name="Rectangle: Diagonal Corners Rounded 32">
              <a:extLst>
                <a:ext uri="{FF2B5EF4-FFF2-40B4-BE49-F238E27FC236}">
                  <a16:creationId xmlns:a16="http://schemas.microsoft.com/office/drawing/2014/main" id="{CCE2D025-CF15-4B94-B479-382CFA544368}"/>
                </a:ext>
              </a:extLst>
            </p:cNvPr>
            <p:cNvSpPr/>
            <p:nvPr/>
          </p:nvSpPr>
          <p:spPr>
            <a:xfrm>
              <a:off x="3258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37" name="TextBox 36">
              <a:extLst>
                <a:ext uri="{FF2B5EF4-FFF2-40B4-BE49-F238E27FC236}">
                  <a16:creationId xmlns:a16="http://schemas.microsoft.com/office/drawing/2014/main" id="{4CE705C1-F6A7-4A78-B9B0-FE51B1729D1D}"/>
                </a:ext>
              </a:extLst>
            </p:cNvPr>
            <p:cNvSpPr txBox="1"/>
            <p:nvPr/>
          </p:nvSpPr>
          <p:spPr>
            <a:xfrm>
              <a:off x="2907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EBM-on-FHIR</a:t>
              </a:r>
            </a:p>
          </p:txBody>
        </p:sp>
        <p:pic>
          <p:nvPicPr>
            <p:cNvPr id="39" name="Picture 38">
              <a:extLst>
                <a:ext uri="{FF2B5EF4-FFF2-40B4-BE49-F238E27FC236}">
                  <a16:creationId xmlns:a16="http://schemas.microsoft.com/office/drawing/2014/main" id="{9CC9B04B-9493-4974-8D43-A49652EB587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442004" y="1169644"/>
              <a:ext cx="840134" cy="840134"/>
            </a:xfrm>
            <a:prstGeom prst="rect">
              <a:avLst/>
            </a:prstGeom>
          </p:spPr>
        </p:pic>
      </p:grpSp>
      <p:grpSp>
        <p:nvGrpSpPr>
          <p:cNvPr id="1024" name="Group 1023">
            <a:extLst>
              <a:ext uri="{FF2B5EF4-FFF2-40B4-BE49-F238E27FC236}">
                <a16:creationId xmlns:a16="http://schemas.microsoft.com/office/drawing/2014/main" id="{91AAF543-0361-461F-BAD8-FAB07CF3A456}"/>
              </a:ext>
            </a:extLst>
          </p:cNvPr>
          <p:cNvGrpSpPr/>
          <p:nvPr/>
        </p:nvGrpSpPr>
        <p:grpSpPr>
          <a:xfrm>
            <a:off x="8828642" y="2505368"/>
            <a:ext cx="1352367" cy="1489677"/>
            <a:chOff x="4473510" y="1010464"/>
            <a:chExt cx="1800000" cy="1982760"/>
          </a:xfrm>
        </p:grpSpPr>
        <p:sp>
          <p:nvSpPr>
            <p:cNvPr id="41" name="Rectangle: Diagonal Corners Rounded 40">
              <a:extLst>
                <a:ext uri="{FF2B5EF4-FFF2-40B4-BE49-F238E27FC236}">
                  <a16:creationId xmlns:a16="http://schemas.microsoft.com/office/drawing/2014/main" id="{FB89AC8E-D2BC-4F4B-99CC-C06614264EA6}"/>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pic>
          <p:nvPicPr>
            <p:cNvPr id="42" name="Picture 41">
              <a:extLst>
                <a:ext uri="{FF2B5EF4-FFF2-40B4-BE49-F238E27FC236}">
                  <a16:creationId xmlns:a16="http://schemas.microsoft.com/office/drawing/2014/main" id="{90FD1415-2A71-4EE0-815A-5F750A29326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923195" y="1109149"/>
              <a:ext cx="900629" cy="900629"/>
            </a:xfrm>
            <a:prstGeom prst="rect">
              <a:avLst/>
            </a:prstGeom>
          </p:spPr>
        </p:pic>
        <p:sp>
          <p:nvSpPr>
            <p:cNvPr id="44" name="TextBox 43">
              <a:extLst>
                <a:ext uri="{FF2B5EF4-FFF2-40B4-BE49-F238E27FC236}">
                  <a16:creationId xmlns:a16="http://schemas.microsoft.com/office/drawing/2014/main" id="{499ADB29-15CB-4F97-9078-DE2B2E647CD4}"/>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CPG-on-FHIR</a:t>
              </a:r>
            </a:p>
          </p:txBody>
        </p:sp>
      </p:grpSp>
      <p:grpSp>
        <p:nvGrpSpPr>
          <p:cNvPr id="1027" name="Group 1026">
            <a:extLst>
              <a:ext uri="{FF2B5EF4-FFF2-40B4-BE49-F238E27FC236}">
                <a16:creationId xmlns:a16="http://schemas.microsoft.com/office/drawing/2014/main" id="{7DC50A98-5370-4C8B-B8D1-503947AC75CC}"/>
              </a:ext>
            </a:extLst>
          </p:cNvPr>
          <p:cNvGrpSpPr/>
          <p:nvPr/>
        </p:nvGrpSpPr>
        <p:grpSpPr>
          <a:xfrm>
            <a:off x="5748229" y="2497141"/>
            <a:ext cx="1352367" cy="1490500"/>
            <a:chOff x="7605510" y="1009369"/>
            <a:chExt cx="1800000" cy="1983855"/>
          </a:xfrm>
        </p:grpSpPr>
        <p:sp>
          <p:nvSpPr>
            <p:cNvPr id="50" name="Rectangle: Diagonal Corners Rounded 49">
              <a:extLst>
                <a:ext uri="{FF2B5EF4-FFF2-40B4-BE49-F238E27FC236}">
                  <a16:creationId xmlns:a16="http://schemas.microsoft.com/office/drawing/2014/main" id="{551609DD-6AB0-41A0-876A-613EAEE0CE9C}"/>
                </a:ext>
              </a:extLst>
            </p:cNvPr>
            <p:cNvSpPr/>
            <p:nvPr/>
          </p:nvSpPr>
          <p:spPr>
            <a:xfrm>
              <a:off x="7954184" y="1009369"/>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51" name="TextBox 50">
              <a:extLst>
                <a:ext uri="{FF2B5EF4-FFF2-40B4-BE49-F238E27FC236}">
                  <a16:creationId xmlns:a16="http://schemas.microsoft.com/office/drawing/2014/main" id="{CD57052D-7037-4465-9AC7-C2F505331E0B}"/>
                </a:ext>
              </a:extLst>
            </p:cNvPr>
            <p:cNvSpPr txBox="1"/>
            <p:nvPr/>
          </p:nvSpPr>
          <p:spPr>
            <a:xfrm>
              <a:off x="7605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DEQM</a:t>
              </a:r>
            </a:p>
          </p:txBody>
        </p:sp>
        <p:pic>
          <p:nvPicPr>
            <p:cNvPr id="52" name="Picture 51">
              <a:extLst>
                <a:ext uri="{FF2B5EF4-FFF2-40B4-BE49-F238E27FC236}">
                  <a16:creationId xmlns:a16="http://schemas.microsoft.com/office/drawing/2014/main" id="{35AF647C-2773-4177-BF0E-2DB056E5EBB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047513" y="1062000"/>
              <a:ext cx="915444" cy="915444"/>
            </a:xfrm>
            <a:prstGeom prst="rect">
              <a:avLst/>
            </a:prstGeom>
          </p:spPr>
        </p:pic>
      </p:grpSp>
      <p:grpSp>
        <p:nvGrpSpPr>
          <p:cNvPr id="62" name="Group 61">
            <a:extLst>
              <a:ext uri="{FF2B5EF4-FFF2-40B4-BE49-F238E27FC236}">
                <a16:creationId xmlns:a16="http://schemas.microsoft.com/office/drawing/2014/main" id="{946462FD-829B-4345-BCEB-7501ED399846}"/>
              </a:ext>
            </a:extLst>
          </p:cNvPr>
          <p:cNvGrpSpPr/>
          <p:nvPr/>
        </p:nvGrpSpPr>
        <p:grpSpPr>
          <a:xfrm>
            <a:off x="3378951" y="2510985"/>
            <a:ext cx="1352367" cy="1426969"/>
            <a:chOff x="5696020" y="3073636"/>
            <a:chExt cx="1800000" cy="1899296"/>
          </a:xfrm>
        </p:grpSpPr>
        <p:sp>
          <p:nvSpPr>
            <p:cNvPr id="54" name="Rectangle: Diagonal Corners Rounded 53">
              <a:extLst>
                <a:ext uri="{FF2B5EF4-FFF2-40B4-BE49-F238E27FC236}">
                  <a16:creationId xmlns:a16="http://schemas.microsoft.com/office/drawing/2014/main" id="{3A399E88-BB41-4265-A7E4-65D6169F5CAB}"/>
                </a:ext>
              </a:extLst>
            </p:cNvPr>
            <p:cNvSpPr/>
            <p:nvPr/>
          </p:nvSpPr>
          <p:spPr>
            <a:xfrm>
              <a:off x="6047020" y="3073636"/>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5" name="TextBox 54">
              <a:extLst>
                <a:ext uri="{FF2B5EF4-FFF2-40B4-BE49-F238E27FC236}">
                  <a16:creationId xmlns:a16="http://schemas.microsoft.com/office/drawing/2014/main" id="{940A0095-305A-409C-AC37-428AAF02DE21}"/>
                </a:ext>
              </a:extLst>
            </p:cNvPr>
            <p:cNvSpPr txBox="1"/>
            <p:nvPr/>
          </p:nvSpPr>
          <p:spPr>
            <a:xfrm>
              <a:off x="5696020" y="4252931"/>
              <a:ext cx="1800000" cy="720001"/>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QI Core</a:t>
              </a:r>
            </a:p>
          </p:txBody>
        </p:sp>
        <p:pic>
          <p:nvPicPr>
            <p:cNvPr id="56" name="Picture 55">
              <a:extLst>
                <a:ext uri="{FF2B5EF4-FFF2-40B4-BE49-F238E27FC236}">
                  <a16:creationId xmlns:a16="http://schemas.microsoft.com/office/drawing/2014/main" id="{892D2C18-285C-4E38-B7B9-95F488DE47E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216132" y="3241965"/>
              <a:ext cx="759776" cy="759776"/>
            </a:xfrm>
            <a:prstGeom prst="rect">
              <a:avLst/>
            </a:prstGeom>
          </p:spPr>
        </p:pic>
      </p:grpSp>
      <p:grpSp>
        <p:nvGrpSpPr>
          <p:cNvPr id="61" name="Group 60">
            <a:extLst>
              <a:ext uri="{FF2B5EF4-FFF2-40B4-BE49-F238E27FC236}">
                <a16:creationId xmlns:a16="http://schemas.microsoft.com/office/drawing/2014/main" id="{F9A15AC5-BCB3-4C33-82A6-BBB9B9A0CB16}"/>
              </a:ext>
            </a:extLst>
          </p:cNvPr>
          <p:cNvGrpSpPr/>
          <p:nvPr/>
        </p:nvGrpSpPr>
        <p:grpSpPr>
          <a:xfrm>
            <a:off x="1925670" y="2530532"/>
            <a:ext cx="1352367" cy="1426969"/>
            <a:chOff x="4169112" y="3087282"/>
            <a:chExt cx="1800000" cy="1899296"/>
          </a:xfrm>
        </p:grpSpPr>
        <p:sp>
          <p:nvSpPr>
            <p:cNvPr id="58" name="Rectangle: Diagonal Corners Rounded 57">
              <a:extLst>
                <a:ext uri="{FF2B5EF4-FFF2-40B4-BE49-F238E27FC236}">
                  <a16:creationId xmlns:a16="http://schemas.microsoft.com/office/drawing/2014/main" id="{E68EA5AB-0282-4FB5-B043-398AFD24ED15}"/>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9" name="TextBox 58">
              <a:extLst>
                <a:ext uri="{FF2B5EF4-FFF2-40B4-BE49-F238E27FC236}">
                  <a16:creationId xmlns:a16="http://schemas.microsoft.com/office/drawing/2014/main" id="{2A8CBD78-D584-41C2-8C4F-0FCA6E7DED74}"/>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US </a:t>
              </a:r>
              <a:r>
                <a:rPr lang="en-US" sz="1200" kern="1200" dirty="0"/>
                <a:t>Core</a:t>
              </a:r>
            </a:p>
          </p:txBody>
        </p:sp>
        <p:pic>
          <p:nvPicPr>
            <p:cNvPr id="60" name="Picture 59">
              <a:extLst>
                <a:ext uri="{FF2B5EF4-FFF2-40B4-BE49-F238E27FC236}">
                  <a16:creationId xmlns:a16="http://schemas.microsoft.com/office/drawing/2014/main" id="{AA2D18FC-4896-4C81-8153-2118D8A1345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30094" y="3233644"/>
              <a:ext cx="790018" cy="790018"/>
            </a:xfrm>
            <a:prstGeom prst="rect">
              <a:avLst/>
            </a:prstGeom>
          </p:spPr>
        </p:pic>
      </p:grpSp>
      <p:grpSp>
        <p:nvGrpSpPr>
          <p:cNvPr id="1025" name="Group 1024">
            <a:extLst>
              <a:ext uri="{FF2B5EF4-FFF2-40B4-BE49-F238E27FC236}">
                <a16:creationId xmlns:a16="http://schemas.microsoft.com/office/drawing/2014/main" id="{DC5ECB4C-0930-4027-9656-2CB10CAF50CF}"/>
              </a:ext>
            </a:extLst>
          </p:cNvPr>
          <p:cNvGrpSpPr/>
          <p:nvPr/>
        </p:nvGrpSpPr>
        <p:grpSpPr>
          <a:xfrm>
            <a:off x="7319149" y="2505367"/>
            <a:ext cx="1352367" cy="1489677"/>
            <a:chOff x="6039510" y="1010463"/>
            <a:chExt cx="1800000" cy="1982761"/>
          </a:xfrm>
        </p:grpSpPr>
        <p:sp>
          <p:nvSpPr>
            <p:cNvPr id="45" name="Rectangle: Diagonal Corners Rounded 44">
              <a:extLst>
                <a:ext uri="{FF2B5EF4-FFF2-40B4-BE49-F238E27FC236}">
                  <a16:creationId xmlns:a16="http://schemas.microsoft.com/office/drawing/2014/main" id="{79280F84-27CE-4A49-9C3D-3FA051F13911}"/>
                </a:ext>
              </a:extLst>
            </p:cNvPr>
            <p:cNvSpPr/>
            <p:nvPr/>
          </p:nvSpPr>
          <p:spPr>
            <a:xfrm>
              <a:off x="6390510" y="1010463"/>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46" name="TextBox 45">
              <a:extLst>
                <a:ext uri="{FF2B5EF4-FFF2-40B4-BE49-F238E27FC236}">
                  <a16:creationId xmlns:a16="http://schemas.microsoft.com/office/drawing/2014/main" id="{09D92C2E-611C-43F4-BF87-CCD3E2F9E152}"/>
                </a:ext>
              </a:extLst>
            </p:cNvPr>
            <p:cNvSpPr txBox="1"/>
            <p:nvPr/>
          </p:nvSpPr>
          <p:spPr>
            <a:xfrm>
              <a:off x="6039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QM</a:t>
              </a:r>
            </a:p>
          </p:txBody>
        </p:sp>
        <p:pic>
          <p:nvPicPr>
            <p:cNvPr id="47" name="Picture 46">
              <a:extLst>
                <a:ext uri="{FF2B5EF4-FFF2-40B4-BE49-F238E27FC236}">
                  <a16:creationId xmlns:a16="http://schemas.microsoft.com/office/drawing/2014/main" id="{D040E69D-024F-4CF8-90D6-4D53E1FBCBD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430334" y="1050287"/>
              <a:ext cx="1018351" cy="1018351"/>
            </a:xfrm>
            <a:prstGeom prst="rect">
              <a:avLst/>
            </a:prstGeom>
          </p:spPr>
        </p:pic>
      </p:grpSp>
      <p:grpSp>
        <p:nvGrpSpPr>
          <p:cNvPr id="1034" name="Group 1033">
            <a:extLst>
              <a:ext uri="{FF2B5EF4-FFF2-40B4-BE49-F238E27FC236}">
                <a16:creationId xmlns:a16="http://schemas.microsoft.com/office/drawing/2014/main" id="{EFF7093A-9DF6-4DFF-820D-8F2D07BF7632}"/>
              </a:ext>
            </a:extLst>
          </p:cNvPr>
          <p:cNvGrpSpPr/>
          <p:nvPr/>
        </p:nvGrpSpPr>
        <p:grpSpPr>
          <a:xfrm>
            <a:off x="6050265" y="466374"/>
            <a:ext cx="1081487" cy="1103642"/>
            <a:chOff x="2233320" y="309617"/>
            <a:chExt cx="1439460" cy="1468948"/>
          </a:xfrm>
        </p:grpSpPr>
        <p:sp>
          <p:nvSpPr>
            <p:cNvPr id="68" name="Rectangle: Diagonal Corners Rounded 67">
              <a:extLst>
                <a:ext uri="{FF2B5EF4-FFF2-40B4-BE49-F238E27FC236}">
                  <a16:creationId xmlns:a16="http://schemas.microsoft.com/office/drawing/2014/main" id="{2A4620E3-D0B4-4327-9BA3-428DD18C8189}"/>
                </a:ext>
              </a:extLst>
            </p:cNvPr>
            <p:cNvSpPr/>
            <p:nvPr/>
          </p:nvSpPr>
          <p:spPr>
            <a:xfrm>
              <a:off x="2404050" y="309617"/>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3" name="TextBox 72">
              <a:extLst>
                <a:ext uri="{FF2B5EF4-FFF2-40B4-BE49-F238E27FC236}">
                  <a16:creationId xmlns:a16="http://schemas.microsoft.com/office/drawing/2014/main" id="{4AF53698-EFAC-42E3-AB7E-35204BD8957A}"/>
                </a:ext>
              </a:extLst>
            </p:cNvPr>
            <p:cNvSpPr txBox="1"/>
            <p:nvPr/>
          </p:nvSpPr>
          <p:spPr>
            <a:xfrm>
              <a:off x="2233320"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HEDIS</a:t>
              </a:r>
              <a:endParaRPr lang="en-US" sz="1200" kern="1200" dirty="0"/>
            </a:p>
          </p:txBody>
        </p:sp>
        <p:pic>
          <p:nvPicPr>
            <p:cNvPr id="1029" name="Picture 1028">
              <a:extLst>
                <a:ext uri="{FF2B5EF4-FFF2-40B4-BE49-F238E27FC236}">
                  <a16:creationId xmlns:a16="http://schemas.microsoft.com/office/drawing/2014/main" id="{40DEF351-6439-42F8-905A-85687B5B6EF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558480" y="411773"/>
              <a:ext cx="789140" cy="789140"/>
            </a:xfrm>
            <a:prstGeom prst="rect">
              <a:avLst/>
            </a:prstGeom>
          </p:spPr>
        </p:pic>
      </p:grpSp>
      <p:grpSp>
        <p:nvGrpSpPr>
          <p:cNvPr id="1035" name="Group 1034">
            <a:extLst>
              <a:ext uri="{FF2B5EF4-FFF2-40B4-BE49-F238E27FC236}">
                <a16:creationId xmlns:a16="http://schemas.microsoft.com/office/drawing/2014/main" id="{B3C0FEBF-EE79-4526-8170-EB88FF542819}"/>
              </a:ext>
            </a:extLst>
          </p:cNvPr>
          <p:cNvGrpSpPr/>
          <p:nvPr/>
        </p:nvGrpSpPr>
        <p:grpSpPr>
          <a:xfrm>
            <a:off x="8189880" y="403525"/>
            <a:ext cx="1081487" cy="1124502"/>
            <a:chOff x="3560576" y="281853"/>
            <a:chExt cx="1439460" cy="1496712"/>
          </a:xfrm>
        </p:grpSpPr>
        <p:sp>
          <p:nvSpPr>
            <p:cNvPr id="69" name="Rectangle: Diagonal Corners Rounded 68">
              <a:extLst>
                <a:ext uri="{FF2B5EF4-FFF2-40B4-BE49-F238E27FC236}">
                  <a16:creationId xmlns:a16="http://schemas.microsoft.com/office/drawing/2014/main" id="{0755C0F0-07C4-48D5-ACE4-5B4D79D55CC3}"/>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4" name="TextBox 73">
              <a:extLst>
                <a:ext uri="{FF2B5EF4-FFF2-40B4-BE49-F238E27FC236}">
                  <a16:creationId xmlns:a16="http://schemas.microsoft.com/office/drawing/2014/main" id="{50530CFD-9A27-4EFB-977F-BD3B5C23C42E}"/>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CDC Opioid Prescribing</a:t>
              </a:r>
              <a:endParaRPr lang="en-US" sz="1200" kern="1200" dirty="0"/>
            </a:p>
          </p:txBody>
        </p:sp>
        <p:pic>
          <p:nvPicPr>
            <p:cNvPr id="1031" name="Picture 1030">
              <a:extLst>
                <a:ext uri="{FF2B5EF4-FFF2-40B4-BE49-F238E27FC236}">
                  <a16:creationId xmlns:a16="http://schemas.microsoft.com/office/drawing/2014/main" id="{1A1FD9C7-CA92-44AD-90CC-44E1FC049CE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grpSp>
        <p:nvGrpSpPr>
          <p:cNvPr id="1036" name="Group 1035">
            <a:extLst>
              <a:ext uri="{FF2B5EF4-FFF2-40B4-BE49-F238E27FC236}">
                <a16:creationId xmlns:a16="http://schemas.microsoft.com/office/drawing/2014/main" id="{EF3BAE44-DC4A-4D2E-9106-986E9FDCFB6B}"/>
              </a:ext>
            </a:extLst>
          </p:cNvPr>
          <p:cNvGrpSpPr/>
          <p:nvPr/>
        </p:nvGrpSpPr>
        <p:grpSpPr>
          <a:xfrm>
            <a:off x="10329496" y="412989"/>
            <a:ext cx="1081487" cy="1149447"/>
            <a:chOff x="9617220" y="250586"/>
            <a:chExt cx="1439460" cy="1529914"/>
          </a:xfrm>
        </p:grpSpPr>
        <p:sp>
          <p:nvSpPr>
            <p:cNvPr id="70" name="Rectangle: Diagonal Corners Rounded 69">
              <a:extLst>
                <a:ext uri="{FF2B5EF4-FFF2-40B4-BE49-F238E27FC236}">
                  <a16:creationId xmlns:a16="http://schemas.microsoft.com/office/drawing/2014/main" id="{2BB0788D-F592-4FDF-8201-403FD0ECE323}"/>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5" name="TextBox 74">
              <a:extLst>
                <a:ext uri="{FF2B5EF4-FFF2-40B4-BE49-F238E27FC236}">
                  <a16:creationId xmlns:a16="http://schemas.microsoft.com/office/drawing/2014/main" id="{6F17FE83-5720-40A7-81CB-C12A11AE9434}"/>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ANC</a:t>
              </a:r>
              <a:endParaRPr lang="en-US" sz="1200" kern="1200" dirty="0"/>
            </a:p>
          </p:txBody>
        </p:sp>
        <p:pic>
          <p:nvPicPr>
            <p:cNvPr id="1033" name="Picture 1032">
              <a:extLst>
                <a:ext uri="{FF2B5EF4-FFF2-40B4-BE49-F238E27FC236}">
                  <a16:creationId xmlns:a16="http://schemas.microsoft.com/office/drawing/2014/main" id="{0DD2C3BF-771C-49B6-B990-5ADD1F9077C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sp>
        <p:nvSpPr>
          <p:cNvPr id="1051" name="Arrow: Left-Right 1050">
            <a:extLst>
              <a:ext uri="{FF2B5EF4-FFF2-40B4-BE49-F238E27FC236}">
                <a16:creationId xmlns:a16="http://schemas.microsoft.com/office/drawing/2014/main" id="{60B2AAAC-87B3-455C-95B7-BB2A507FA255}"/>
              </a:ext>
            </a:extLst>
          </p:cNvPr>
          <p:cNvSpPr/>
          <p:nvPr/>
        </p:nvSpPr>
        <p:spPr>
          <a:xfrm>
            <a:off x="10061887" y="2689845"/>
            <a:ext cx="433561" cy="235859"/>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Arrow: Bent 1053">
            <a:extLst>
              <a:ext uri="{FF2B5EF4-FFF2-40B4-BE49-F238E27FC236}">
                <a16:creationId xmlns:a16="http://schemas.microsoft.com/office/drawing/2014/main" id="{7AB1F3AF-037E-4F34-ABED-47AD164767E0}"/>
              </a:ext>
            </a:extLst>
          </p:cNvPr>
          <p:cNvSpPr/>
          <p:nvPr/>
        </p:nvSpPr>
        <p:spPr>
          <a:xfrm rot="16200000">
            <a:off x="9726068" y="3502617"/>
            <a:ext cx="436817" cy="102658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5" name="Arrow: Up 114">
            <a:extLst>
              <a:ext uri="{FF2B5EF4-FFF2-40B4-BE49-F238E27FC236}">
                <a16:creationId xmlns:a16="http://schemas.microsoft.com/office/drawing/2014/main" id="{8123EF39-9B11-43B1-A79F-09298F53D43D}"/>
              </a:ext>
            </a:extLst>
          </p:cNvPr>
          <p:cNvSpPr/>
          <p:nvPr/>
        </p:nvSpPr>
        <p:spPr>
          <a:xfrm rot="5400000">
            <a:off x="3209046" y="2630950"/>
            <a:ext cx="262067" cy="531024"/>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rrow: Bent 115">
            <a:extLst>
              <a:ext uri="{FF2B5EF4-FFF2-40B4-BE49-F238E27FC236}">
                <a16:creationId xmlns:a16="http://schemas.microsoft.com/office/drawing/2014/main" id="{58A871F3-AF46-4078-8B4B-C9C7FFAABD6E}"/>
              </a:ext>
            </a:extLst>
          </p:cNvPr>
          <p:cNvSpPr/>
          <p:nvPr/>
        </p:nvSpPr>
        <p:spPr>
          <a:xfrm rot="16200000">
            <a:off x="3725737" y="2774506"/>
            <a:ext cx="690510" cy="3131488"/>
          </a:xfrm>
          <a:prstGeom prst="bentArrow">
            <a:avLst>
              <a:gd name="adj1" fmla="val 14269"/>
              <a:gd name="adj2" fmla="val 19109"/>
              <a:gd name="adj3" fmla="val 23764"/>
              <a:gd name="adj4" fmla="val 248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9" name="Arrow: Bent 118">
            <a:extLst>
              <a:ext uri="{FF2B5EF4-FFF2-40B4-BE49-F238E27FC236}">
                <a16:creationId xmlns:a16="http://schemas.microsoft.com/office/drawing/2014/main" id="{EC12D5A4-4075-434D-989F-805BF9D8F083}"/>
              </a:ext>
            </a:extLst>
          </p:cNvPr>
          <p:cNvSpPr/>
          <p:nvPr/>
        </p:nvSpPr>
        <p:spPr>
          <a:xfrm rot="16200000">
            <a:off x="6983872" y="1130358"/>
            <a:ext cx="436817" cy="1557762"/>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1" name="Arrow: Bent 120">
            <a:extLst>
              <a:ext uri="{FF2B5EF4-FFF2-40B4-BE49-F238E27FC236}">
                <a16:creationId xmlns:a16="http://schemas.microsoft.com/office/drawing/2014/main" id="{3C5B600D-B003-4F23-B24F-32B298F54881}"/>
              </a:ext>
            </a:extLst>
          </p:cNvPr>
          <p:cNvSpPr/>
          <p:nvPr/>
        </p:nvSpPr>
        <p:spPr>
          <a:xfrm rot="16200000">
            <a:off x="8879418" y="1408034"/>
            <a:ext cx="436817" cy="954195"/>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Left Brace 33">
            <a:extLst>
              <a:ext uri="{FF2B5EF4-FFF2-40B4-BE49-F238E27FC236}">
                <a16:creationId xmlns:a16="http://schemas.microsoft.com/office/drawing/2014/main" id="{86F3EC75-A9A9-4579-97D5-436BFFE8961B}"/>
              </a:ext>
            </a:extLst>
          </p:cNvPr>
          <p:cNvSpPr/>
          <p:nvPr/>
        </p:nvSpPr>
        <p:spPr>
          <a:xfrm>
            <a:off x="5381139" y="2163195"/>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5A1B848B-1802-46B9-BA5D-E1D59ACAF2FE}"/>
              </a:ext>
            </a:extLst>
          </p:cNvPr>
          <p:cNvSpPr txBox="1"/>
          <p:nvPr/>
        </p:nvSpPr>
        <p:spPr>
          <a:xfrm rot="16200000">
            <a:off x="4280323" y="2885073"/>
            <a:ext cx="1725922" cy="369332"/>
          </a:xfrm>
          <a:prstGeom prst="rect">
            <a:avLst/>
          </a:prstGeom>
          <a:noFill/>
        </p:spPr>
        <p:txBody>
          <a:bodyPr wrap="none" rtlCol="0">
            <a:spAutoFit/>
          </a:bodyPr>
          <a:lstStyle/>
          <a:p>
            <a:r>
              <a:rPr lang="en-US" dirty="0"/>
              <a:t>Specification IGs</a:t>
            </a:r>
          </a:p>
        </p:txBody>
      </p:sp>
      <p:sp>
        <p:nvSpPr>
          <p:cNvPr id="86" name="Left Brace 85">
            <a:extLst>
              <a:ext uri="{FF2B5EF4-FFF2-40B4-BE49-F238E27FC236}">
                <a16:creationId xmlns:a16="http://schemas.microsoft.com/office/drawing/2014/main" id="{C62B7F98-559D-4442-A146-1681DF335B47}"/>
              </a:ext>
            </a:extLst>
          </p:cNvPr>
          <p:cNvSpPr/>
          <p:nvPr/>
        </p:nvSpPr>
        <p:spPr>
          <a:xfrm>
            <a:off x="5607510" y="195150"/>
            <a:ext cx="345815" cy="1471573"/>
          </a:xfrm>
          <a:prstGeom prst="leftBrace">
            <a:avLst>
              <a:gd name="adj1" fmla="val 5179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106CFAD7-A0D5-4C23-9B3C-C76B87F66400}"/>
              </a:ext>
            </a:extLst>
          </p:cNvPr>
          <p:cNvSpPr txBox="1"/>
          <p:nvPr/>
        </p:nvSpPr>
        <p:spPr>
          <a:xfrm rot="16200000">
            <a:off x="4745755" y="702885"/>
            <a:ext cx="1282402" cy="369332"/>
          </a:xfrm>
          <a:prstGeom prst="rect">
            <a:avLst/>
          </a:prstGeom>
          <a:noFill/>
        </p:spPr>
        <p:txBody>
          <a:bodyPr wrap="none" rtlCol="0">
            <a:spAutoFit/>
          </a:bodyPr>
          <a:lstStyle/>
          <a:p>
            <a:r>
              <a:rPr lang="en-US" dirty="0"/>
              <a:t>Content IGs</a:t>
            </a:r>
          </a:p>
        </p:txBody>
      </p:sp>
      <p:grpSp>
        <p:nvGrpSpPr>
          <p:cNvPr id="40" name="Group 39">
            <a:extLst>
              <a:ext uri="{FF2B5EF4-FFF2-40B4-BE49-F238E27FC236}">
                <a16:creationId xmlns:a16="http://schemas.microsoft.com/office/drawing/2014/main" id="{2B8DFAB3-06FB-4F7B-8A5F-9F5691295A72}"/>
              </a:ext>
            </a:extLst>
          </p:cNvPr>
          <p:cNvGrpSpPr/>
          <p:nvPr/>
        </p:nvGrpSpPr>
        <p:grpSpPr>
          <a:xfrm>
            <a:off x="7077481" y="4964946"/>
            <a:ext cx="1352367" cy="1622840"/>
            <a:chOff x="8839975" y="5007698"/>
            <a:chExt cx="1352367" cy="1622840"/>
          </a:xfrm>
        </p:grpSpPr>
        <p:grpSp>
          <p:nvGrpSpPr>
            <p:cNvPr id="88" name="Group 87">
              <a:extLst>
                <a:ext uri="{FF2B5EF4-FFF2-40B4-BE49-F238E27FC236}">
                  <a16:creationId xmlns:a16="http://schemas.microsoft.com/office/drawing/2014/main" id="{9585D622-B740-4776-BB26-D2F4FF71F040}"/>
                </a:ext>
              </a:extLst>
            </p:cNvPr>
            <p:cNvGrpSpPr/>
            <p:nvPr/>
          </p:nvGrpSpPr>
          <p:grpSpPr>
            <a:xfrm>
              <a:off x="8839975" y="5007698"/>
              <a:ext cx="1352367" cy="1622840"/>
              <a:chOff x="9426000" y="2349000"/>
              <a:chExt cx="1800000" cy="2160000"/>
            </a:xfrm>
          </p:grpSpPr>
          <p:sp>
            <p:nvSpPr>
              <p:cNvPr id="89" name="Rectangle: Diagonal Corners Rounded 88">
                <a:extLst>
                  <a:ext uri="{FF2B5EF4-FFF2-40B4-BE49-F238E27FC236}">
                    <a16:creationId xmlns:a16="http://schemas.microsoft.com/office/drawing/2014/main" id="{2211EBFB-75E4-4DED-84FC-9CCAB61973A3}"/>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91" name="Group 90">
                <a:extLst>
                  <a:ext uri="{FF2B5EF4-FFF2-40B4-BE49-F238E27FC236}">
                    <a16:creationId xmlns:a16="http://schemas.microsoft.com/office/drawing/2014/main" id="{0D62A307-D1F4-4C6D-B6A8-A6B8EED2B24B}"/>
                  </a:ext>
                </a:extLst>
              </p:cNvPr>
              <p:cNvGrpSpPr/>
              <p:nvPr/>
            </p:nvGrpSpPr>
            <p:grpSpPr>
              <a:xfrm>
                <a:off x="9426000" y="3789000"/>
                <a:ext cx="1800000" cy="720000"/>
                <a:chOff x="8587800" y="2535669"/>
                <a:chExt cx="1800000" cy="720000"/>
              </a:xfrm>
            </p:grpSpPr>
            <p:sp>
              <p:nvSpPr>
                <p:cNvPr id="92" name="Rectangle 91">
                  <a:extLst>
                    <a:ext uri="{FF2B5EF4-FFF2-40B4-BE49-F238E27FC236}">
                      <a16:creationId xmlns:a16="http://schemas.microsoft.com/office/drawing/2014/main" id="{68536BB4-2C0E-45B4-BEE7-C6E06B82BF01}"/>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93" name="TextBox 92">
                  <a:extLst>
                    <a:ext uri="{FF2B5EF4-FFF2-40B4-BE49-F238E27FC236}">
                      <a16:creationId xmlns:a16="http://schemas.microsoft.com/office/drawing/2014/main" id="{4AB3AFEB-4B45-4333-8269-C89623AE0513}"/>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err="1"/>
                    <a:t>FHIRPath</a:t>
                  </a:r>
                  <a:endParaRPr lang="en-US" sz="1200" kern="1200" dirty="0"/>
                </a:p>
              </p:txBody>
            </p:sp>
          </p:grpSp>
        </p:grpSp>
        <p:pic>
          <p:nvPicPr>
            <p:cNvPr id="38" name="Picture 37">
              <a:extLst>
                <a:ext uri="{FF2B5EF4-FFF2-40B4-BE49-F238E27FC236}">
                  <a16:creationId xmlns:a16="http://schemas.microsoft.com/office/drawing/2014/main" id="{9F94C103-1645-4245-9530-EE5989AF4B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251398" y="5116289"/>
              <a:ext cx="584756" cy="584756"/>
            </a:xfrm>
            <a:prstGeom prst="rect">
              <a:avLst/>
            </a:prstGeom>
          </p:spPr>
        </p:pic>
      </p:grpSp>
      <p:grpSp>
        <p:nvGrpSpPr>
          <p:cNvPr id="36" name="Group 35">
            <a:extLst>
              <a:ext uri="{FF2B5EF4-FFF2-40B4-BE49-F238E27FC236}">
                <a16:creationId xmlns:a16="http://schemas.microsoft.com/office/drawing/2014/main" id="{97C383BA-C3EB-4C0B-AA20-33A6B1A2CE2A}"/>
              </a:ext>
            </a:extLst>
          </p:cNvPr>
          <p:cNvGrpSpPr/>
          <p:nvPr/>
        </p:nvGrpSpPr>
        <p:grpSpPr>
          <a:xfrm>
            <a:off x="8177096" y="4964946"/>
            <a:ext cx="1352367" cy="1622840"/>
            <a:chOff x="10011961" y="4984809"/>
            <a:chExt cx="1352367" cy="1622840"/>
          </a:xfrm>
        </p:grpSpPr>
        <p:grpSp>
          <p:nvGrpSpPr>
            <p:cNvPr id="103" name="Group 102">
              <a:extLst>
                <a:ext uri="{FF2B5EF4-FFF2-40B4-BE49-F238E27FC236}">
                  <a16:creationId xmlns:a16="http://schemas.microsoft.com/office/drawing/2014/main" id="{66147118-99FB-4F6B-8B19-C4285A96B1DB}"/>
                </a:ext>
              </a:extLst>
            </p:cNvPr>
            <p:cNvGrpSpPr/>
            <p:nvPr/>
          </p:nvGrpSpPr>
          <p:grpSpPr>
            <a:xfrm>
              <a:off x="10011961" y="4984809"/>
              <a:ext cx="1352367" cy="1622840"/>
              <a:chOff x="9426000" y="2349000"/>
              <a:chExt cx="1800000" cy="2160000"/>
            </a:xfrm>
          </p:grpSpPr>
          <p:sp>
            <p:nvSpPr>
              <p:cNvPr id="105" name="Rectangle: Diagonal Corners Rounded 104">
                <a:extLst>
                  <a:ext uri="{FF2B5EF4-FFF2-40B4-BE49-F238E27FC236}">
                    <a16:creationId xmlns:a16="http://schemas.microsoft.com/office/drawing/2014/main" id="{F8CCAF75-BE03-43D0-8EFC-D672014A0DF2}"/>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06" name="Group 105">
                <a:extLst>
                  <a:ext uri="{FF2B5EF4-FFF2-40B4-BE49-F238E27FC236}">
                    <a16:creationId xmlns:a16="http://schemas.microsoft.com/office/drawing/2014/main" id="{2BF21E6E-CC85-417E-B278-EEC4E1862DC9}"/>
                  </a:ext>
                </a:extLst>
              </p:cNvPr>
              <p:cNvGrpSpPr/>
              <p:nvPr/>
            </p:nvGrpSpPr>
            <p:grpSpPr>
              <a:xfrm>
                <a:off x="9426000" y="3789000"/>
                <a:ext cx="1800000" cy="720000"/>
                <a:chOff x="8587800" y="2535669"/>
                <a:chExt cx="1800000" cy="720000"/>
              </a:xfrm>
            </p:grpSpPr>
            <p:sp>
              <p:nvSpPr>
                <p:cNvPr id="107" name="Rectangle 106">
                  <a:extLst>
                    <a:ext uri="{FF2B5EF4-FFF2-40B4-BE49-F238E27FC236}">
                      <a16:creationId xmlns:a16="http://schemas.microsoft.com/office/drawing/2014/main" id="{FF76E184-8598-44E4-B4BE-50C178A9BCCC}"/>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08" name="TextBox 107">
                  <a:extLst>
                    <a:ext uri="{FF2B5EF4-FFF2-40B4-BE49-F238E27FC236}">
                      <a16:creationId xmlns:a16="http://schemas.microsoft.com/office/drawing/2014/main" id="{AE0C9817-9135-461A-9E14-BF346D4A42E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CQL</a:t>
                  </a:r>
                </a:p>
              </p:txBody>
            </p:sp>
          </p:grpSp>
        </p:grpSp>
        <p:pic>
          <p:nvPicPr>
            <p:cNvPr id="48" name="Picture 47">
              <a:extLst>
                <a:ext uri="{FF2B5EF4-FFF2-40B4-BE49-F238E27FC236}">
                  <a16:creationId xmlns:a16="http://schemas.microsoft.com/office/drawing/2014/main" id="{E2BAB5B6-AB15-4999-95E0-A9EAA61D4CB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384240" y="5089793"/>
              <a:ext cx="607807" cy="607807"/>
            </a:xfrm>
            <a:prstGeom prst="rect">
              <a:avLst/>
            </a:prstGeom>
          </p:spPr>
        </p:pic>
      </p:grpSp>
      <p:sp>
        <p:nvSpPr>
          <p:cNvPr id="100" name="Left Brace 99">
            <a:extLst>
              <a:ext uri="{FF2B5EF4-FFF2-40B4-BE49-F238E27FC236}">
                <a16:creationId xmlns:a16="http://schemas.microsoft.com/office/drawing/2014/main" id="{F5A3715A-C5A7-4C7E-98D7-79CDAED40297}"/>
              </a:ext>
            </a:extLst>
          </p:cNvPr>
          <p:cNvSpPr/>
          <p:nvPr/>
        </p:nvSpPr>
        <p:spPr>
          <a:xfrm>
            <a:off x="547803" y="2158517"/>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TextBox 100">
            <a:extLst>
              <a:ext uri="{FF2B5EF4-FFF2-40B4-BE49-F238E27FC236}">
                <a16:creationId xmlns:a16="http://schemas.microsoft.com/office/drawing/2014/main" id="{B0C449FB-8463-47A3-A447-BA8B8866A268}"/>
              </a:ext>
            </a:extLst>
          </p:cNvPr>
          <p:cNvSpPr txBox="1"/>
          <p:nvPr/>
        </p:nvSpPr>
        <p:spPr>
          <a:xfrm rot="16200000">
            <a:off x="-260079" y="2880395"/>
            <a:ext cx="1140056" cy="369332"/>
          </a:xfrm>
          <a:prstGeom prst="rect">
            <a:avLst/>
          </a:prstGeom>
          <a:noFill/>
        </p:spPr>
        <p:txBody>
          <a:bodyPr wrap="none" rtlCol="0">
            <a:spAutoFit/>
          </a:bodyPr>
          <a:lstStyle/>
          <a:p>
            <a:r>
              <a:rPr lang="en-US" dirty="0"/>
              <a:t>Model IGs</a:t>
            </a:r>
          </a:p>
        </p:txBody>
      </p:sp>
      <p:grpSp>
        <p:nvGrpSpPr>
          <p:cNvPr id="49" name="Group 48">
            <a:extLst>
              <a:ext uri="{FF2B5EF4-FFF2-40B4-BE49-F238E27FC236}">
                <a16:creationId xmlns:a16="http://schemas.microsoft.com/office/drawing/2014/main" id="{8B813E42-5DE2-4455-87DB-4FF715FF6BC3}"/>
              </a:ext>
            </a:extLst>
          </p:cNvPr>
          <p:cNvGrpSpPr/>
          <p:nvPr/>
        </p:nvGrpSpPr>
        <p:grpSpPr>
          <a:xfrm>
            <a:off x="709262" y="2530532"/>
            <a:ext cx="1352367" cy="1426969"/>
            <a:chOff x="709262" y="2530532"/>
            <a:chExt cx="1352367" cy="1426969"/>
          </a:xfrm>
        </p:grpSpPr>
        <p:grpSp>
          <p:nvGrpSpPr>
            <p:cNvPr id="102" name="Group 101">
              <a:extLst>
                <a:ext uri="{FF2B5EF4-FFF2-40B4-BE49-F238E27FC236}">
                  <a16:creationId xmlns:a16="http://schemas.microsoft.com/office/drawing/2014/main" id="{99551615-D996-4C73-AD7A-D2B231A10302}"/>
                </a:ext>
              </a:extLst>
            </p:cNvPr>
            <p:cNvGrpSpPr/>
            <p:nvPr/>
          </p:nvGrpSpPr>
          <p:grpSpPr>
            <a:xfrm>
              <a:off x="709262" y="2530532"/>
              <a:ext cx="1352367" cy="1426969"/>
              <a:chOff x="4169112" y="3087282"/>
              <a:chExt cx="1800000" cy="1899296"/>
            </a:xfrm>
          </p:grpSpPr>
          <p:sp>
            <p:nvSpPr>
              <p:cNvPr id="104" name="Rectangle: Diagonal Corners Rounded 103">
                <a:extLst>
                  <a:ext uri="{FF2B5EF4-FFF2-40B4-BE49-F238E27FC236}">
                    <a16:creationId xmlns:a16="http://schemas.microsoft.com/office/drawing/2014/main" id="{D92A3919-A321-4EC5-A5E5-DD52A747DB1B}"/>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9" name="TextBox 108">
                <a:extLst>
                  <a:ext uri="{FF2B5EF4-FFF2-40B4-BE49-F238E27FC236}">
                    <a16:creationId xmlns:a16="http://schemas.microsoft.com/office/drawing/2014/main" id="{949E2625-C5EB-4170-92DF-8D6E6A9A5651}"/>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IPS</a:t>
                </a:r>
                <a:endParaRPr lang="en-US" sz="1200" kern="1200" dirty="0"/>
              </a:p>
            </p:txBody>
          </p:sp>
        </p:grpSp>
        <p:pic>
          <p:nvPicPr>
            <p:cNvPr id="43" name="Picture 42">
              <a:extLst>
                <a:ext uri="{FF2B5EF4-FFF2-40B4-BE49-F238E27FC236}">
                  <a16:creationId xmlns:a16="http://schemas.microsoft.com/office/drawing/2014/main" id="{F3274503-A9CF-4B86-AB2B-6BE696C2B3A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85556" y="2645362"/>
              <a:ext cx="610754" cy="610754"/>
            </a:xfrm>
            <a:prstGeom prst="rect">
              <a:avLst/>
            </a:prstGeom>
          </p:spPr>
        </p:pic>
      </p:grpSp>
      <p:grpSp>
        <p:nvGrpSpPr>
          <p:cNvPr id="65" name="Group 64">
            <a:extLst>
              <a:ext uri="{FF2B5EF4-FFF2-40B4-BE49-F238E27FC236}">
                <a16:creationId xmlns:a16="http://schemas.microsoft.com/office/drawing/2014/main" id="{FBECF050-E3C9-493D-AB1D-ADCED9FEF278}"/>
              </a:ext>
            </a:extLst>
          </p:cNvPr>
          <p:cNvGrpSpPr/>
          <p:nvPr/>
        </p:nvGrpSpPr>
        <p:grpSpPr>
          <a:xfrm>
            <a:off x="9276711" y="4964946"/>
            <a:ext cx="1352367" cy="1622840"/>
            <a:chOff x="9123397" y="4964946"/>
            <a:chExt cx="1352367" cy="1622840"/>
          </a:xfrm>
        </p:grpSpPr>
        <p:grpSp>
          <p:nvGrpSpPr>
            <p:cNvPr id="117" name="Group 116">
              <a:extLst>
                <a:ext uri="{FF2B5EF4-FFF2-40B4-BE49-F238E27FC236}">
                  <a16:creationId xmlns:a16="http://schemas.microsoft.com/office/drawing/2014/main" id="{326D317E-CD30-4F65-BB63-466EA92EAE79}"/>
                </a:ext>
              </a:extLst>
            </p:cNvPr>
            <p:cNvGrpSpPr/>
            <p:nvPr/>
          </p:nvGrpSpPr>
          <p:grpSpPr>
            <a:xfrm>
              <a:off x="9123397" y="4964946"/>
              <a:ext cx="1352367" cy="1622840"/>
              <a:chOff x="9426000" y="2349000"/>
              <a:chExt cx="1800000" cy="2160000"/>
            </a:xfrm>
          </p:grpSpPr>
          <p:sp>
            <p:nvSpPr>
              <p:cNvPr id="125" name="Rectangle: Diagonal Corners Rounded 124">
                <a:extLst>
                  <a:ext uri="{FF2B5EF4-FFF2-40B4-BE49-F238E27FC236}">
                    <a16:creationId xmlns:a16="http://schemas.microsoft.com/office/drawing/2014/main" id="{D5DF4D5B-AC50-4F97-870C-E706AF4E20ED}"/>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26" name="Group 125">
                <a:extLst>
                  <a:ext uri="{FF2B5EF4-FFF2-40B4-BE49-F238E27FC236}">
                    <a16:creationId xmlns:a16="http://schemas.microsoft.com/office/drawing/2014/main" id="{DE88F40C-5C7A-4B38-9440-43BD32F4CBC5}"/>
                  </a:ext>
                </a:extLst>
              </p:cNvPr>
              <p:cNvGrpSpPr/>
              <p:nvPr/>
            </p:nvGrpSpPr>
            <p:grpSpPr>
              <a:xfrm>
                <a:off x="9426000" y="3789000"/>
                <a:ext cx="1800000" cy="720000"/>
                <a:chOff x="8587800" y="2535669"/>
                <a:chExt cx="1800000" cy="720000"/>
              </a:xfrm>
            </p:grpSpPr>
            <p:sp>
              <p:nvSpPr>
                <p:cNvPr id="127" name="Rectangle 126">
                  <a:extLst>
                    <a:ext uri="{FF2B5EF4-FFF2-40B4-BE49-F238E27FC236}">
                      <a16:creationId xmlns:a16="http://schemas.microsoft.com/office/drawing/2014/main" id="{1DCC155F-2427-4AD8-AFB7-1238B65341E0}"/>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28" name="TextBox 127">
                  <a:extLst>
                    <a:ext uri="{FF2B5EF4-FFF2-40B4-BE49-F238E27FC236}">
                      <a16:creationId xmlns:a16="http://schemas.microsoft.com/office/drawing/2014/main" id="{A0C1873B-CC60-43EB-8498-C25902669AA1}"/>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CDS Hooks</a:t>
                  </a:r>
                </a:p>
              </p:txBody>
            </p:sp>
          </p:grpSp>
        </p:grpSp>
        <p:pic>
          <p:nvPicPr>
            <p:cNvPr id="64" name="Picture 63">
              <a:extLst>
                <a:ext uri="{FF2B5EF4-FFF2-40B4-BE49-F238E27FC236}">
                  <a16:creationId xmlns:a16="http://schemas.microsoft.com/office/drawing/2014/main" id="{801618FB-30C9-4030-8C20-8EC2256CE7F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583453" y="5108217"/>
              <a:ext cx="432254" cy="474771"/>
            </a:xfrm>
            <a:prstGeom prst="rect">
              <a:avLst/>
            </a:prstGeom>
          </p:spPr>
        </p:pic>
      </p:grpSp>
      <p:grpSp>
        <p:nvGrpSpPr>
          <p:cNvPr id="66" name="Group 65">
            <a:extLst>
              <a:ext uri="{FF2B5EF4-FFF2-40B4-BE49-F238E27FC236}">
                <a16:creationId xmlns:a16="http://schemas.microsoft.com/office/drawing/2014/main" id="{14DB6233-86BC-4348-894C-600DEBD4C57A}"/>
              </a:ext>
            </a:extLst>
          </p:cNvPr>
          <p:cNvGrpSpPr/>
          <p:nvPr/>
        </p:nvGrpSpPr>
        <p:grpSpPr>
          <a:xfrm>
            <a:off x="10376326" y="4964946"/>
            <a:ext cx="1352367" cy="1622840"/>
            <a:chOff x="10157656" y="4964946"/>
            <a:chExt cx="1352367" cy="1622840"/>
          </a:xfrm>
        </p:grpSpPr>
        <p:grpSp>
          <p:nvGrpSpPr>
            <p:cNvPr id="130" name="Group 129">
              <a:extLst>
                <a:ext uri="{FF2B5EF4-FFF2-40B4-BE49-F238E27FC236}">
                  <a16:creationId xmlns:a16="http://schemas.microsoft.com/office/drawing/2014/main" id="{0C293A96-038E-49B3-BC5D-4F8561E1D655}"/>
                </a:ext>
              </a:extLst>
            </p:cNvPr>
            <p:cNvGrpSpPr/>
            <p:nvPr/>
          </p:nvGrpSpPr>
          <p:grpSpPr>
            <a:xfrm>
              <a:off x="10157656" y="4964946"/>
              <a:ext cx="1352367" cy="1622840"/>
              <a:chOff x="9426000" y="2349000"/>
              <a:chExt cx="1800000" cy="2160000"/>
            </a:xfrm>
          </p:grpSpPr>
          <p:sp>
            <p:nvSpPr>
              <p:cNvPr id="131" name="Rectangle: Diagonal Corners Rounded 130">
                <a:extLst>
                  <a:ext uri="{FF2B5EF4-FFF2-40B4-BE49-F238E27FC236}">
                    <a16:creationId xmlns:a16="http://schemas.microsoft.com/office/drawing/2014/main" id="{E6353EEA-3EEC-4ACC-80B4-CD7716EB7BFB}"/>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32" name="Group 131">
                <a:extLst>
                  <a:ext uri="{FF2B5EF4-FFF2-40B4-BE49-F238E27FC236}">
                    <a16:creationId xmlns:a16="http://schemas.microsoft.com/office/drawing/2014/main" id="{F6B84A81-3D2F-440A-BD5A-D40515D86705}"/>
                  </a:ext>
                </a:extLst>
              </p:cNvPr>
              <p:cNvGrpSpPr/>
              <p:nvPr/>
            </p:nvGrpSpPr>
            <p:grpSpPr>
              <a:xfrm>
                <a:off x="9426000" y="3789000"/>
                <a:ext cx="1800000" cy="720000"/>
                <a:chOff x="8587800" y="2535669"/>
                <a:chExt cx="1800000" cy="720000"/>
              </a:xfrm>
            </p:grpSpPr>
            <p:sp>
              <p:nvSpPr>
                <p:cNvPr id="133" name="Rectangle 132">
                  <a:extLst>
                    <a:ext uri="{FF2B5EF4-FFF2-40B4-BE49-F238E27FC236}">
                      <a16:creationId xmlns:a16="http://schemas.microsoft.com/office/drawing/2014/main" id="{B6268DC6-6D39-4D53-B993-96C3B15D68FF}"/>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34" name="TextBox 133">
                  <a:extLst>
                    <a:ext uri="{FF2B5EF4-FFF2-40B4-BE49-F238E27FC236}">
                      <a16:creationId xmlns:a16="http://schemas.microsoft.com/office/drawing/2014/main" id="{D585DD89-3D7D-403F-AE6C-19D85FB3C577}"/>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SMART</a:t>
                  </a:r>
                </a:p>
              </p:txBody>
            </p:sp>
          </p:grpSp>
        </p:grpSp>
        <p:pic>
          <p:nvPicPr>
            <p:cNvPr id="135" name="Picture 134" descr="smart-logo.png">
              <a:extLst>
                <a:ext uri="{FF2B5EF4-FFF2-40B4-BE49-F238E27FC236}">
                  <a16:creationId xmlns:a16="http://schemas.microsoft.com/office/drawing/2014/main" id="{C2751405-6D8A-4628-AACE-770839E4C596}"/>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0594483" y="5162801"/>
              <a:ext cx="483387" cy="420187"/>
            </a:xfrm>
            <a:prstGeom prst="rect">
              <a:avLst/>
            </a:prstGeom>
          </p:spPr>
        </p:pic>
      </p:grpSp>
      <p:pic>
        <p:nvPicPr>
          <p:cNvPr id="53" name="Picture 52">
            <a:extLst>
              <a:ext uri="{FF2B5EF4-FFF2-40B4-BE49-F238E27FC236}">
                <a16:creationId xmlns:a16="http://schemas.microsoft.com/office/drawing/2014/main" id="{E7DFD763-7080-422C-8662-80C8ED61F56B}"/>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
        <p:nvSpPr>
          <p:cNvPr id="57" name="Arrow: Bent 56">
            <a:extLst>
              <a:ext uri="{FF2B5EF4-FFF2-40B4-BE49-F238E27FC236}">
                <a16:creationId xmlns:a16="http://schemas.microsoft.com/office/drawing/2014/main" id="{4AEFB82F-4394-4129-AFCA-443931D9D14E}"/>
              </a:ext>
            </a:extLst>
          </p:cNvPr>
          <p:cNvSpPr/>
          <p:nvPr/>
        </p:nvSpPr>
        <p:spPr>
          <a:xfrm>
            <a:off x="1337482" y="772259"/>
            <a:ext cx="3633430" cy="1246294"/>
          </a:xfrm>
          <a:prstGeom prst="bentArrow">
            <a:avLst>
              <a:gd name="adj1" fmla="val 10631"/>
              <a:gd name="adj2" fmla="val 13495"/>
              <a:gd name="adj3" fmla="val 14332"/>
              <a:gd name="adj4" fmla="val 40723"/>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7" name="Rectangle 66">
            <a:extLst>
              <a:ext uri="{FF2B5EF4-FFF2-40B4-BE49-F238E27FC236}">
                <a16:creationId xmlns:a16="http://schemas.microsoft.com/office/drawing/2014/main" id="{ED02D3AD-4BF4-4E73-8D35-0A05EA5835E8}"/>
              </a:ext>
            </a:extLst>
          </p:cNvPr>
          <p:cNvSpPr/>
          <p:nvPr/>
        </p:nvSpPr>
        <p:spPr>
          <a:xfrm>
            <a:off x="2505248" y="1002194"/>
            <a:ext cx="121920" cy="10426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EF8B5642-4847-4284-8FFC-AE041B27EA26}"/>
              </a:ext>
            </a:extLst>
          </p:cNvPr>
          <p:cNvSpPr/>
          <p:nvPr/>
        </p:nvSpPr>
        <p:spPr>
          <a:xfrm>
            <a:off x="3994174" y="1002193"/>
            <a:ext cx="121920" cy="104263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84597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Rectangle 113">
            <a:extLst>
              <a:ext uri="{FF2B5EF4-FFF2-40B4-BE49-F238E27FC236}">
                <a16:creationId xmlns:a16="http://schemas.microsoft.com/office/drawing/2014/main" id="{A608B4B3-6ACA-468C-9B87-D84219668E0A}"/>
              </a:ext>
            </a:extLst>
          </p:cNvPr>
          <p:cNvSpPr/>
          <p:nvPr/>
        </p:nvSpPr>
        <p:spPr>
          <a:xfrm>
            <a:off x="6630477" y="4197082"/>
            <a:ext cx="107029" cy="7895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451E572-F133-420E-A19A-95DD3C3141F3}"/>
              </a:ext>
            </a:extLst>
          </p:cNvPr>
          <p:cNvSpPr/>
          <p:nvPr/>
        </p:nvSpPr>
        <p:spPr>
          <a:xfrm>
            <a:off x="4454819" y="4618912"/>
            <a:ext cx="91278"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1143C50-5FDC-46BC-A593-991634435130}"/>
              </a:ext>
            </a:extLst>
          </p:cNvPr>
          <p:cNvSpPr/>
          <p:nvPr/>
        </p:nvSpPr>
        <p:spPr>
          <a:xfrm>
            <a:off x="5538051" y="4618912"/>
            <a:ext cx="98685"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E2D882D9-63AB-4B59-9154-358DCECA153C}"/>
              </a:ext>
            </a:extLst>
          </p:cNvPr>
          <p:cNvSpPr/>
          <p:nvPr/>
        </p:nvSpPr>
        <p:spPr>
          <a:xfrm>
            <a:off x="7488904" y="2003495"/>
            <a:ext cx="110686" cy="355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9E795C3-B100-4602-B5C1-8BDAC22BC8A2}"/>
              </a:ext>
            </a:extLst>
          </p:cNvPr>
          <p:cNvSpPr/>
          <p:nvPr/>
        </p:nvSpPr>
        <p:spPr>
          <a:xfrm>
            <a:off x="9833790" y="2036573"/>
            <a:ext cx="110686" cy="337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row: Bent 121">
            <a:extLst>
              <a:ext uri="{FF2B5EF4-FFF2-40B4-BE49-F238E27FC236}">
                <a16:creationId xmlns:a16="http://schemas.microsoft.com/office/drawing/2014/main" id="{0A371820-FB66-4B8F-861C-142DE7473493}"/>
              </a:ext>
            </a:extLst>
          </p:cNvPr>
          <p:cNvSpPr/>
          <p:nvPr/>
        </p:nvSpPr>
        <p:spPr>
          <a:xfrm rot="16200000" flipV="1">
            <a:off x="9932099" y="1102780"/>
            <a:ext cx="436817" cy="1564703"/>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Arrow: Bent 112">
            <a:extLst>
              <a:ext uri="{FF2B5EF4-FFF2-40B4-BE49-F238E27FC236}">
                <a16:creationId xmlns:a16="http://schemas.microsoft.com/office/drawing/2014/main" id="{F623CBA2-87DE-4DAE-9661-80903D387E03}"/>
              </a:ext>
            </a:extLst>
          </p:cNvPr>
          <p:cNvSpPr/>
          <p:nvPr/>
        </p:nvSpPr>
        <p:spPr>
          <a:xfrm rot="16200000">
            <a:off x="7040147" y="3059041"/>
            <a:ext cx="431451" cy="1919552"/>
          </a:xfrm>
          <a:prstGeom prst="bentArrow">
            <a:avLst>
              <a:gd name="adj1" fmla="val 27528"/>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1" name="Arrow: Bent 110">
            <a:extLst>
              <a:ext uri="{FF2B5EF4-FFF2-40B4-BE49-F238E27FC236}">
                <a16:creationId xmlns:a16="http://schemas.microsoft.com/office/drawing/2014/main" id="{4C086D16-38B3-4EF5-B13A-0FA4227D36A3}"/>
              </a:ext>
            </a:extLst>
          </p:cNvPr>
          <p:cNvSpPr/>
          <p:nvPr/>
        </p:nvSpPr>
        <p:spPr>
          <a:xfrm rot="16200000" flipV="1">
            <a:off x="10474452" y="3387302"/>
            <a:ext cx="436817" cy="125721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Arrow: Bent 111">
            <a:extLst>
              <a:ext uri="{FF2B5EF4-FFF2-40B4-BE49-F238E27FC236}">
                <a16:creationId xmlns:a16="http://schemas.microsoft.com/office/drawing/2014/main" id="{B2408D3F-D80B-42E3-BC8A-695D68A689A4}"/>
              </a:ext>
            </a:extLst>
          </p:cNvPr>
          <p:cNvSpPr/>
          <p:nvPr/>
        </p:nvSpPr>
        <p:spPr>
          <a:xfrm rot="16200000">
            <a:off x="8575101" y="3168426"/>
            <a:ext cx="436817" cy="1694968"/>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Picture 1">
            <a:extLst>
              <a:ext uri="{FF2B5EF4-FFF2-40B4-BE49-F238E27FC236}">
                <a16:creationId xmlns:a16="http://schemas.microsoft.com/office/drawing/2014/main" id="{B910B5F9-0B96-44E3-947A-60B57301D1BE}"/>
              </a:ext>
            </a:extLst>
          </p:cNvPr>
          <p:cNvPicPr>
            <a:picLocks noChangeAspect="1"/>
          </p:cNvPicPr>
          <p:nvPr/>
        </p:nvPicPr>
        <p:blipFill>
          <a:blip r:embed="rId3"/>
          <a:stretch>
            <a:fillRect/>
          </a:stretch>
        </p:blipFill>
        <p:spPr>
          <a:xfrm>
            <a:off x="282511" y="4770379"/>
            <a:ext cx="1409999" cy="846001"/>
          </a:xfrm>
          <a:prstGeom prst="rect">
            <a:avLst/>
          </a:prstGeom>
        </p:spPr>
      </p:pic>
      <p:grpSp>
        <p:nvGrpSpPr>
          <p:cNvPr id="28" name="Group 27">
            <a:extLst>
              <a:ext uri="{FF2B5EF4-FFF2-40B4-BE49-F238E27FC236}">
                <a16:creationId xmlns:a16="http://schemas.microsoft.com/office/drawing/2014/main" id="{A95FC26E-1C1C-4D67-A246-7ADC3088A85E}"/>
              </a:ext>
            </a:extLst>
          </p:cNvPr>
          <p:cNvGrpSpPr/>
          <p:nvPr/>
        </p:nvGrpSpPr>
        <p:grpSpPr>
          <a:xfrm>
            <a:off x="1579406" y="4964946"/>
            <a:ext cx="1352367" cy="1622840"/>
            <a:chOff x="966000" y="2349000"/>
            <a:chExt cx="1800000" cy="2160000"/>
          </a:xfrm>
        </p:grpSpPr>
        <p:sp>
          <p:nvSpPr>
            <p:cNvPr id="3" name="Rectangle: Diagonal Corners Rounded 2">
              <a:extLst>
                <a:ext uri="{FF2B5EF4-FFF2-40B4-BE49-F238E27FC236}">
                  <a16:creationId xmlns:a16="http://schemas.microsoft.com/office/drawing/2014/main" id="{FCFF04A4-7213-4867-A518-8A9542549217}"/>
                </a:ext>
              </a:extLst>
            </p:cNvPr>
            <p:cNvSpPr/>
            <p:nvPr/>
          </p:nvSpPr>
          <p:spPr>
            <a:xfrm>
              <a:off x="131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4" name="Rectangle 3" descr="City">
              <a:extLst>
                <a:ext uri="{FF2B5EF4-FFF2-40B4-BE49-F238E27FC236}">
                  <a16:creationId xmlns:a16="http://schemas.microsoft.com/office/drawing/2014/main" id="{6C61B9BC-5274-4E3D-8D44-A5BDC90E36AF}"/>
                </a:ext>
              </a:extLst>
            </p:cNvPr>
            <p:cNvSpPr/>
            <p:nvPr/>
          </p:nvSpPr>
          <p:spPr>
            <a:xfrm>
              <a:off x="1551000" y="2583000"/>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5" name="Group 4">
              <a:extLst>
                <a:ext uri="{FF2B5EF4-FFF2-40B4-BE49-F238E27FC236}">
                  <a16:creationId xmlns:a16="http://schemas.microsoft.com/office/drawing/2014/main" id="{4997576B-AC47-4D24-B686-E5479CC62659}"/>
                </a:ext>
              </a:extLst>
            </p:cNvPr>
            <p:cNvGrpSpPr/>
            <p:nvPr/>
          </p:nvGrpSpPr>
          <p:grpSpPr>
            <a:xfrm>
              <a:off x="966000" y="3789000"/>
              <a:ext cx="1800000" cy="720000"/>
              <a:chOff x="127800" y="2535669"/>
              <a:chExt cx="1800000" cy="720000"/>
            </a:xfrm>
          </p:grpSpPr>
          <p:sp>
            <p:nvSpPr>
              <p:cNvPr id="26" name="Rectangle 25">
                <a:extLst>
                  <a:ext uri="{FF2B5EF4-FFF2-40B4-BE49-F238E27FC236}">
                    <a16:creationId xmlns:a16="http://schemas.microsoft.com/office/drawing/2014/main" id="{40A305B3-D5FF-4EC2-AEAF-9DF88623A5DE}"/>
                  </a:ext>
                </a:extLst>
              </p:cNvPr>
              <p:cNvSpPr/>
              <p:nvPr/>
            </p:nvSpPr>
            <p:spPr>
              <a:xfrm>
                <a:off x="12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7" name="TextBox 26">
                <a:extLst>
                  <a:ext uri="{FF2B5EF4-FFF2-40B4-BE49-F238E27FC236}">
                    <a16:creationId xmlns:a16="http://schemas.microsoft.com/office/drawing/2014/main" id="{1C6F5DEC-3322-4F36-B13C-FBB1BD4FD0E4}"/>
                  </a:ext>
                </a:extLst>
              </p:cNvPr>
              <p:cNvSpPr txBox="1"/>
              <p:nvPr/>
            </p:nvSpPr>
            <p:spPr>
              <a:xfrm>
                <a:off x="12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100" dirty="0"/>
                  <a:t>Foundation</a:t>
                </a:r>
              </a:p>
            </p:txBody>
          </p:sp>
        </p:grpSp>
      </p:grpSp>
      <p:grpSp>
        <p:nvGrpSpPr>
          <p:cNvPr id="29" name="Group 28">
            <a:extLst>
              <a:ext uri="{FF2B5EF4-FFF2-40B4-BE49-F238E27FC236}">
                <a16:creationId xmlns:a16="http://schemas.microsoft.com/office/drawing/2014/main" id="{579DC361-DDA4-4926-AB04-F96C8ED9E52A}"/>
              </a:ext>
            </a:extLst>
          </p:cNvPr>
          <p:cNvGrpSpPr/>
          <p:nvPr/>
        </p:nvGrpSpPr>
        <p:grpSpPr>
          <a:xfrm>
            <a:off x="2679021" y="4964946"/>
            <a:ext cx="1352367" cy="1622840"/>
            <a:chOff x="3081000" y="2349000"/>
            <a:chExt cx="1800000" cy="2160000"/>
          </a:xfrm>
        </p:grpSpPr>
        <p:sp>
          <p:nvSpPr>
            <p:cNvPr id="6" name="Rectangle: Diagonal Corners Rounded 5">
              <a:extLst>
                <a:ext uri="{FF2B5EF4-FFF2-40B4-BE49-F238E27FC236}">
                  <a16:creationId xmlns:a16="http://schemas.microsoft.com/office/drawing/2014/main" id="{5D6C6CB2-4E0A-40B5-B0B9-26599C9CD944}"/>
                </a:ext>
              </a:extLst>
            </p:cNvPr>
            <p:cNvSpPr/>
            <p:nvPr/>
          </p:nvSpPr>
          <p:spPr>
            <a:xfrm>
              <a:off x="343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7" name="Rectangle 6" descr="Checkmark">
              <a:extLst>
                <a:ext uri="{FF2B5EF4-FFF2-40B4-BE49-F238E27FC236}">
                  <a16:creationId xmlns:a16="http://schemas.microsoft.com/office/drawing/2014/main" id="{869ED83E-447A-4E66-9E14-F36CC4874C4B}"/>
                </a:ext>
              </a:extLst>
            </p:cNvPr>
            <p:cNvSpPr/>
            <p:nvPr/>
          </p:nvSpPr>
          <p:spPr>
            <a:xfrm>
              <a:off x="366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8" name="Group 7">
              <a:extLst>
                <a:ext uri="{FF2B5EF4-FFF2-40B4-BE49-F238E27FC236}">
                  <a16:creationId xmlns:a16="http://schemas.microsoft.com/office/drawing/2014/main" id="{B9BE6CB9-3CF5-4A1E-900B-D583AAAAC2C3}"/>
                </a:ext>
              </a:extLst>
            </p:cNvPr>
            <p:cNvGrpSpPr/>
            <p:nvPr/>
          </p:nvGrpSpPr>
          <p:grpSpPr>
            <a:xfrm>
              <a:off x="3081000" y="3789000"/>
              <a:ext cx="1800000" cy="720000"/>
              <a:chOff x="2242800" y="2535669"/>
              <a:chExt cx="1800000" cy="720000"/>
            </a:xfrm>
          </p:grpSpPr>
          <p:sp>
            <p:nvSpPr>
              <p:cNvPr id="24" name="Rectangle 23">
                <a:extLst>
                  <a:ext uri="{FF2B5EF4-FFF2-40B4-BE49-F238E27FC236}">
                    <a16:creationId xmlns:a16="http://schemas.microsoft.com/office/drawing/2014/main" id="{F7EE8978-47CE-45BC-8E38-CB2308F687D8}"/>
                  </a:ext>
                </a:extLst>
              </p:cNvPr>
              <p:cNvSpPr/>
              <p:nvPr/>
            </p:nvSpPr>
            <p:spPr>
              <a:xfrm>
                <a:off x="224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5" name="TextBox 24">
                <a:extLst>
                  <a:ext uri="{FF2B5EF4-FFF2-40B4-BE49-F238E27FC236}">
                    <a16:creationId xmlns:a16="http://schemas.microsoft.com/office/drawing/2014/main" id="{273CF8E2-22D9-4656-A7A0-B21CCEEAAE52}"/>
                  </a:ext>
                </a:extLst>
              </p:cNvPr>
              <p:cNvSpPr txBox="1"/>
              <p:nvPr/>
            </p:nvSpPr>
            <p:spPr>
              <a:xfrm>
                <a:off x="224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Conformance</a:t>
                </a:r>
              </a:p>
            </p:txBody>
          </p:sp>
        </p:grpSp>
      </p:grpSp>
      <p:grpSp>
        <p:nvGrpSpPr>
          <p:cNvPr id="30" name="Group 29">
            <a:extLst>
              <a:ext uri="{FF2B5EF4-FFF2-40B4-BE49-F238E27FC236}">
                <a16:creationId xmlns:a16="http://schemas.microsoft.com/office/drawing/2014/main" id="{66110138-5B34-49FA-BAE0-62FF3231E14A}"/>
              </a:ext>
            </a:extLst>
          </p:cNvPr>
          <p:cNvGrpSpPr/>
          <p:nvPr/>
        </p:nvGrpSpPr>
        <p:grpSpPr>
          <a:xfrm>
            <a:off x="3778636" y="4964946"/>
            <a:ext cx="1352367" cy="1622840"/>
            <a:chOff x="5196000" y="2349000"/>
            <a:chExt cx="1800000" cy="2160000"/>
          </a:xfrm>
        </p:grpSpPr>
        <p:sp>
          <p:nvSpPr>
            <p:cNvPr id="9" name="Rectangle: Diagonal Corners Rounded 8">
              <a:extLst>
                <a:ext uri="{FF2B5EF4-FFF2-40B4-BE49-F238E27FC236}">
                  <a16:creationId xmlns:a16="http://schemas.microsoft.com/office/drawing/2014/main" id="{82D03FE5-BD95-4C90-A2D5-3162B3F926FF}"/>
                </a:ext>
              </a:extLst>
            </p:cNvPr>
            <p:cNvSpPr/>
            <p:nvPr/>
          </p:nvSpPr>
          <p:spPr>
            <a:xfrm>
              <a:off x="554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 name="Rectangle 9" descr="Hierarchy">
              <a:extLst>
                <a:ext uri="{FF2B5EF4-FFF2-40B4-BE49-F238E27FC236}">
                  <a16:creationId xmlns:a16="http://schemas.microsoft.com/office/drawing/2014/main" id="{0444D7DE-1E7F-407B-8B8D-517BDE6A8CD5}"/>
                </a:ext>
              </a:extLst>
            </p:cNvPr>
            <p:cNvSpPr/>
            <p:nvPr/>
          </p:nvSpPr>
          <p:spPr>
            <a:xfrm>
              <a:off x="578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1" name="Group 10">
              <a:extLst>
                <a:ext uri="{FF2B5EF4-FFF2-40B4-BE49-F238E27FC236}">
                  <a16:creationId xmlns:a16="http://schemas.microsoft.com/office/drawing/2014/main" id="{40E036D1-BEDD-47DE-8984-D6495F104648}"/>
                </a:ext>
              </a:extLst>
            </p:cNvPr>
            <p:cNvGrpSpPr/>
            <p:nvPr/>
          </p:nvGrpSpPr>
          <p:grpSpPr>
            <a:xfrm>
              <a:off x="5196000" y="3789000"/>
              <a:ext cx="1800000" cy="720000"/>
              <a:chOff x="4357800" y="2535669"/>
              <a:chExt cx="1800000" cy="720000"/>
            </a:xfrm>
          </p:grpSpPr>
          <p:sp>
            <p:nvSpPr>
              <p:cNvPr id="22" name="Rectangle 21">
                <a:extLst>
                  <a:ext uri="{FF2B5EF4-FFF2-40B4-BE49-F238E27FC236}">
                    <a16:creationId xmlns:a16="http://schemas.microsoft.com/office/drawing/2014/main" id="{C8E0982C-9E8A-4305-A9A7-10DA86413B55}"/>
                  </a:ext>
                </a:extLst>
              </p:cNvPr>
              <p:cNvSpPr/>
              <p:nvPr/>
            </p:nvSpPr>
            <p:spPr>
              <a:xfrm>
                <a:off x="435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3" name="TextBox 22">
                <a:extLst>
                  <a:ext uri="{FF2B5EF4-FFF2-40B4-BE49-F238E27FC236}">
                    <a16:creationId xmlns:a16="http://schemas.microsoft.com/office/drawing/2014/main" id="{B79372F8-AE09-4C35-8F1F-698A6785554E}"/>
                  </a:ext>
                </a:extLst>
              </p:cNvPr>
              <p:cNvSpPr txBox="1"/>
              <p:nvPr/>
            </p:nvSpPr>
            <p:spPr>
              <a:xfrm>
                <a:off x="435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Administration</a:t>
                </a:r>
              </a:p>
            </p:txBody>
          </p:sp>
        </p:grpSp>
      </p:grpSp>
      <p:grpSp>
        <p:nvGrpSpPr>
          <p:cNvPr id="31" name="Group 30">
            <a:extLst>
              <a:ext uri="{FF2B5EF4-FFF2-40B4-BE49-F238E27FC236}">
                <a16:creationId xmlns:a16="http://schemas.microsoft.com/office/drawing/2014/main" id="{EE9FCCB7-F8B5-4DA1-ACA0-A87A9ADC69A6}"/>
              </a:ext>
            </a:extLst>
          </p:cNvPr>
          <p:cNvGrpSpPr/>
          <p:nvPr/>
        </p:nvGrpSpPr>
        <p:grpSpPr>
          <a:xfrm>
            <a:off x="4878251" y="4964946"/>
            <a:ext cx="1352367" cy="1622840"/>
            <a:chOff x="7311000" y="2349000"/>
            <a:chExt cx="1800000" cy="2160000"/>
          </a:xfrm>
        </p:grpSpPr>
        <p:sp>
          <p:nvSpPr>
            <p:cNvPr id="12" name="Rectangle: Diagonal Corners Rounded 11">
              <a:extLst>
                <a:ext uri="{FF2B5EF4-FFF2-40B4-BE49-F238E27FC236}">
                  <a16:creationId xmlns:a16="http://schemas.microsoft.com/office/drawing/2014/main" id="{63514769-E01D-4FD0-B2E0-B64FC9214AFA}"/>
                </a:ext>
              </a:extLst>
            </p:cNvPr>
            <p:cNvSpPr/>
            <p:nvPr/>
          </p:nvSpPr>
          <p:spPr>
            <a:xfrm>
              <a:off x="766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3" name="Rectangle 12" descr="Stethoscope">
              <a:extLst>
                <a:ext uri="{FF2B5EF4-FFF2-40B4-BE49-F238E27FC236}">
                  <a16:creationId xmlns:a16="http://schemas.microsoft.com/office/drawing/2014/main" id="{8F189E16-677E-4B32-A7EC-BFFF46FB4D26}"/>
                </a:ext>
              </a:extLst>
            </p:cNvPr>
            <p:cNvSpPr/>
            <p:nvPr/>
          </p:nvSpPr>
          <p:spPr>
            <a:xfrm>
              <a:off x="789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4" name="Group 13">
              <a:extLst>
                <a:ext uri="{FF2B5EF4-FFF2-40B4-BE49-F238E27FC236}">
                  <a16:creationId xmlns:a16="http://schemas.microsoft.com/office/drawing/2014/main" id="{53BF3B34-F81F-48DE-9DCF-B08C9848FA77}"/>
                </a:ext>
              </a:extLst>
            </p:cNvPr>
            <p:cNvGrpSpPr/>
            <p:nvPr/>
          </p:nvGrpSpPr>
          <p:grpSpPr>
            <a:xfrm>
              <a:off x="7311000" y="3789000"/>
              <a:ext cx="1800000" cy="720000"/>
              <a:chOff x="6472800" y="2535669"/>
              <a:chExt cx="1800000" cy="720000"/>
            </a:xfrm>
          </p:grpSpPr>
          <p:sp>
            <p:nvSpPr>
              <p:cNvPr id="20" name="Rectangle 19">
                <a:extLst>
                  <a:ext uri="{FF2B5EF4-FFF2-40B4-BE49-F238E27FC236}">
                    <a16:creationId xmlns:a16="http://schemas.microsoft.com/office/drawing/2014/main" id="{BBEAFC41-A0A1-4E87-AC35-BE88EA5EF283}"/>
                  </a:ext>
                </a:extLst>
              </p:cNvPr>
              <p:cNvSpPr/>
              <p:nvPr/>
            </p:nvSpPr>
            <p:spPr>
              <a:xfrm>
                <a:off x="647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1" name="TextBox 20">
                <a:extLst>
                  <a:ext uri="{FF2B5EF4-FFF2-40B4-BE49-F238E27FC236}">
                    <a16:creationId xmlns:a16="http://schemas.microsoft.com/office/drawing/2014/main" id="{F5ABC41E-FE4C-4F35-B8E3-534B43D10B41}"/>
                  </a:ext>
                </a:extLst>
              </p:cNvPr>
              <p:cNvSpPr txBox="1"/>
              <p:nvPr/>
            </p:nvSpPr>
            <p:spPr>
              <a:xfrm>
                <a:off x="647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Clinical</a:t>
                </a:r>
              </a:p>
            </p:txBody>
          </p:sp>
        </p:grpSp>
      </p:grpSp>
      <p:grpSp>
        <p:nvGrpSpPr>
          <p:cNvPr id="32" name="Group 31">
            <a:extLst>
              <a:ext uri="{FF2B5EF4-FFF2-40B4-BE49-F238E27FC236}">
                <a16:creationId xmlns:a16="http://schemas.microsoft.com/office/drawing/2014/main" id="{9E8EEBFC-35EA-49E3-8DAB-CB0A92C6BE53}"/>
              </a:ext>
            </a:extLst>
          </p:cNvPr>
          <p:cNvGrpSpPr/>
          <p:nvPr/>
        </p:nvGrpSpPr>
        <p:grpSpPr>
          <a:xfrm>
            <a:off x="5977866" y="4964946"/>
            <a:ext cx="1352367" cy="1622840"/>
            <a:chOff x="9426000" y="2349000"/>
            <a:chExt cx="1800000" cy="2160000"/>
          </a:xfrm>
        </p:grpSpPr>
        <p:sp>
          <p:nvSpPr>
            <p:cNvPr id="15" name="Rectangle: Diagonal Corners Rounded 14">
              <a:extLst>
                <a:ext uri="{FF2B5EF4-FFF2-40B4-BE49-F238E27FC236}">
                  <a16:creationId xmlns:a16="http://schemas.microsoft.com/office/drawing/2014/main" id="{5C8DEE5F-48FB-4DCF-B9A6-C77FB7D8F45C}"/>
                </a:ext>
              </a:extLst>
            </p:cNvPr>
            <p:cNvSpPr/>
            <p:nvPr/>
          </p:nvSpPr>
          <p:spPr>
            <a:xfrm>
              <a:off x="977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6" name="Rectangle 15" descr="Head with Gears">
              <a:extLst>
                <a:ext uri="{FF2B5EF4-FFF2-40B4-BE49-F238E27FC236}">
                  <a16:creationId xmlns:a16="http://schemas.microsoft.com/office/drawing/2014/main" id="{DB7C798B-9BED-4FCB-8E4A-8004514E0412}"/>
                </a:ext>
              </a:extLst>
            </p:cNvPr>
            <p:cNvSpPr/>
            <p:nvPr/>
          </p:nvSpPr>
          <p:spPr>
            <a:xfrm>
              <a:off x="1001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7" name="Group 16">
              <a:extLst>
                <a:ext uri="{FF2B5EF4-FFF2-40B4-BE49-F238E27FC236}">
                  <a16:creationId xmlns:a16="http://schemas.microsoft.com/office/drawing/2014/main" id="{6096D43B-20E5-46AC-A161-868B9E1EEFE7}"/>
                </a:ext>
              </a:extLst>
            </p:cNvPr>
            <p:cNvGrpSpPr/>
            <p:nvPr/>
          </p:nvGrpSpPr>
          <p:grpSpPr>
            <a:xfrm>
              <a:off x="9426000" y="3789000"/>
              <a:ext cx="1800000" cy="720000"/>
              <a:chOff x="8587800" y="2535669"/>
              <a:chExt cx="1800000" cy="720000"/>
            </a:xfrm>
          </p:grpSpPr>
          <p:sp>
            <p:nvSpPr>
              <p:cNvPr id="18" name="Rectangle 17">
                <a:extLst>
                  <a:ext uri="{FF2B5EF4-FFF2-40B4-BE49-F238E27FC236}">
                    <a16:creationId xmlns:a16="http://schemas.microsoft.com/office/drawing/2014/main" id="{5B17A45E-E648-41D4-B844-C482712C1DE3}"/>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9" name="TextBox 18">
                <a:extLst>
                  <a:ext uri="{FF2B5EF4-FFF2-40B4-BE49-F238E27FC236}">
                    <a16:creationId xmlns:a16="http://schemas.microsoft.com/office/drawing/2014/main" id="{91F4CFE9-1229-465B-8AB8-0AE3F8A7C43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Reasoning</a:t>
                </a:r>
              </a:p>
            </p:txBody>
          </p:sp>
        </p:grpSp>
      </p:grpSp>
      <p:grpSp>
        <p:nvGrpSpPr>
          <p:cNvPr id="63" name="Group 62">
            <a:extLst>
              <a:ext uri="{FF2B5EF4-FFF2-40B4-BE49-F238E27FC236}">
                <a16:creationId xmlns:a16="http://schemas.microsoft.com/office/drawing/2014/main" id="{44884DFD-F795-447A-AB73-65C28F9EF344}"/>
              </a:ext>
            </a:extLst>
          </p:cNvPr>
          <p:cNvGrpSpPr/>
          <p:nvPr/>
        </p:nvGrpSpPr>
        <p:grpSpPr>
          <a:xfrm>
            <a:off x="10376326" y="2534129"/>
            <a:ext cx="1352367" cy="1489677"/>
            <a:chOff x="2907510" y="1010464"/>
            <a:chExt cx="1800000" cy="1982760"/>
          </a:xfrm>
        </p:grpSpPr>
        <p:sp>
          <p:nvSpPr>
            <p:cNvPr id="33" name="Rectangle: Diagonal Corners Rounded 32">
              <a:extLst>
                <a:ext uri="{FF2B5EF4-FFF2-40B4-BE49-F238E27FC236}">
                  <a16:creationId xmlns:a16="http://schemas.microsoft.com/office/drawing/2014/main" id="{CCE2D025-CF15-4B94-B479-382CFA544368}"/>
                </a:ext>
              </a:extLst>
            </p:cNvPr>
            <p:cNvSpPr/>
            <p:nvPr/>
          </p:nvSpPr>
          <p:spPr>
            <a:xfrm>
              <a:off x="3258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37" name="TextBox 36">
              <a:extLst>
                <a:ext uri="{FF2B5EF4-FFF2-40B4-BE49-F238E27FC236}">
                  <a16:creationId xmlns:a16="http://schemas.microsoft.com/office/drawing/2014/main" id="{4CE705C1-F6A7-4A78-B9B0-FE51B1729D1D}"/>
                </a:ext>
              </a:extLst>
            </p:cNvPr>
            <p:cNvSpPr txBox="1"/>
            <p:nvPr/>
          </p:nvSpPr>
          <p:spPr>
            <a:xfrm>
              <a:off x="2907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EBM-on-FHIR</a:t>
              </a:r>
            </a:p>
          </p:txBody>
        </p:sp>
        <p:pic>
          <p:nvPicPr>
            <p:cNvPr id="39" name="Picture 38">
              <a:extLst>
                <a:ext uri="{FF2B5EF4-FFF2-40B4-BE49-F238E27FC236}">
                  <a16:creationId xmlns:a16="http://schemas.microsoft.com/office/drawing/2014/main" id="{9CC9B04B-9493-4974-8D43-A49652EB587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442004" y="1169644"/>
              <a:ext cx="840134" cy="840134"/>
            </a:xfrm>
            <a:prstGeom prst="rect">
              <a:avLst/>
            </a:prstGeom>
          </p:spPr>
        </p:pic>
      </p:grpSp>
      <p:grpSp>
        <p:nvGrpSpPr>
          <p:cNvPr id="1024" name="Group 1023">
            <a:extLst>
              <a:ext uri="{FF2B5EF4-FFF2-40B4-BE49-F238E27FC236}">
                <a16:creationId xmlns:a16="http://schemas.microsoft.com/office/drawing/2014/main" id="{91AAF543-0361-461F-BAD8-FAB07CF3A456}"/>
              </a:ext>
            </a:extLst>
          </p:cNvPr>
          <p:cNvGrpSpPr/>
          <p:nvPr/>
        </p:nvGrpSpPr>
        <p:grpSpPr>
          <a:xfrm>
            <a:off x="9219302" y="2534129"/>
            <a:ext cx="1352367" cy="1489677"/>
            <a:chOff x="4473510" y="1010464"/>
            <a:chExt cx="1800000" cy="1982760"/>
          </a:xfrm>
        </p:grpSpPr>
        <p:sp>
          <p:nvSpPr>
            <p:cNvPr id="41" name="Rectangle: Diagonal Corners Rounded 40">
              <a:extLst>
                <a:ext uri="{FF2B5EF4-FFF2-40B4-BE49-F238E27FC236}">
                  <a16:creationId xmlns:a16="http://schemas.microsoft.com/office/drawing/2014/main" id="{FB89AC8E-D2BC-4F4B-99CC-C06614264EA6}"/>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pic>
          <p:nvPicPr>
            <p:cNvPr id="42" name="Picture 41">
              <a:extLst>
                <a:ext uri="{FF2B5EF4-FFF2-40B4-BE49-F238E27FC236}">
                  <a16:creationId xmlns:a16="http://schemas.microsoft.com/office/drawing/2014/main" id="{90FD1415-2A71-4EE0-815A-5F750A29326F}"/>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923195" y="1109149"/>
              <a:ext cx="900629" cy="900629"/>
            </a:xfrm>
            <a:prstGeom prst="rect">
              <a:avLst/>
            </a:prstGeom>
          </p:spPr>
        </p:pic>
        <p:sp>
          <p:nvSpPr>
            <p:cNvPr id="44" name="TextBox 43">
              <a:extLst>
                <a:ext uri="{FF2B5EF4-FFF2-40B4-BE49-F238E27FC236}">
                  <a16:creationId xmlns:a16="http://schemas.microsoft.com/office/drawing/2014/main" id="{499ADB29-15CB-4F97-9078-DE2B2E647CD4}"/>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CPG-on-FHIR</a:t>
              </a:r>
            </a:p>
          </p:txBody>
        </p:sp>
      </p:grpSp>
      <p:grpSp>
        <p:nvGrpSpPr>
          <p:cNvPr id="1027" name="Group 1026">
            <a:extLst>
              <a:ext uri="{FF2B5EF4-FFF2-40B4-BE49-F238E27FC236}">
                <a16:creationId xmlns:a16="http://schemas.microsoft.com/office/drawing/2014/main" id="{7DC50A98-5370-4C8B-B8D1-503947AC75CC}"/>
              </a:ext>
            </a:extLst>
          </p:cNvPr>
          <p:cNvGrpSpPr/>
          <p:nvPr/>
        </p:nvGrpSpPr>
        <p:grpSpPr>
          <a:xfrm>
            <a:off x="5748228" y="2534129"/>
            <a:ext cx="1352367" cy="1490500"/>
            <a:chOff x="7605510" y="1009369"/>
            <a:chExt cx="1800000" cy="1983855"/>
          </a:xfrm>
        </p:grpSpPr>
        <p:sp>
          <p:nvSpPr>
            <p:cNvPr id="50" name="Rectangle: Diagonal Corners Rounded 49">
              <a:extLst>
                <a:ext uri="{FF2B5EF4-FFF2-40B4-BE49-F238E27FC236}">
                  <a16:creationId xmlns:a16="http://schemas.microsoft.com/office/drawing/2014/main" id="{551609DD-6AB0-41A0-876A-613EAEE0CE9C}"/>
                </a:ext>
              </a:extLst>
            </p:cNvPr>
            <p:cNvSpPr/>
            <p:nvPr/>
          </p:nvSpPr>
          <p:spPr>
            <a:xfrm>
              <a:off x="7954184" y="1009369"/>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51" name="TextBox 50">
              <a:extLst>
                <a:ext uri="{FF2B5EF4-FFF2-40B4-BE49-F238E27FC236}">
                  <a16:creationId xmlns:a16="http://schemas.microsoft.com/office/drawing/2014/main" id="{CD57052D-7037-4465-9AC7-C2F505331E0B}"/>
                </a:ext>
              </a:extLst>
            </p:cNvPr>
            <p:cNvSpPr txBox="1"/>
            <p:nvPr/>
          </p:nvSpPr>
          <p:spPr>
            <a:xfrm>
              <a:off x="7605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DEQM</a:t>
              </a:r>
            </a:p>
          </p:txBody>
        </p:sp>
        <p:pic>
          <p:nvPicPr>
            <p:cNvPr id="52" name="Picture 51">
              <a:extLst>
                <a:ext uri="{FF2B5EF4-FFF2-40B4-BE49-F238E27FC236}">
                  <a16:creationId xmlns:a16="http://schemas.microsoft.com/office/drawing/2014/main" id="{35AF647C-2773-4177-BF0E-2DB056E5EBB6}"/>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047513" y="1062000"/>
              <a:ext cx="915444" cy="915444"/>
            </a:xfrm>
            <a:prstGeom prst="rect">
              <a:avLst/>
            </a:prstGeom>
          </p:spPr>
        </p:pic>
      </p:grpSp>
      <p:grpSp>
        <p:nvGrpSpPr>
          <p:cNvPr id="62" name="Group 61">
            <a:extLst>
              <a:ext uri="{FF2B5EF4-FFF2-40B4-BE49-F238E27FC236}">
                <a16:creationId xmlns:a16="http://schemas.microsoft.com/office/drawing/2014/main" id="{946462FD-829B-4345-BCEB-7501ED399846}"/>
              </a:ext>
            </a:extLst>
          </p:cNvPr>
          <p:cNvGrpSpPr/>
          <p:nvPr/>
        </p:nvGrpSpPr>
        <p:grpSpPr>
          <a:xfrm>
            <a:off x="3378951" y="2510985"/>
            <a:ext cx="1352367" cy="1426969"/>
            <a:chOff x="5696020" y="3073636"/>
            <a:chExt cx="1800000" cy="1899296"/>
          </a:xfrm>
        </p:grpSpPr>
        <p:sp>
          <p:nvSpPr>
            <p:cNvPr id="54" name="Rectangle: Diagonal Corners Rounded 53">
              <a:extLst>
                <a:ext uri="{FF2B5EF4-FFF2-40B4-BE49-F238E27FC236}">
                  <a16:creationId xmlns:a16="http://schemas.microsoft.com/office/drawing/2014/main" id="{3A399E88-BB41-4265-A7E4-65D6169F5CAB}"/>
                </a:ext>
              </a:extLst>
            </p:cNvPr>
            <p:cNvSpPr/>
            <p:nvPr/>
          </p:nvSpPr>
          <p:spPr>
            <a:xfrm>
              <a:off x="6047020" y="3073636"/>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5" name="TextBox 54">
              <a:extLst>
                <a:ext uri="{FF2B5EF4-FFF2-40B4-BE49-F238E27FC236}">
                  <a16:creationId xmlns:a16="http://schemas.microsoft.com/office/drawing/2014/main" id="{940A0095-305A-409C-AC37-428AAF02DE21}"/>
                </a:ext>
              </a:extLst>
            </p:cNvPr>
            <p:cNvSpPr txBox="1"/>
            <p:nvPr/>
          </p:nvSpPr>
          <p:spPr>
            <a:xfrm>
              <a:off x="5696020" y="4252931"/>
              <a:ext cx="1800000" cy="720001"/>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QI Core</a:t>
              </a:r>
            </a:p>
          </p:txBody>
        </p:sp>
        <p:pic>
          <p:nvPicPr>
            <p:cNvPr id="56" name="Picture 55">
              <a:extLst>
                <a:ext uri="{FF2B5EF4-FFF2-40B4-BE49-F238E27FC236}">
                  <a16:creationId xmlns:a16="http://schemas.microsoft.com/office/drawing/2014/main" id="{892D2C18-285C-4E38-B7B9-95F488DE47E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216132" y="3241965"/>
              <a:ext cx="759776" cy="759776"/>
            </a:xfrm>
            <a:prstGeom prst="rect">
              <a:avLst/>
            </a:prstGeom>
          </p:spPr>
        </p:pic>
      </p:grpSp>
      <p:grpSp>
        <p:nvGrpSpPr>
          <p:cNvPr id="61" name="Group 60">
            <a:extLst>
              <a:ext uri="{FF2B5EF4-FFF2-40B4-BE49-F238E27FC236}">
                <a16:creationId xmlns:a16="http://schemas.microsoft.com/office/drawing/2014/main" id="{F9A15AC5-BCB3-4C33-82A6-BBB9B9A0CB16}"/>
              </a:ext>
            </a:extLst>
          </p:cNvPr>
          <p:cNvGrpSpPr/>
          <p:nvPr/>
        </p:nvGrpSpPr>
        <p:grpSpPr>
          <a:xfrm>
            <a:off x="1925670" y="2530532"/>
            <a:ext cx="1352367" cy="1426969"/>
            <a:chOff x="4169112" y="3087282"/>
            <a:chExt cx="1800000" cy="1899296"/>
          </a:xfrm>
        </p:grpSpPr>
        <p:sp>
          <p:nvSpPr>
            <p:cNvPr id="58" name="Rectangle: Diagonal Corners Rounded 57">
              <a:extLst>
                <a:ext uri="{FF2B5EF4-FFF2-40B4-BE49-F238E27FC236}">
                  <a16:creationId xmlns:a16="http://schemas.microsoft.com/office/drawing/2014/main" id="{E68EA5AB-0282-4FB5-B043-398AFD24ED15}"/>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9" name="TextBox 58">
              <a:extLst>
                <a:ext uri="{FF2B5EF4-FFF2-40B4-BE49-F238E27FC236}">
                  <a16:creationId xmlns:a16="http://schemas.microsoft.com/office/drawing/2014/main" id="{2A8CBD78-D584-41C2-8C4F-0FCA6E7DED74}"/>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US </a:t>
              </a:r>
              <a:r>
                <a:rPr lang="en-US" sz="1200" kern="1200" dirty="0"/>
                <a:t>Core</a:t>
              </a:r>
            </a:p>
          </p:txBody>
        </p:sp>
        <p:pic>
          <p:nvPicPr>
            <p:cNvPr id="60" name="Picture 59">
              <a:extLst>
                <a:ext uri="{FF2B5EF4-FFF2-40B4-BE49-F238E27FC236}">
                  <a16:creationId xmlns:a16="http://schemas.microsoft.com/office/drawing/2014/main" id="{AA2D18FC-4896-4C81-8153-2118D8A1345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30094" y="3233644"/>
              <a:ext cx="790018" cy="790018"/>
            </a:xfrm>
            <a:prstGeom prst="rect">
              <a:avLst/>
            </a:prstGeom>
          </p:spPr>
        </p:pic>
      </p:grpSp>
      <p:grpSp>
        <p:nvGrpSpPr>
          <p:cNvPr id="1025" name="Group 1024">
            <a:extLst>
              <a:ext uri="{FF2B5EF4-FFF2-40B4-BE49-F238E27FC236}">
                <a16:creationId xmlns:a16="http://schemas.microsoft.com/office/drawing/2014/main" id="{DC5ECB4C-0930-4027-9656-2CB10CAF50CF}"/>
              </a:ext>
            </a:extLst>
          </p:cNvPr>
          <p:cNvGrpSpPr/>
          <p:nvPr/>
        </p:nvGrpSpPr>
        <p:grpSpPr>
          <a:xfrm>
            <a:off x="6905253" y="2534129"/>
            <a:ext cx="1352367" cy="1489677"/>
            <a:chOff x="6039510" y="1010463"/>
            <a:chExt cx="1800000" cy="1982761"/>
          </a:xfrm>
        </p:grpSpPr>
        <p:sp>
          <p:nvSpPr>
            <p:cNvPr id="45" name="Rectangle: Diagonal Corners Rounded 44">
              <a:extLst>
                <a:ext uri="{FF2B5EF4-FFF2-40B4-BE49-F238E27FC236}">
                  <a16:creationId xmlns:a16="http://schemas.microsoft.com/office/drawing/2014/main" id="{79280F84-27CE-4A49-9C3D-3FA051F13911}"/>
                </a:ext>
              </a:extLst>
            </p:cNvPr>
            <p:cNvSpPr/>
            <p:nvPr/>
          </p:nvSpPr>
          <p:spPr>
            <a:xfrm>
              <a:off x="6390510" y="1010463"/>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46" name="TextBox 45">
              <a:extLst>
                <a:ext uri="{FF2B5EF4-FFF2-40B4-BE49-F238E27FC236}">
                  <a16:creationId xmlns:a16="http://schemas.microsoft.com/office/drawing/2014/main" id="{09D92C2E-611C-43F4-BF87-CCD3E2F9E152}"/>
                </a:ext>
              </a:extLst>
            </p:cNvPr>
            <p:cNvSpPr txBox="1"/>
            <p:nvPr/>
          </p:nvSpPr>
          <p:spPr>
            <a:xfrm>
              <a:off x="6039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QM</a:t>
              </a:r>
            </a:p>
          </p:txBody>
        </p:sp>
        <p:pic>
          <p:nvPicPr>
            <p:cNvPr id="47" name="Picture 46">
              <a:extLst>
                <a:ext uri="{FF2B5EF4-FFF2-40B4-BE49-F238E27FC236}">
                  <a16:creationId xmlns:a16="http://schemas.microsoft.com/office/drawing/2014/main" id="{D040E69D-024F-4CF8-90D6-4D53E1FBCBD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430334" y="1050287"/>
              <a:ext cx="1018351" cy="1018351"/>
            </a:xfrm>
            <a:prstGeom prst="rect">
              <a:avLst/>
            </a:prstGeom>
          </p:spPr>
        </p:pic>
      </p:grpSp>
      <p:grpSp>
        <p:nvGrpSpPr>
          <p:cNvPr id="1034" name="Group 1033">
            <a:extLst>
              <a:ext uri="{FF2B5EF4-FFF2-40B4-BE49-F238E27FC236}">
                <a16:creationId xmlns:a16="http://schemas.microsoft.com/office/drawing/2014/main" id="{EFF7093A-9DF6-4DFF-820D-8F2D07BF7632}"/>
              </a:ext>
            </a:extLst>
          </p:cNvPr>
          <p:cNvGrpSpPr/>
          <p:nvPr/>
        </p:nvGrpSpPr>
        <p:grpSpPr>
          <a:xfrm>
            <a:off x="6050265" y="466374"/>
            <a:ext cx="1081487" cy="1103642"/>
            <a:chOff x="2233320" y="309617"/>
            <a:chExt cx="1439460" cy="1468948"/>
          </a:xfrm>
        </p:grpSpPr>
        <p:sp>
          <p:nvSpPr>
            <p:cNvPr id="68" name="Rectangle: Diagonal Corners Rounded 67">
              <a:extLst>
                <a:ext uri="{FF2B5EF4-FFF2-40B4-BE49-F238E27FC236}">
                  <a16:creationId xmlns:a16="http://schemas.microsoft.com/office/drawing/2014/main" id="{2A4620E3-D0B4-4327-9BA3-428DD18C8189}"/>
                </a:ext>
              </a:extLst>
            </p:cNvPr>
            <p:cNvSpPr/>
            <p:nvPr/>
          </p:nvSpPr>
          <p:spPr>
            <a:xfrm>
              <a:off x="2404050" y="309617"/>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3" name="TextBox 72">
              <a:extLst>
                <a:ext uri="{FF2B5EF4-FFF2-40B4-BE49-F238E27FC236}">
                  <a16:creationId xmlns:a16="http://schemas.microsoft.com/office/drawing/2014/main" id="{4AF53698-EFAC-42E3-AB7E-35204BD8957A}"/>
                </a:ext>
              </a:extLst>
            </p:cNvPr>
            <p:cNvSpPr txBox="1"/>
            <p:nvPr/>
          </p:nvSpPr>
          <p:spPr>
            <a:xfrm>
              <a:off x="2233320"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HEDIS</a:t>
              </a:r>
              <a:endParaRPr lang="en-US" sz="1200" kern="1200" dirty="0"/>
            </a:p>
          </p:txBody>
        </p:sp>
        <p:pic>
          <p:nvPicPr>
            <p:cNvPr id="1029" name="Picture 1028">
              <a:extLst>
                <a:ext uri="{FF2B5EF4-FFF2-40B4-BE49-F238E27FC236}">
                  <a16:creationId xmlns:a16="http://schemas.microsoft.com/office/drawing/2014/main" id="{40DEF351-6439-42F8-905A-85687B5B6EF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558480" y="411773"/>
              <a:ext cx="789140" cy="789140"/>
            </a:xfrm>
            <a:prstGeom prst="rect">
              <a:avLst/>
            </a:prstGeom>
          </p:spPr>
        </p:pic>
      </p:grpSp>
      <p:grpSp>
        <p:nvGrpSpPr>
          <p:cNvPr id="1035" name="Group 1034">
            <a:extLst>
              <a:ext uri="{FF2B5EF4-FFF2-40B4-BE49-F238E27FC236}">
                <a16:creationId xmlns:a16="http://schemas.microsoft.com/office/drawing/2014/main" id="{B3C0FEBF-EE79-4526-8170-EB88FF542819}"/>
              </a:ext>
            </a:extLst>
          </p:cNvPr>
          <p:cNvGrpSpPr/>
          <p:nvPr/>
        </p:nvGrpSpPr>
        <p:grpSpPr>
          <a:xfrm>
            <a:off x="8189880" y="403525"/>
            <a:ext cx="1081487" cy="1124502"/>
            <a:chOff x="3560576" y="281853"/>
            <a:chExt cx="1439460" cy="1496712"/>
          </a:xfrm>
        </p:grpSpPr>
        <p:sp>
          <p:nvSpPr>
            <p:cNvPr id="69" name="Rectangle: Diagonal Corners Rounded 68">
              <a:extLst>
                <a:ext uri="{FF2B5EF4-FFF2-40B4-BE49-F238E27FC236}">
                  <a16:creationId xmlns:a16="http://schemas.microsoft.com/office/drawing/2014/main" id="{0755C0F0-07C4-48D5-ACE4-5B4D79D55CC3}"/>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4" name="TextBox 73">
              <a:extLst>
                <a:ext uri="{FF2B5EF4-FFF2-40B4-BE49-F238E27FC236}">
                  <a16:creationId xmlns:a16="http://schemas.microsoft.com/office/drawing/2014/main" id="{50530CFD-9A27-4EFB-977F-BD3B5C23C42E}"/>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CDC Opioid Prescribing</a:t>
              </a:r>
              <a:endParaRPr lang="en-US" sz="1200" kern="1200" dirty="0"/>
            </a:p>
          </p:txBody>
        </p:sp>
        <p:pic>
          <p:nvPicPr>
            <p:cNvPr id="1031" name="Picture 1030">
              <a:extLst>
                <a:ext uri="{FF2B5EF4-FFF2-40B4-BE49-F238E27FC236}">
                  <a16:creationId xmlns:a16="http://schemas.microsoft.com/office/drawing/2014/main" id="{1A1FD9C7-CA92-44AD-90CC-44E1FC049CE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grpSp>
        <p:nvGrpSpPr>
          <p:cNvPr id="1036" name="Group 1035">
            <a:extLst>
              <a:ext uri="{FF2B5EF4-FFF2-40B4-BE49-F238E27FC236}">
                <a16:creationId xmlns:a16="http://schemas.microsoft.com/office/drawing/2014/main" id="{EF3BAE44-DC4A-4D2E-9106-986E9FDCFB6B}"/>
              </a:ext>
            </a:extLst>
          </p:cNvPr>
          <p:cNvGrpSpPr/>
          <p:nvPr/>
        </p:nvGrpSpPr>
        <p:grpSpPr>
          <a:xfrm>
            <a:off x="10329496" y="412989"/>
            <a:ext cx="1081487" cy="1149447"/>
            <a:chOff x="9617220" y="250586"/>
            <a:chExt cx="1439460" cy="1529914"/>
          </a:xfrm>
        </p:grpSpPr>
        <p:sp>
          <p:nvSpPr>
            <p:cNvPr id="70" name="Rectangle: Diagonal Corners Rounded 69">
              <a:extLst>
                <a:ext uri="{FF2B5EF4-FFF2-40B4-BE49-F238E27FC236}">
                  <a16:creationId xmlns:a16="http://schemas.microsoft.com/office/drawing/2014/main" id="{2BB0788D-F592-4FDF-8201-403FD0ECE323}"/>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5" name="TextBox 74">
              <a:extLst>
                <a:ext uri="{FF2B5EF4-FFF2-40B4-BE49-F238E27FC236}">
                  <a16:creationId xmlns:a16="http://schemas.microsoft.com/office/drawing/2014/main" id="{6F17FE83-5720-40A7-81CB-C12A11AE9434}"/>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ANC</a:t>
              </a:r>
              <a:endParaRPr lang="en-US" sz="1200" kern="1200" dirty="0"/>
            </a:p>
          </p:txBody>
        </p:sp>
        <p:pic>
          <p:nvPicPr>
            <p:cNvPr id="1033" name="Picture 1032">
              <a:extLst>
                <a:ext uri="{FF2B5EF4-FFF2-40B4-BE49-F238E27FC236}">
                  <a16:creationId xmlns:a16="http://schemas.microsoft.com/office/drawing/2014/main" id="{0DD2C3BF-771C-49B6-B990-5ADD1F9077C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sp>
        <p:nvSpPr>
          <p:cNvPr id="1054" name="Arrow: Bent 1053">
            <a:extLst>
              <a:ext uri="{FF2B5EF4-FFF2-40B4-BE49-F238E27FC236}">
                <a16:creationId xmlns:a16="http://schemas.microsoft.com/office/drawing/2014/main" id="{7AB1F3AF-037E-4F34-ABED-47AD164767E0}"/>
              </a:ext>
            </a:extLst>
          </p:cNvPr>
          <p:cNvSpPr/>
          <p:nvPr/>
        </p:nvSpPr>
        <p:spPr>
          <a:xfrm rot="16200000">
            <a:off x="9726068" y="3502617"/>
            <a:ext cx="436817" cy="102658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5" name="Arrow: Up 114">
            <a:extLst>
              <a:ext uri="{FF2B5EF4-FFF2-40B4-BE49-F238E27FC236}">
                <a16:creationId xmlns:a16="http://schemas.microsoft.com/office/drawing/2014/main" id="{8123EF39-9B11-43B1-A79F-09298F53D43D}"/>
              </a:ext>
            </a:extLst>
          </p:cNvPr>
          <p:cNvSpPr/>
          <p:nvPr/>
        </p:nvSpPr>
        <p:spPr>
          <a:xfrm rot="5400000">
            <a:off x="3209046" y="2630950"/>
            <a:ext cx="262067" cy="531024"/>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rrow: Bent 115">
            <a:extLst>
              <a:ext uri="{FF2B5EF4-FFF2-40B4-BE49-F238E27FC236}">
                <a16:creationId xmlns:a16="http://schemas.microsoft.com/office/drawing/2014/main" id="{58A871F3-AF46-4078-8B4B-C9C7FFAABD6E}"/>
              </a:ext>
            </a:extLst>
          </p:cNvPr>
          <p:cNvSpPr/>
          <p:nvPr/>
        </p:nvSpPr>
        <p:spPr>
          <a:xfrm rot="16200000">
            <a:off x="3725737" y="2774506"/>
            <a:ext cx="690510" cy="3131488"/>
          </a:xfrm>
          <a:prstGeom prst="bentArrow">
            <a:avLst>
              <a:gd name="adj1" fmla="val 14269"/>
              <a:gd name="adj2" fmla="val 19109"/>
              <a:gd name="adj3" fmla="val 23764"/>
              <a:gd name="adj4" fmla="val 24867"/>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1" name="Arrow: Bent 120">
            <a:extLst>
              <a:ext uri="{FF2B5EF4-FFF2-40B4-BE49-F238E27FC236}">
                <a16:creationId xmlns:a16="http://schemas.microsoft.com/office/drawing/2014/main" id="{3C5B600D-B003-4F23-B24F-32B298F54881}"/>
              </a:ext>
            </a:extLst>
          </p:cNvPr>
          <p:cNvSpPr/>
          <p:nvPr/>
        </p:nvSpPr>
        <p:spPr>
          <a:xfrm rot="16200000">
            <a:off x="8879418" y="1408034"/>
            <a:ext cx="436817" cy="954195"/>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Left Brace 33">
            <a:extLst>
              <a:ext uri="{FF2B5EF4-FFF2-40B4-BE49-F238E27FC236}">
                <a16:creationId xmlns:a16="http://schemas.microsoft.com/office/drawing/2014/main" id="{86F3EC75-A9A9-4579-97D5-436BFFE8961B}"/>
              </a:ext>
            </a:extLst>
          </p:cNvPr>
          <p:cNvSpPr/>
          <p:nvPr/>
        </p:nvSpPr>
        <p:spPr>
          <a:xfrm>
            <a:off x="5381139" y="2163195"/>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5A1B848B-1802-46B9-BA5D-E1D59ACAF2FE}"/>
              </a:ext>
            </a:extLst>
          </p:cNvPr>
          <p:cNvSpPr txBox="1"/>
          <p:nvPr/>
        </p:nvSpPr>
        <p:spPr>
          <a:xfrm rot="16200000">
            <a:off x="4280323" y="2885073"/>
            <a:ext cx="1725922" cy="369332"/>
          </a:xfrm>
          <a:prstGeom prst="rect">
            <a:avLst/>
          </a:prstGeom>
          <a:noFill/>
        </p:spPr>
        <p:txBody>
          <a:bodyPr wrap="none" rtlCol="0">
            <a:spAutoFit/>
          </a:bodyPr>
          <a:lstStyle/>
          <a:p>
            <a:r>
              <a:rPr lang="en-US" dirty="0"/>
              <a:t>Specification IGs</a:t>
            </a:r>
          </a:p>
        </p:txBody>
      </p:sp>
      <p:sp>
        <p:nvSpPr>
          <p:cNvPr id="86" name="Left Brace 85">
            <a:extLst>
              <a:ext uri="{FF2B5EF4-FFF2-40B4-BE49-F238E27FC236}">
                <a16:creationId xmlns:a16="http://schemas.microsoft.com/office/drawing/2014/main" id="{C62B7F98-559D-4442-A146-1681DF335B47}"/>
              </a:ext>
            </a:extLst>
          </p:cNvPr>
          <p:cNvSpPr/>
          <p:nvPr/>
        </p:nvSpPr>
        <p:spPr>
          <a:xfrm>
            <a:off x="5607510" y="195150"/>
            <a:ext cx="345815" cy="1471573"/>
          </a:xfrm>
          <a:prstGeom prst="leftBrace">
            <a:avLst>
              <a:gd name="adj1" fmla="val 5179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106CFAD7-A0D5-4C23-9B3C-C76B87F66400}"/>
              </a:ext>
            </a:extLst>
          </p:cNvPr>
          <p:cNvSpPr txBox="1"/>
          <p:nvPr/>
        </p:nvSpPr>
        <p:spPr>
          <a:xfrm rot="16200000">
            <a:off x="4745755" y="702885"/>
            <a:ext cx="1282402" cy="369332"/>
          </a:xfrm>
          <a:prstGeom prst="rect">
            <a:avLst/>
          </a:prstGeom>
          <a:noFill/>
        </p:spPr>
        <p:txBody>
          <a:bodyPr wrap="none" rtlCol="0">
            <a:spAutoFit/>
          </a:bodyPr>
          <a:lstStyle/>
          <a:p>
            <a:r>
              <a:rPr lang="en-US" dirty="0"/>
              <a:t>Content IGs</a:t>
            </a:r>
          </a:p>
        </p:txBody>
      </p:sp>
      <p:grpSp>
        <p:nvGrpSpPr>
          <p:cNvPr id="40" name="Group 39">
            <a:extLst>
              <a:ext uri="{FF2B5EF4-FFF2-40B4-BE49-F238E27FC236}">
                <a16:creationId xmlns:a16="http://schemas.microsoft.com/office/drawing/2014/main" id="{2B8DFAB3-06FB-4F7B-8A5F-9F5691295A72}"/>
              </a:ext>
            </a:extLst>
          </p:cNvPr>
          <p:cNvGrpSpPr/>
          <p:nvPr/>
        </p:nvGrpSpPr>
        <p:grpSpPr>
          <a:xfrm>
            <a:off x="7077481" y="4964946"/>
            <a:ext cx="1352367" cy="1622840"/>
            <a:chOff x="8839975" y="5007698"/>
            <a:chExt cx="1352367" cy="1622840"/>
          </a:xfrm>
        </p:grpSpPr>
        <p:grpSp>
          <p:nvGrpSpPr>
            <p:cNvPr id="88" name="Group 87">
              <a:extLst>
                <a:ext uri="{FF2B5EF4-FFF2-40B4-BE49-F238E27FC236}">
                  <a16:creationId xmlns:a16="http://schemas.microsoft.com/office/drawing/2014/main" id="{9585D622-B740-4776-BB26-D2F4FF71F040}"/>
                </a:ext>
              </a:extLst>
            </p:cNvPr>
            <p:cNvGrpSpPr/>
            <p:nvPr/>
          </p:nvGrpSpPr>
          <p:grpSpPr>
            <a:xfrm>
              <a:off x="8839975" y="5007698"/>
              <a:ext cx="1352367" cy="1622840"/>
              <a:chOff x="9426000" y="2349000"/>
              <a:chExt cx="1800000" cy="2160000"/>
            </a:xfrm>
          </p:grpSpPr>
          <p:sp>
            <p:nvSpPr>
              <p:cNvPr id="89" name="Rectangle: Diagonal Corners Rounded 88">
                <a:extLst>
                  <a:ext uri="{FF2B5EF4-FFF2-40B4-BE49-F238E27FC236}">
                    <a16:creationId xmlns:a16="http://schemas.microsoft.com/office/drawing/2014/main" id="{2211EBFB-75E4-4DED-84FC-9CCAB61973A3}"/>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91" name="Group 90">
                <a:extLst>
                  <a:ext uri="{FF2B5EF4-FFF2-40B4-BE49-F238E27FC236}">
                    <a16:creationId xmlns:a16="http://schemas.microsoft.com/office/drawing/2014/main" id="{0D62A307-D1F4-4C6D-B6A8-A6B8EED2B24B}"/>
                  </a:ext>
                </a:extLst>
              </p:cNvPr>
              <p:cNvGrpSpPr/>
              <p:nvPr/>
            </p:nvGrpSpPr>
            <p:grpSpPr>
              <a:xfrm>
                <a:off x="9426000" y="3789000"/>
                <a:ext cx="1800000" cy="720000"/>
                <a:chOff x="8587800" y="2535669"/>
                <a:chExt cx="1800000" cy="720000"/>
              </a:xfrm>
            </p:grpSpPr>
            <p:sp>
              <p:nvSpPr>
                <p:cNvPr id="92" name="Rectangle 91">
                  <a:extLst>
                    <a:ext uri="{FF2B5EF4-FFF2-40B4-BE49-F238E27FC236}">
                      <a16:creationId xmlns:a16="http://schemas.microsoft.com/office/drawing/2014/main" id="{68536BB4-2C0E-45B4-BEE7-C6E06B82BF01}"/>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93" name="TextBox 92">
                  <a:extLst>
                    <a:ext uri="{FF2B5EF4-FFF2-40B4-BE49-F238E27FC236}">
                      <a16:creationId xmlns:a16="http://schemas.microsoft.com/office/drawing/2014/main" id="{4AB3AFEB-4B45-4333-8269-C89623AE0513}"/>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err="1"/>
                    <a:t>FHIRPath</a:t>
                  </a:r>
                  <a:endParaRPr lang="en-US" sz="1200" kern="1200" dirty="0"/>
                </a:p>
              </p:txBody>
            </p:sp>
          </p:grpSp>
        </p:grpSp>
        <p:pic>
          <p:nvPicPr>
            <p:cNvPr id="38" name="Picture 37">
              <a:extLst>
                <a:ext uri="{FF2B5EF4-FFF2-40B4-BE49-F238E27FC236}">
                  <a16:creationId xmlns:a16="http://schemas.microsoft.com/office/drawing/2014/main" id="{9F94C103-1645-4245-9530-EE5989AF4B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251398" y="5116289"/>
              <a:ext cx="584756" cy="584756"/>
            </a:xfrm>
            <a:prstGeom prst="rect">
              <a:avLst/>
            </a:prstGeom>
          </p:spPr>
        </p:pic>
      </p:grpSp>
      <p:grpSp>
        <p:nvGrpSpPr>
          <p:cNvPr id="36" name="Group 35">
            <a:extLst>
              <a:ext uri="{FF2B5EF4-FFF2-40B4-BE49-F238E27FC236}">
                <a16:creationId xmlns:a16="http://schemas.microsoft.com/office/drawing/2014/main" id="{97C383BA-C3EB-4C0B-AA20-33A6B1A2CE2A}"/>
              </a:ext>
            </a:extLst>
          </p:cNvPr>
          <p:cNvGrpSpPr/>
          <p:nvPr/>
        </p:nvGrpSpPr>
        <p:grpSpPr>
          <a:xfrm>
            <a:off x="8177096" y="4964946"/>
            <a:ext cx="1352367" cy="1622840"/>
            <a:chOff x="10011961" y="4984809"/>
            <a:chExt cx="1352367" cy="1622840"/>
          </a:xfrm>
        </p:grpSpPr>
        <p:grpSp>
          <p:nvGrpSpPr>
            <p:cNvPr id="103" name="Group 102">
              <a:extLst>
                <a:ext uri="{FF2B5EF4-FFF2-40B4-BE49-F238E27FC236}">
                  <a16:creationId xmlns:a16="http://schemas.microsoft.com/office/drawing/2014/main" id="{66147118-99FB-4F6B-8B19-C4285A96B1DB}"/>
                </a:ext>
              </a:extLst>
            </p:cNvPr>
            <p:cNvGrpSpPr/>
            <p:nvPr/>
          </p:nvGrpSpPr>
          <p:grpSpPr>
            <a:xfrm>
              <a:off x="10011961" y="4984809"/>
              <a:ext cx="1352367" cy="1622840"/>
              <a:chOff x="9426000" y="2349000"/>
              <a:chExt cx="1800000" cy="2160000"/>
            </a:xfrm>
          </p:grpSpPr>
          <p:sp>
            <p:nvSpPr>
              <p:cNvPr id="105" name="Rectangle: Diagonal Corners Rounded 104">
                <a:extLst>
                  <a:ext uri="{FF2B5EF4-FFF2-40B4-BE49-F238E27FC236}">
                    <a16:creationId xmlns:a16="http://schemas.microsoft.com/office/drawing/2014/main" id="{F8CCAF75-BE03-43D0-8EFC-D672014A0DF2}"/>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06" name="Group 105">
                <a:extLst>
                  <a:ext uri="{FF2B5EF4-FFF2-40B4-BE49-F238E27FC236}">
                    <a16:creationId xmlns:a16="http://schemas.microsoft.com/office/drawing/2014/main" id="{2BF21E6E-CC85-417E-B278-EEC4E1862DC9}"/>
                  </a:ext>
                </a:extLst>
              </p:cNvPr>
              <p:cNvGrpSpPr/>
              <p:nvPr/>
            </p:nvGrpSpPr>
            <p:grpSpPr>
              <a:xfrm>
                <a:off x="9426000" y="3789000"/>
                <a:ext cx="1800000" cy="720000"/>
                <a:chOff x="8587800" y="2535669"/>
                <a:chExt cx="1800000" cy="720000"/>
              </a:xfrm>
            </p:grpSpPr>
            <p:sp>
              <p:nvSpPr>
                <p:cNvPr id="107" name="Rectangle 106">
                  <a:extLst>
                    <a:ext uri="{FF2B5EF4-FFF2-40B4-BE49-F238E27FC236}">
                      <a16:creationId xmlns:a16="http://schemas.microsoft.com/office/drawing/2014/main" id="{FF76E184-8598-44E4-B4BE-50C178A9BCCC}"/>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08" name="TextBox 107">
                  <a:extLst>
                    <a:ext uri="{FF2B5EF4-FFF2-40B4-BE49-F238E27FC236}">
                      <a16:creationId xmlns:a16="http://schemas.microsoft.com/office/drawing/2014/main" id="{AE0C9817-9135-461A-9E14-BF346D4A42E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CQL</a:t>
                  </a:r>
                </a:p>
              </p:txBody>
            </p:sp>
          </p:grpSp>
        </p:grpSp>
        <p:pic>
          <p:nvPicPr>
            <p:cNvPr id="48" name="Picture 47">
              <a:extLst>
                <a:ext uri="{FF2B5EF4-FFF2-40B4-BE49-F238E27FC236}">
                  <a16:creationId xmlns:a16="http://schemas.microsoft.com/office/drawing/2014/main" id="{E2BAB5B6-AB15-4999-95E0-A9EAA61D4CB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384240" y="5089793"/>
              <a:ext cx="607807" cy="607807"/>
            </a:xfrm>
            <a:prstGeom prst="rect">
              <a:avLst/>
            </a:prstGeom>
          </p:spPr>
        </p:pic>
      </p:grpSp>
      <p:sp>
        <p:nvSpPr>
          <p:cNvPr id="100" name="Left Brace 99">
            <a:extLst>
              <a:ext uri="{FF2B5EF4-FFF2-40B4-BE49-F238E27FC236}">
                <a16:creationId xmlns:a16="http://schemas.microsoft.com/office/drawing/2014/main" id="{F5A3715A-C5A7-4C7E-98D7-79CDAED40297}"/>
              </a:ext>
            </a:extLst>
          </p:cNvPr>
          <p:cNvSpPr/>
          <p:nvPr/>
        </p:nvSpPr>
        <p:spPr>
          <a:xfrm>
            <a:off x="547803" y="2158517"/>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TextBox 100">
            <a:extLst>
              <a:ext uri="{FF2B5EF4-FFF2-40B4-BE49-F238E27FC236}">
                <a16:creationId xmlns:a16="http://schemas.microsoft.com/office/drawing/2014/main" id="{B0C449FB-8463-47A3-A447-BA8B8866A268}"/>
              </a:ext>
            </a:extLst>
          </p:cNvPr>
          <p:cNvSpPr txBox="1"/>
          <p:nvPr/>
        </p:nvSpPr>
        <p:spPr>
          <a:xfrm rot="16200000">
            <a:off x="-260079" y="2880395"/>
            <a:ext cx="1140056" cy="369332"/>
          </a:xfrm>
          <a:prstGeom prst="rect">
            <a:avLst/>
          </a:prstGeom>
          <a:noFill/>
        </p:spPr>
        <p:txBody>
          <a:bodyPr wrap="none" rtlCol="0">
            <a:spAutoFit/>
          </a:bodyPr>
          <a:lstStyle/>
          <a:p>
            <a:r>
              <a:rPr lang="en-US" dirty="0"/>
              <a:t>Model IGs</a:t>
            </a:r>
          </a:p>
        </p:txBody>
      </p:sp>
      <p:grpSp>
        <p:nvGrpSpPr>
          <p:cNvPr id="49" name="Group 48">
            <a:extLst>
              <a:ext uri="{FF2B5EF4-FFF2-40B4-BE49-F238E27FC236}">
                <a16:creationId xmlns:a16="http://schemas.microsoft.com/office/drawing/2014/main" id="{8B813E42-5DE2-4455-87DB-4FF715FF6BC3}"/>
              </a:ext>
            </a:extLst>
          </p:cNvPr>
          <p:cNvGrpSpPr/>
          <p:nvPr/>
        </p:nvGrpSpPr>
        <p:grpSpPr>
          <a:xfrm>
            <a:off x="709262" y="2530532"/>
            <a:ext cx="1352367" cy="1426969"/>
            <a:chOff x="709262" y="2530532"/>
            <a:chExt cx="1352367" cy="1426969"/>
          </a:xfrm>
        </p:grpSpPr>
        <p:grpSp>
          <p:nvGrpSpPr>
            <p:cNvPr id="102" name="Group 101">
              <a:extLst>
                <a:ext uri="{FF2B5EF4-FFF2-40B4-BE49-F238E27FC236}">
                  <a16:creationId xmlns:a16="http://schemas.microsoft.com/office/drawing/2014/main" id="{99551615-D996-4C73-AD7A-D2B231A10302}"/>
                </a:ext>
              </a:extLst>
            </p:cNvPr>
            <p:cNvGrpSpPr/>
            <p:nvPr/>
          </p:nvGrpSpPr>
          <p:grpSpPr>
            <a:xfrm>
              <a:off x="709262" y="2530532"/>
              <a:ext cx="1352367" cy="1426969"/>
              <a:chOff x="4169112" y="3087282"/>
              <a:chExt cx="1800000" cy="1899296"/>
            </a:xfrm>
          </p:grpSpPr>
          <p:sp>
            <p:nvSpPr>
              <p:cNvPr id="104" name="Rectangle: Diagonal Corners Rounded 103">
                <a:extLst>
                  <a:ext uri="{FF2B5EF4-FFF2-40B4-BE49-F238E27FC236}">
                    <a16:creationId xmlns:a16="http://schemas.microsoft.com/office/drawing/2014/main" id="{D92A3919-A321-4EC5-A5E5-DD52A747DB1B}"/>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9" name="TextBox 108">
                <a:extLst>
                  <a:ext uri="{FF2B5EF4-FFF2-40B4-BE49-F238E27FC236}">
                    <a16:creationId xmlns:a16="http://schemas.microsoft.com/office/drawing/2014/main" id="{949E2625-C5EB-4170-92DF-8D6E6A9A5651}"/>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IPS</a:t>
                </a:r>
                <a:endParaRPr lang="en-US" sz="1200" kern="1200" dirty="0"/>
              </a:p>
            </p:txBody>
          </p:sp>
        </p:grpSp>
        <p:pic>
          <p:nvPicPr>
            <p:cNvPr id="43" name="Picture 42">
              <a:extLst>
                <a:ext uri="{FF2B5EF4-FFF2-40B4-BE49-F238E27FC236}">
                  <a16:creationId xmlns:a16="http://schemas.microsoft.com/office/drawing/2014/main" id="{F3274503-A9CF-4B86-AB2B-6BE696C2B3A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85556" y="2645362"/>
              <a:ext cx="610754" cy="610754"/>
            </a:xfrm>
            <a:prstGeom prst="rect">
              <a:avLst/>
            </a:prstGeom>
          </p:spPr>
        </p:pic>
      </p:grpSp>
      <p:grpSp>
        <p:nvGrpSpPr>
          <p:cNvPr id="65" name="Group 64">
            <a:extLst>
              <a:ext uri="{FF2B5EF4-FFF2-40B4-BE49-F238E27FC236}">
                <a16:creationId xmlns:a16="http://schemas.microsoft.com/office/drawing/2014/main" id="{FBECF050-E3C9-493D-AB1D-ADCED9FEF278}"/>
              </a:ext>
            </a:extLst>
          </p:cNvPr>
          <p:cNvGrpSpPr/>
          <p:nvPr/>
        </p:nvGrpSpPr>
        <p:grpSpPr>
          <a:xfrm>
            <a:off x="9276711" y="4964946"/>
            <a:ext cx="1352367" cy="1622840"/>
            <a:chOff x="9123397" y="4964946"/>
            <a:chExt cx="1352367" cy="1622840"/>
          </a:xfrm>
        </p:grpSpPr>
        <p:grpSp>
          <p:nvGrpSpPr>
            <p:cNvPr id="117" name="Group 116">
              <a:extLst>
                <a:ext uri="{FF2B5EF4-FFF2-40B4-BE49-F238E27FC236}">
                  <a16:creationId xmlns:a16="http://schemas.microsoft.com/office/drawing/2014/main" id="{326D317E-CD30-4F65-BB63-466EA92EAE79}"/>
                </a:ext>
              </a:extLst>
            </p:cNvPr>
            <p:cNvGrpSpPr/>
            <p:nvPr/>
          </p:nvGrpSpPr>
          <p:grpSpPr>
            <a:xfrm>
              <a:off x="9123397" y="4964946"/>
              <a:ext cx="1352367" cy="1622840"/>
              <a:chOff x="9426000" y="2349000"/>
              <a:chExt cx="1800000" cy="2160000"/>
            </a:xfrm>
          </p:grpSpPr>
          <p:sp>
            <p:nvSpPr>
              <p:cNvPr id="125" name="Rectangle: Diagonal Corners Rounded 124">
                <a:extLst>
                  <a:ext uri="{FF2B5EF4-FFF2-40B4-BE49-F238E27FC236}">
                    <a16:creationId xmlns:a16="http://schemas.microsoft.com/office/drawing/2014/main" id="{D5DF4D5B-AC50-4F97-870C-E706AF4E20ED}"/>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26" name="Group 125">
                <a:extLst>
                  <a:ext uri="{FF2B5EF4-FFF2-40B4-BE49-F238E27FC236}">
                    <a16:creationId xmlns:a16="http://schemas.microsoft.com/office/drawing/2014/main" id="{DE88F40C-5C7A-4B38-9440-43BD32F4CBC5}"/>
                  </a:ext>
                </a:extLst>
              </p:cNvPr>
              <p:cNvGrpSpPr/>
              <p:nvPr/>
            </p:nvGrpSpPr>
            <p:grpSpPr>
              <a:xfrm>
                <a:off x="9426000" y="3789000"/>
                <a:ext cx="1800000" cy="720000"/>
                <a:chOff x="8587800" y="2535669"/>
                <a:chExt cx="1800000" cy="720000"/>
              </a:xfrm>
            </p:grpSpPr>
            <p:sp>
              <p:nvSpPr>
                <p:cNvPr id="127" name="Rectangle 126">
                  <a:extLst>
                    <a:ext uri="{FF2B5EF4-FFF2-40B4-BE49-F238E27FC236}">
                      <a16:creationId xmlns:a16="http://schemas.microsoft.com/office/drawing/2014/main" id="{1DCC155F-2427-4AD8-AFB7-1238B65341E0}"/>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28" name="TextBox 127">
                  <a:extLst>
                    <a:ext uri="{FF2B5EF4-FFF2-40B4-BE49-F238E27FC236}">
                      <a16:creationId xmlns:a16="http://schemas.microsoft.com/office/drawing/2014/main" id="{A0C1873B-CC60-43EB-8498-C25902669AA1}"/>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CDS Hooks</a:t>
                  </a:r>
                </a:p>
              </p:txBody>
            </p:sp>
          </p:grpSp>
        </p:grpSp>
        <p:pic>
          <p:nvPicPr>
            <p:cNvPr id="64" name="Picture 63">
              <a:extLst>
                <a:ext uri="{FF2B5EF4-FFF2-40B4-BE49-F238E27FC236}">
                  <a16:creationId xmlns:a16="http://schemas.microsoft.com/office/drawing/2014/main" id="{801618FB-30C9-4030-8C20-8EC2256CE7F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583453" y="5108217"/>
              <a:ext cx="432254" cy="474771"/>
            </a:xfrm>
            <a:prstGeom prst="rect">
              <a:avLst/>
            </a:prstGeom>
          </p:spPr>
        </p:pic>
      </p:grpSp>
      <p:grpSp>
        <p:nvGrpSpPr>
          <p:cNvPr id="66" name="Group 65">
            <a:extLst>
              <a:ext uri="{FF2B5EF4-FFF2-40B4-BE49-F238E27FC236}">
                <a16:creationId xmlns:a16="http://schemas.microsoft.com/office/drawing/2014/main" id="{14DB6233-86BC-4348-894C-600DEBD4C57A}"/>
              </a:ext>
            </a:extLst>
          </p:cNvPr>
          <p:cNvGrpSpPr/>
          <p:nvPr/>
        </p:nvGrpSpPr>
        <p:grpSpPr>
          <a:xfrm>
            <a:off x="10376326" y="4964946"/>
            <a:ext cx="1352367" cy="1622840"/>
            <a:chOff x="10157656" y="4964946"/>
            <a:chExt cx="1352367" cy="1622840"/>
          </a:xfrm>
        </p:grpSpPr>
        <p:grpSp>
          <p:nvGrpSpPr>
            <p:cNvPr id="130" name="Group 129">
              <a:extLst>
                <a:ext uri="{FF2B5EF4-FFF2-40B4-BE49-F238E27FC236}">
                  <a16:creationId xmlns:a16="http://schemas.microsoft.com/office/drawing/2014/main" id="{0C293A96-038E-49B3-BC5D-4F8561E1D655}"/>
                </a:ext>
              </a:extLst>
            </p:cNvPr>
            <p:cNvGrpSpPr/>
            <p:nvPr/>
          </p:nvGrpSpPr>
          <p:grpSpPr>
            <a:xfrm>
              <a:off x="10157656" y="4964946"/>
              <a:ext cx="1352367" cy="1622840"/>
              <a:chOff x="9426000" y="2349000"/>
              <a:chExt cx="1800000" cy="2160000"/>
            </a:xfrm>
          </p:grpSpPr>
          <p:sp>
            <p:nvSpPr>
              <p:cNvPr id="131" name="Rectangle: Diagonal Corners Rounded 130">
                <a:extLst>
                  <a:ext uri="{FF2B5EF4-FFF2-40B4-BE49-F238E27FC236}">
                    <a16:creationId xmlns:a16="http://schemas.microsoft.com/office/drawing/2014/main" id="{E6353EEA-3EEC-4ACC-80B4-CD7716EB7BFB}"/>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32" name="Group 131">
                <a:extLst>
                  <a:ext uri="{FF2B5EF4-FFF2-40B4-BE49-F238E27FC236}">
                    <a16:creationId xmlns:a16="http://schemas.microsoft.com/office/drawing/2014/main" id="{F6B84A81-3D2F-440A-BD5A-D40515D86705}"/>
                  </a:ext>
                </a:extLst>
              </p:cNvPr>
              <p:cNvGrpSpPr/>
              <p:nvPr/>
            </p:nvGrpSpPr>
            <p:grpSpPr>
              <a:xfrm>
                <a:off x="9426000" y="3789000"/>
                <a:ext cx="1800000" cy="720000"/>
                <a:chOff x="8587800" y="2535669"/>
                <a:chExt cx="1800000" cy="720000"/>
              </a:xfrm>
            </p:grpSpPr>
            <p:sp>
              <p:nvSpPr>
                <p:cNvPr id="133" name="Rectangle 132">
                  <a:extLst>
                    <a:ext uri="{FF2B5EF4-FFF2-40B4-BE49-F238E27FC236}">
                      <a16:creationId xmlns:a16="http://schemas.microsoft.com/office/drawing/2014/main" id="{B6268DC6-6D39-4D53-B993-96C3B15D68FF}"/>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34" name="TextBox 133">
                  <a:extLst>
                    <a:ext uri="{FF2B5EF4-FFF2-40B4-BE49-F238E27FC236}">
                      <a16:creationId xmlns:a16="http://schemas.microsoft.com/office/drawing/2014/main" id="{D585DD89-3D7D-403F-AE6C-19D85FB3C577}"/>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SMART</a:t>
                  </a:r>
                </a:p>
              </p:txBody>
            </p:sp>
          </p:grpSp>
        </p:grpSp>
        <p:pic>
          <p:nvPicPr>
            <p:cNvPr id="135" name="Picture 134" descr="smart-logo.png">
              <a:extLst>
                <a:ext uri="{FF2B5EF4-FFF2-40B4-BE49-F238E27FC236}">
                  <a16:creationId xmlns:a16="http://schemas.microsoft.com/office/drawing/2014/main" id="{C2751405-6D8A-4628-AACE-770839E4C596}"/>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0594483" y="5162801"/>
              <a:ext cx="483387" cy="420187"/>
            </a:xfrm>
            <a:prstGeom prst="rect">
              <a:avLst/>
            </a:prstGeom>
          </p:spPr>
        </p:pic>
      </p:grpSp>
      <p:pic>
        <p:nvPicPr>
          <p:cNvPr id="53" name="Picture 52">
            <a:extLst>
              <a:ext uri="{FF2B5EF4-FFF2-40B4-BE49-F238E27FC236}">
                <a16:creationId xmlns:a16="http://schemas.microsoft.com/office/drawing/2014/main" id="{E7DFD763-7080-422C-8662-80C8ED61F56B}"/>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grpSp>
        <p:nvGrpSpPr>
          <p:cNvPr id="77" name="Group 76">
            <a:extLst>
              <a:ext uri="{FF2B5EF4-FFF2-40B4-BE49-F238E27FC236}">
                <a16:creationId xmlns:a16="http://schemas.microsoft.com/office/drawing/2014/main" id="{9BF21A3E-05F5-4A11-838C-7BD8134406E2}"/>
              </a:ext>
            </a:extLst>
          </p:cNvPr>
          <p:cNvGrpSpPr/>
          <p:nvPr/>
        </p:nvGrpSpPr>
        <p:grpSpPr>
          <a:xfrm>
            <a:off x="8062278" y="2534129"/>
            <a:ext cx="1352367" cy="1489677"/>
            <a:chOff x="9220798" y="2495033"/>
            <a:chExt cx="1352367" cy="1489677"/>
          </a:xfrm>
        </p:grpSpPr>
        <p:grpSp>
          <p:nvGrpSpPr>
            <p:cNvPr id="129" name="Group 128">
              <a:extLst>
                <a:ext uri="{FF2B5EF4-FFF2-40B4-BE49-F238E27FC236}">
                  <a16:creationId xmlns:a16="http://schemas.microsoft.com/office/drawing/2014/main" id="{1A4D32AD-BE2A-4803-8C7B-D6EE97A7C469}"/>
                </a:ext>
              </a:extLst>
            </p:cNvPr>
            <p:cNvGrpSpPr/>
            <p:nvPr/>
          </p:nvGrpSpPr>
          <p:grpSpPr>
            <a:xfrm>
              <a:off x="9220798" y="2495033"/>
              <a:ext cx="1352367" cy="1489677"/>
              <a:chOff x="4473510" y="1010464"/>
              <a:chExt cx="1800000" cy="1982760"/>
            </a:xfrm>
          </p:grpSpPr>
          <p:sp>
            <p:nvSpPr>
              <p:cNvPr id="136" name="Rectangle: Diagonal Corners Rounded 135">
                <a:extLst>
                  <a:ext uri="{FF2B5EF4-FFF2-40B4-BE49-F238E27FC236}">
                    <a16:creationId xmlns:a16="http://schemas.microsoft.com/office/drawing/2014/main" id="{613E6084-44E5-436E-980B-DB0D39BD07B4}"/>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38" name="TextBox 137">
                <a:extLst>
                  <a:ext uri="{FF2B5EF4-FFF2-40B4-BE49-F238E27FC236}">
                    <a16:creationId xmlns:a16="http://schemas.microsoft.com/office/drawing/2014/main" id="{75C0B597-B403-45F0-9A22-28EF2A388F7E}"/>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SDC</a:t>
                </a:r>
              </a:p>
            </p:txBody>
          </p:sp>
        </p:grpSp>
        <p:pic>
          <p:nvPicPr>
            <p:cNvPr id="76" name="Picture 75">
              <a:extLst>
                <a:ext uri="{FF2B5EF4-FFF2-40B4-BE49-F238E27FC236}">
                  <a16:creationId xmlns:a16="http://schemas.microsoft.com/office/drawing/2014/main" id="{CDDD314D-D313-4155-A182-C66D7280BA4D}"/>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9686381" y="2624911"/>
              <a:ext cx="516189" cy="516188"/>
            </a:xfrm>
            <a:prstGeom prst="rect">
              <a:avLst/>
            </a:prstGeom>
          </p:spPr>
        </p:pic>
      </p:grpSp>
      <p:sp>
        <p:nvSpPr>
          <p:cNvPr id="119" name="Arrow: Bent 118">
            <a:extLst>
              <a:ext uri="{FF2B5EF4-FFF2-40B4-BE49-F238E27FC236}">
                <a16:creationId xmlns:a16="http://schemas.microsoft.com/office/drawing/2014/main" id="{EC12D5A4-4075-434D-989F-805BF9D8F083}"/>
              </a:ext>
            </a:extLst>
          </p:cNvPr>
          <p:cNvSpPr/>
          <p:nvPr/>
        </p:nvSpPr>
        <p:spPr>
          <a:xfrm rot="16200000">
            <a:off x="6793086" y="1321142"/>
            <a:ext cx="436817" cy="1176190"/>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Arrow: Left-Right 77">
            <a:extLst>
              <a:ext uri="{FF2B5EF4-FFF2-40B4-BE49-F238E27FC236}">
                <a16:creationId xmlns:a16="http://schemas.microsoft.com/office/drawing/2014/main" id="{59511F1E-AE09-4D97-97D1-125CCA234E6A}"/>
              </a:ext>
            </a:extLst>
          </p:cNvPr>
          <p:cNvSpPr/>
          <p:nvPr/>
        </p:nvSpPr>
        <p:spPr>
          <a:xfrm>
            <a:off x="10240987" y="2851395"/>
            <a:ext cx="433561" cy="23585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6796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7" name="Group 1026">
            <a:extLst>
              <a:ext uri="{FF2B5EF4-FFF2-40B4-BE49-F238E27FC236}">
                <a16:creationId xmlns:a16="http://schemas.microsoft.com/office/drawing/2014/main" id="{7DC50A98-5370-4C8B-B8D1-503947AC75CC}"/>
              </a:ext>
            </a:extLst>
          </p:cNvPr>
          <p:cNvGrpSpPr/>
          <p:nvPr/>
        </p:nvGrpSpPr>
        <p:grpSpPr>
          <a:xfrm>
            <a:off x="5746694" y="3725821"/>
            <a:ext cx="1352367" cy="1490500"/>
            <a:chOff x="7605510" y="1009369"/>
            <a:chExt cx="1800000" cy="1983855"/>
          </a:xfrm>
        </p:grpSpPr>
        <p:sp>
          <p:nvSpPr>
            <p:cNvPr id="50" name="Rectangle: Diagonal Corners Rounded 49">
              <a:extLst>
                <a:ext uri="{FF2B5EF4-FFF2-40B4-BE49-F238E27FC236}">
                  <a16:creationId xmlns:a16="http://schemas.microsoft.com/office/drawing/2014/main" id="{551609DD-6AB0-41A0-876A-613EAEE0CE9C}"/>
                </a:ext>
              </a:extLst>
            </p:cNvPr>
            <p:cNvSpPr/>
            <p:nvPr/>
          </p:nvSpPr>
          <p:spPr>
            <a:xfrm>
              <a:off x="7954184" y="1009369"/>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51" name="TextBox 50">
              <a:extLst>
                <a:ext uri="{FF2B5EF4-FFF2-40B4-BE49-F238E27FC236}">
                  <a16:creationId xmlns:a16="http://schemas.microsoft.com/office/drawing/2014/main" id="{CD57052D-7037-4465-9AC7-C2F505331E0B}"/>
                </a:ext>
              </a:extLst>
            </p:cNvPr>
            <p:cNvSpPr txBox="1"/>
            <p:nvPr/>
          </p:nvSpPr>
          <p:spPr>
            <a:xfrm>
              <a:off x="7605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DEQM</a:t>
              </a:r>
            </a:p>
          </p:txBody>
        </p:sp>
        <p:pic>
          <p:nvPicPr>
            <p:cNvPr id="52" name="Picture 51">
              <a:extLst>
                <a:ext uri="{FF2B5EF4-FFF2-40B4-BE49-F238E27FC236}">
                  <a16:creationId xmlns:a16="http://schemas.microsoft.com/office/drawing/2014/main" id="{35AF647C-2773-4177-BF0E-2DB056E5EB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7513" y="1062000"/>
              <a:ext cx="915444" cy="915444"/>
            </a:xfrm>
            <a:prstGeom prst="rect">
              <a:avLst/>
            </a:prstGeom>
          </p:spPr>
        </p:pic>
      </p:grpSp>
      <p:sp>
        <p:nvSpPr>
          <p:cNvPr id="34" name="Left Brace 33">
            <a:extLst>
              <a:ext uri="{FF2B5EF4-FFF2-40B4-BE49-F238E27FC236}">
                <a16:creationId xmlns:a16="http://schemas.microsoft.com/office/drawing/2014/main" id="{86F3EC75-A9A9-4579-97D5-436BFFE8961B}"/>
              </a:ext>
            </a:extLst>
          </p:cNvPr>
          <p:cNvSpPr/>
          <p:nvPr/>
        </p:nvSpPr>
        <p:spPr>
          <a:xfrm>
            <a:off x="5379605" y="3354887"/>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2" name="Group 61">
            <a:extLst>
              <a:ext uri="{FF2B5EF4-FFF2-40B4-BE49-F238E27FC236}">
                <a16:creationId xmlns:a16="http://schemas.microsoft.com/office/drawing/2014/main" id="{946462FD-829B-4345-BCEB-7501ED399846}"/>
              </a:ext>
            </a:extLst>
          </p:cNvPr>
          <p:cNvGrpSpPr/>
          <p:nvPr/>
        </p:nvGrpSpPr>
        <p:grpSpPr>
          <a:xfrm>
            <a:off x="3377417" y="3702677"/>
            <a:ext cx="1352367" cy="1426969"/>
            <a:chOff x="5696020" y="3073636"/>
            <a:chExt cx="1800000" cy="1899296"/>
          </a:xfrm>
        </p:grpSpPr>
        <p:sp>
          <p:nvSpPr>
            <p:cNvPr id="54" name="Rectangle: Diagonal Corners Rounded 53">
              <a:extLst>
                <a:ext uri="{FF2B5EF4-FFF2-40B4-BE49-F238E27FC236}">
                  <a16:creationId xmlns:a16="http://schemas.microsoft.com/office/drawing/2014/main" id="{3A399E88-BB41-4265-A7E4-65D6169F5CAB}"/>
                </a:ext>
              </a:extLst>
            </p:cNvPr>
            <p:cNvSpPr/>
            <p:nvPr/>
          </p:nvSpPr>
          <p:spPr>
            <a:xfrm>
              <a:off x="6047020" y="3073636"/>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5" name="TextBox 54">
              <a:extLst>
                <a:ext uri="{FF2B5EF4-FFF2-40B4-BE49-F238E27FC236}">
                  <a16:creationId xmlns:a16="http://schemas.microsoft.com/office/drawing/2014/main" id="{940A0095-305A-409C-AC37-428AAF02DE21}"/>
                </a:ext>
              </a:extLst>
            </p:cNvPr>
            <p:cNvSpPr txBox="1"/>
            <p:nvPr/>
          </p:nvSpPr>
          <p:spPr>
            <a:xfrm>
              <a:off x="5696020" y="4252931"/>
              <a:ext cx="1800000" cy="720001"/>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QI Core</a:t>
              </a:r>
            </a:p>
          </p:txBody>
        </p:sp>
        <p:pic>
          <p:nvPicPr>
            <p:cNvPr id="56" name="Picture 55">
              <a:extLst>
                <a:ext uri="{FF2B5EF4-FFF2-40B4-BE49-F238E27FC236}">
                  <a16:creationId xmlns:a16="http://schemas.microsoft.com/office/drawing/2014/main" id="{892D2C18-285C-4E38-B7B9-95F488DE47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16132" y="3241965"/>
              <a:ext cx="759776" cy="759776"/>
            </a:xfrm>
            <a:prstGeom prst="rect">
              <a:avLst/>
            </a:prstGeom>
          </p:spPr>
        </p:pic>
      </p:grpSp>
      <p:sp>
        <p:nvSpPr>
          <p:cNvPr id="114" name="Rectangle 113">
            <a:extLst>
              <a:ext uri="{FF2B5EF4-FFF2-40B4-BE49-F238E27FC236}">
                <a16:creationId xmlns:a16="http://schemas.microsoft.com/office/drawing/2014/main" id="{A608B4B3-6ACA-468C-9B87-D84219668E0A}"/>
              </a:ext>
            </a:extLst>
          </p:cNvPr>
          <p:cNvSpPr/>
          <p:nvPr/>
        </p:nvSpPr>
        <p:spPr>
          <a:xfrm>
            <a:off x="6653786" y="5207601"/>
            <a:ext cx="95353" cy="2811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a:extLst>
              <a:ext uri="{FF2B5EF4-FFF2-40B4-BE49-F238E27FC236}">
                <a16:creationId xmlns:a16="http://schemas.microsoft.com/office/drawing/2014/main" id="{D451E572-F133-420E-A19A-95DD3C3141F3}"/>
              </a:ext>
            </a:extLst>
          </p:cNvPr>
          <p:cNvSpPr/>
          <p:nvPr/>
        </p:nvSpPr>
        <p:spPr>
          <a:xfrm>
            <a:off x="4479056" y="5169720"/>
            <a:ext cx="82584"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Rectangle 1054">
            <a:extLst>
              <a:ext uri="{FF2B5EF4-FFF2-40B4-BE49-F238E27FC236}">
                <a16:creationId xmlns:a16="http://schemas.microsoft.com/office/drawing/2014/main" id="{71143C50-5FDC-46BC-A593-991634435130}"/>
              </a:ext>
            </a:extLst>
          </p:cNvPr>
          <p:cNvSpPr/>
          <p:nvPr/>
        </p:nvSpPr>
        <p:spPr>
          <a:xfrm>
            <a:off x="5537192" y="5207602"/>
            <a:ext cx="98685" cy="3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a:extLst>
              <a:ext uri="{FF2B5EF4-FFF2-40B4-BE49-F238E27FC236}">
                <a16:creationId xmlns:a16="http://schemas.microsoft.com/office/drawing/2014/main" id="{E2D882D9-63AB-4B59-9154-358DCECA153C}"/>
              </a:ext>
            </a:extLst>
          </p:cNvPr>
          <p:cNvSpPr/>
          <p:nvPr/>
        </p:nvSpPr>
        <p:spPr>
          <a:xfrm>
            <a:off x="7532158" y="3369781"/>
            <a:ext cx="110686" cy="35521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3" name="Rectangle 122">
            <a:extLst>
              <a:ext uri="{FF2B5EF4-FFF2-40B4-BE49-F238E27FC236}">
                <a16:creationId xmlns:a16="http://schemas.microsoft.com/office/drawing/2014/main" id="{99E795C3-B100-4602-B5C1-8BDAC22BC8A2}"/>
              </a:ext>
            </a:extLst>
          </p:cNvPr>
          <p:cNvSpPr/>
          <p:nvPr/>
        </p:nvSpPr>
        <p:spPr>
          <a:xfrm>
            <a:off x="9877044" y="3402859"/>
            <a:ext cx="110686" cy="337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Arrow: Bent 121">
            <a:extLst>
              <a:ext uri="{FF2B5EF4-FFF2-40B4-BE49-F238E27FC236}">
                <a16:creationId xmlns:a16="http://schemas.microsoft.com/office/drawing/2014/main" id="{0A371820-FB66-4B8F-861C-142DE7473493}"/>
              </a:ext>
            </a:extLst>
          </p:cNvPr>
          <p:cNvSpPr/>
          <p:nvPr/>
        </p:nvSpPr>
        <p:spPr>
          <a:xfrm rot="16200000" flipV="1">
            <a:off x="9574870" y="2945158"/>
            <a:ext cx="335866" cy="66278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3" name="Arrow: Bent 112">
            <a:extLst>
              <a:ext uri="{FF2B5EF4-FFF2-40B4-BE49-F238E27FC236}">
                <a16:creationId xmlns:a16="http://schemas.microsoft.com/office/drawing/2014/main" id="{F623CBA2-87DE-4DAE-9661-80903D387E03}"/>
              </a:ext>
            </a:extLst>
          </p:cNvPr>
          <p:cNvSpPr/>
          <p:nvPr/>
        </p:nvSpPr>
        <p:spPr>
          <a:xfrm rot="16200000">
            <a:off x="6989684" y="4086832"/>
            <a:ext cx="431451" cy="1919552"/>
          </a:xfrm>
          <a:prstGeom prst="bentArrow">
            <a:avLst>
              <a:gd name="adj1" fmla="val 27528"/>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1" name="Arrow: Bent 110">
            <a:extLst>
              <a:ext uri="{FF2B5EF4-FFF2-40B4-BE49-F238E27FC236}">
                <a16:creationId xmlns:a16="http://schemas.microsoft.com/office/drawing/2014/main" id="{4C086D16-38B3-4EF5-B13A-0FA4227D36A3}"/>
              </a:ext>
            </a:extLst>
          </p:cNvPr>
          <p:cNvSpPr/>
          <p:nvPr/>
        </p:nvSpPr>
        <p:spPr>
          <a:xfrm rot="16200000" flipV="1">
            <a:off x="10423989" y="4415093"/>
            <a:ext cx="436817" cy="1257216"/>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2" name="Arrow: Bent 111">
            <a:extLst>
              <a:ext uri="{FF2B5EF4-FFF2-40B4-BE49-F238E27FC236}">
                <a16:creationId xmlns:a16="http://schemas.microsoft.com/office/drawing/2014/main" id="{B2408D3F-D80B-42E3-BC8A-695D68A689A4}"/>
              </a:ext>
            </a:extLst>
          </p:cNvPr>
          <p:cNvSpPr/>
          <p:nvPr/>
        </p:nvSpPr>
        <p:spPr>
          <a:xfrm rot="16200000">
            <a:off x="8524638" y="4196217"/>
            <a:ext cx="436817" cy="1694968"/>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 name="Picture 1">
            <a:extLst>
              <a:ext uri="{FF2B5EF4-FFF2-40B4-BE49-F238E27FC236}">
                <a16:creationId xmlns:a16="http://schemas.microsoft.com/office/drawing/2014/main" id="{B910B5F9-0B96-44E3-947A-60B57301D1BE}"/>
              </a:ext>
            </a:extLst>
          </p:cNvPr>
          <p:cNvPicPr>
            <a:picLocks noChangeAspect="1"/>
          </p:cNvPicPr>
          <p:nvPr/>
        </p:nvPicPr>
        <p:blipFill>
          <a:blip r:embed="rId5"/>
          <a:stretch>
            <a:fillRect/>
          </a:stretch>
        </p:blipFill>
        <p:spPr>
          <a:xfrm>
            <a:off x="325765" y="5294174"/>
            <a:ext cx="1409999" cy="846001"/>
          </a:xfrm>
          <a:prstGeom prst="rect">
            <a:avLst/>
          </a:prstGeom>
        </p:spPr>
      </p:pic>
      <p:grpSp>
        <p:nvGrpSpPr>
          <p:cNvPr id="28" name="Group 27">
            <a:extLst>
              <a:ext uri="{FF2B5EF4-FFF2-40B4-BE49-F238E27FC236}">
                <a16:creationId xmlns:a16="http://schemas.microsoft.com/office/drawing/2014/main" id="{A95FC26E-1C1C-4D67-A246-7ADC3088A85E}"/>
              </a:ext>
            </a:extLst>
          </p:cNvPr>
          <p:cNvGrpSpPr/>
          <p:nvPr/>
        </p:nvGrpSpPr>
        <p:grpSpPr>
          <a:xfrm>
            <a:off x="1622660" y="5488741"/>
            <a:ext cx="1352367" cy="1622840"/>
            <a:chOff x="966000" y="2349000"/>
            <a:chExt cx="1800000" cy="2160000"/>
          </a:xfrm>
        </p:grpSpPr>
        <p:sp>
          <p:nvSpPr>
            <p:cNvPr id="3" name="Rectangle: Diagonal Corners Rounded 2">
              <a:extLst>
                <a:ext uri="{FF2B5EF4-FFF2-40B4-BE49-F238E27FC236}">
                  <a16:creationId xmlns:a16="http://schemas.microsoft.com/office/drawing/2014/main" id="{FCFF04A4-7213-4867-A518-8A9542549217}"/>
                </a:ext>
              </a:extLst>
            </p:cNvPr>
            <p:cNvSpPr/>
            <p:nvPr/>
          </p:nvSpPr>
          <p:spPr>
            <a:xfrm>
              <a:off x="131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4" name="Rectangle 3" descr="City">
              <a:extLst>
                <a:ext uri="{FF2B5EF4-FFF2-40B4-BE49-F238E27FC236}">
                  <a16:creationId xmlns:a16="http://schemas.microsoft.com/office/drawing/2014/main" id="{6C61B9BC-5274-4E3D-8D44-A5BDC90E36AF}"/>
                </a:ext>
              </a:extLst>
            </p:cNvPr>
            <p:cNvSpPr/>
            <p:nvPr/>
          </p:nvSpPr>
          <p:spPr>
            <a:xfrm>
              <a:off x="1551000" y="2583000"/>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5" name="Group 4">
              <a:extLst>
                <a:ext uri="{FF2B5EF4-FFF2-40B4-BE49-F238E27FC236}">
                  <a16:creationId xmlns:a16="http://schemas.microsoft.com/office/drawing/2014/main" id="{4997576B-AC47-4D24-B686-E5479CC62659}"/>
                </a:ext>
              </a:extLst>
            </p:cNvPr>
            <p:cNvGrpSpPr/>
            <p:nvPr/>
          </p:nvGrpSpPr>
          <p:grpSpPr>
            <a:xfrm>
              <a:off x="966000" y="3789000"/>
              <a:ext cx="1800000" cy="720000"/>
              <a:chOff x="127800" y="2535669"/>
              <a:chExt cx="1800000" cy="720000"/>
            </a:xfrm>
          </p:grpSpPr>
          <p:sp>
            <p:nvSpPr>
              <p:cNvPr id="26" name="Rectangle 25">
                <a:extLst>
                  <a:ext uri="{FF2B5EF4-FFF2-40B4-BE49-F238E27FC236}">
                    <a16:creationId xmlns:a16="http://schemas.microsoft.com/office/drawing/2014/main" id="{40A305B3-D5FF-4EC2-AEAF-9DF88623A5DE}"/>
                  </a:ext>
                </a:extLst>
              </p:cNvPr>
              <p:cNvSpPr/>
              <p:nvPr/>
            </p:nvSpPr>
            <p:spPr>
              <a:xfrm>
                <a:off x="12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7" name="TextBox 26">
                <a:extLst>
                  <a:ext uri="{FF2B5EF4-FFF2-40B4-BE49-F238E27FC236}">
                    <a16:creationId xmlns:a16="http://schemas.microsoft.com/office/drawing/2014/main" id="{1C6F5DEC-3322-4F36-B13C-FBB1BD4FD0E4}"/>
                  </a:ext>
                </a:extLst>
              </p:cNvPr>
              <p:cNvSpPr txBox="1"/>
              <p:nvPr/>
            </p:nvSpPr>
            <p:spPr>
              <a:xfrm>
                <a:off x="12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100" dirty="0"/>
                  <a:t>Foundation</a:t>
                </a:r>
              </a:p>
            </p:txBody>
          </p:sp>
        </p:grpSp>
      </p:grpSp>
      <p:grpSp>
        <p:nvGrpSpPr>
          <p:cNvPr id="29" name="Group 28">
            <a:extLst>
              <a:ext uri="{FF2B5EF4-FFF2-40B4-BE49-F238E27FC236}">
                <a16:creationId xmlns:a16="http://schemas.microsoft.com/office/drawing/2014/main" id="{579DC361-DDA4-4926-AB04-F96C8ED9E52A}"/>
              </a:ext>
            </a:extLst>
          </p:cNvPr>
          <p:cNvGrpSpPr/>
          <p:nvPr/>
        </p:nvGrpSpPr>
        <p:grpSpPr>
          <a:xfrm>
            <a:off x="2722275" y="5488741"/>
            <a:ext cx="1352367" cy="1622840"/>
            <a:chOff x="3081000" y="2349000"/>
            <a:chExt cx="1800000" cy="2160000"/>
          </a:xfrm>
        </p:grpSpPr>
        <p:sp>
          <p:nvSpPr>
            <p:cNvPr id="6" name="Rectangle: Diagonal Corners Rounded 5">
              <a:extLst>
                <a:ext uri="{FF2B5EF4-FFF2-40B4-BE49-F238E27FC236}">
                  <a16:creationId xmlns:a16="http://schemas.microsoft.com/office/drawing/2014/main" id="{5D6C6CB2-4E0A-40B5-B0B9-26599C9CD944}"/>
                </a:ext>
              </a:extLst>
            </p:cNvPr>
            <p:cNvSpPr/>
            <p:nvPr/>
          </p:nvSpPr>
          <p:spPr>
            <a:xfrm>
              <a:off x="343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7" name="Rectangle 6" descr="Checkmark">
              <a:extLst>
                <a:ext uri="{FF2B5EF4-FFF2-40B4-BE49-F238E27FC236}">
                  <a16:creationId xmlns:a16="http://schemas.microsoft.com/office/drawing/2014/main" id="{869ED83E-447A-4E66-9E14-F36CC4874C4B}"/>
                </a:ext>
              </a:extLst>
            </p:cNvPr>
            <p:cNvSpPr/>
            <p:nvPr/>
          </p:nvSpPr>
          <p:spPr>
            <a:xfrm>
              <a:off x="366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8" name="Group 7">
              <a:extLst>
                <a:ext uri="{FF2B5EF4-FFF2-40B4-BE49-F238E27FC236}">
                  <a16:creationId xmlns:a16="http://schemas.microsoft.com/office/drawing/2014/main" id="{B9BE6CB9-3CF5-4A1E-900B-D583AAAAC2C3}"/>
                </a:ext>
              </a:extLst>
            </p:cNvPr>
            <p:cNvGrpSpPr/>
            <p:nvPr/>
          </p:nvGrpSpPr>
          <p:grpSpPr>
            <a:xfrm>
              <a:off x="3081000" y="3789000"/>
              <a:ext cx="1800000" cy="720000"/>
              <a:chOff x="2242800" y="2535669"/>
              <a:chExt cx="1800000" cy="720000"/>
            </a:xfrm>
          </p:grpSpPr>
          <p:sp>
            <p:nvSpPr>
              <p:cNvPr id="24" name="Rectangle 23">
                <a:extLst>
                  <a:ext uri="{FF2B5EF4-FFF2-40B4-BE49-F238E27FC236}">
                    <a16:creationId xmlns:a16="http://schemas.microsoft.com/office/drawing/2014/main" id="{F7EE8978-47CE-45BC-8E38-CB2308F687D8}"/>
                  </a:ext>
                </a:extLst>
              </p:cNvPr>
              <p:cNvSpPr/>
              <p:nvPr/>
            </p:nvSpPr>
            <p:spPr>
              <a:xfrm>
                <a:off x="224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5" name="TextBox 24">
                <a:extLst>
                  <a:ext uri="{FF2B5EF4-FFF2-40B4-BE49-F238E27FC236}">
                    <a16:creationId xmlns:a16="http://schemas.microsoft.com/office/drawing/2014/main" id="{273CF8E2-22D9-4656-A7A0-B21CCEEAAE52}"/>
                  </a:ext>
                </a:extLst>
              </p:cNvPr>
              <p:cNvSpPr txBox="1"/>
              <p:nvPr/>
            </p:nvSpPr>
            <p:spPr>
              <a:xfrm>
                <a:off x="224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Conformance</a:t>
                </a:r>
              </a:p>
            </p:txBody>
          </p:sp>
        </p:grpSp>
      </p:grpSp>
      <p:grpSp>
        <p:nvGrpSpPr>
          <p:cNvPr id="30" name="Group 29">
            <a:extLst>
              <a:ext uri="{FF2B5EF4-FFF2-40B4-BE49-F238E27FC236}">
                <a16:creationId xmlns:a16="http://schemas.microsoft.com/office/drawing/2014/main" id="{66110138-5B34-49FA-BAE0-62FF3231E14A}"/>
              </a:ext>
            </a:extLst>
          </p:cNvPr>
          <p:cNvGrpSpPr/>
          <p:nvPr/>
        </p:nvGrpSpPr>
        <p:grpSpPr>
          <a:xfrm>
            <a:off x="3821890" y="5488741"/>
            <a:ext cx="1352367" cy="1622840"/>
            <a:chOff x="5196000" y="2349000"/>
            <a:chExt cx="1800000" cy="2160000"/>
          </a:xfrm>
        </p:grpSpPr>
        <p:sp>
          <p:nvSpPr>
            <p:cNvPr id="9" name="Rectangle: Diagonal Corners Rounded 8">
              <a:extLst>
                <a:ext uri="{FF2B5EF4-FFF2-40B4-BE49-F238E27FC236}">
                  <a16:creationId xmlns:a16="http://schemas.microsoft.com/office/drawing/2014/main" id="{82D03FE5-BD95-4C90-A2D5-3162B3F926FF}"/>
                </a:ext>
              </a:extLst>
            </p:cNvPr>
            <p:cNvSpPr/>
            <p:nvPr/>
          </p:nvSpPr>
          <p:spPr>
            <a:xfrm>
              <a:off x="554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 name="Rectangle 9" descr="Hierarchy">
              <a:extLst>
                <a:ext uri="{FF2B5EF4-FFF2-40B4-BE49-F238E27FC236}">
                  <a16:creationId xmlns:a16="http://schemas.microsoft.com/office/drawing/2014/main" id="{0444D7DE-1E7F-407B-8B8D-517BDE6A8CD5}"/>
                </a:ext>
              </a:extLst>
            </p:cNvPr>
            <p:cNvSpPr/>
            <p:nvPr/>
          </p:nvSpPr>
          <p:spPr>
            <a:xfrm>
              <a:off x="578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1" name="Group 10">
              <a:extLst>
                <a:ext uri="{FF2B5EF4-FFF2-40B4-BE49-F238E27FC236}">
                  <a16:creationId xmlns:a16="http://schemas.microsoft.com/office/drawing/2014/main" id="{40E036D1-BEDD-47DE-8984-D6495F104648}"/>
                </a:ext>
              </a:extLst>
            </p:cNvPr>
            <p:cNvGrpSpPr/>
            <p:nvPr/>
          </p:nvGrpSpPr>
          <p:grpSpPr>
            <a:xfrm>
              <a:off x="5196000" y="3789000"/>
              <a:ext cx="1800000" cy="720000"/>
              <a:chOff x="4357800" y="2535669"/>
              <a:chExt cx="1800000" cy="720000"/>
            </a:xfrm>
          </p:grpSpPr>
          <p:sp>
            <p:nvSpPr>
              <p:cNvPr id="22" name="Rectangle 21">
                <a:extLst>
                  <a:ext uri="{FF2B5EF4-FFF2-40B4-BE49-F238E27FC236}">
                    <a16:creationId xmlns:a16="http://schemas.microsoft.com/office/drawing/2014/main" id="{C8E0982C-9E8A-4305-A9A7-10DA86413B55}"/>
                  </a:ext>
                </a:extLst>
              </p:cNvPr>
              <p:cNvSpPr/>
              <p:nvPr/>
            </p:nvSpPr>
            <p:spPr>
              <a:xfrm>
                <a:off x="435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3" name="TextBox 22">
                <a:extLst>
                  <a:ext uri="{FF2B5EF4-FFF2-40B4-BE49-F238E27FC236}">
                    <a16:creationId xmlns:a16="http://schemas.microsoft.com/office/drawing/2014/main" id="{B79372F8-AE09-4C35-8F1F-698A6785554E}"/>
                  </a:ext>
                </a:extLst>
              </p:cNvPr>
              <p:cNvSpPr txBox="1"/>
              <p:nvPr/>
            </p:nvSpPr>
            <p:spPr>
              <a:xfrm>
                <a:off x="435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Administration</a:t>
                </a:r>
              </a:p>
            </p:txBody>
          </p:sp>
        </p:grpSp>
      </p:grpSp>
      <p:grpSp>
        <p:nvGrpSpPr>
          <p:cNvPr id="31" name="Group 30">
            <a:extLst>
              <a:ext uri="{FF2B5EF4-FFF2-40B4-BE49-F238E27FC236}">
                <a16:creationId xmlns:a16="http://schemas.microsoft.com/office/drawing/2014/main" id="{EE9FCCB7-F8B5-4DA1-ACA0-A87A9ADC69A6}"/>
              </a:ext>
            </a:extLst>
          </p:cNvPr>
          <p:cNvGrpSpPr/>
          <p:nvPr/>
        </p:nvGrpSpPr>
        <p:grpSpPr>
          <a:xfrm>
            <a:off x="4921505" y="5488741"/>
            <a:ext cx="1352367" cy="1622840"/>
            <a:chOff x="7311000" y="2349000"/>
            <a:chExt cx="1800000" cy="2160000"/>
          </a:xfrm>
        </p:grpSpPr>
        <p:sp>
          <p:nvSpPr>
            <p:cNvPr id="12" name="Rectangle: Diagonal Corners Rounded 11">
              <a:extLst>
                <a:ext uri="{FF2B5EF4-FFF2-40B4-BE49-F238E27FC236}">
                  <a16:creationId xmlns:a16="http://schemas.microsoft.com/office/drawing/2014/main" id="{63514769-E01D-4FD0-B2E0-B64FC9214AFA}"/>
                </a:ext>
              </a:extLst>
            </p:cNvPr>
            <p:cNvSpPr/>
            <p:nvPr/>
          </p:nvSpPr>
          <p:spPr>
            <a:xfrm>
              <a:off x="7662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3" name="Rectangle 12" descr="Stethoscope">
              <a:extLst>
                <a:ext uri="{FF2B5EF4-FFF2-40B4-BE49-F238E27FC236}">
                  <a16:creationId xmlns:a16="http://schemas.microsoft.com/office/drawing/2014/main" id="{8F189E16-677E-4B32-A7EC-BFFF46FB4D26}"/>
                </a:ext>
              </a:extLst>
            </p:cNvPr>
            <p:cNvSpPr/>
            <p:nvPr/>
          </p:nvSpPr>
          <p:spPr>
            <a:xfrm>
              <a:off x="7896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4" name="Group 13">
              <a:extLst>
                <a:ext uri="{FF2B5EF4-FFF2-40B4-BE49-F238E27FC236}">
                  <a16:creationId xmlns:a16="http://schemas.microsoft.com/office/drawing/2014/main" id="{53BF3B34-F81F-48DE-9DCF-B08C9848FA77}"/>
                </a:ext>
              </a:extLst>
            </p:cNvPr>
            <p:cNvGrpSpPr/>
            <p:nvPr/>
          </p:nvGrpSpPr>
          <p:grpSpPr>
            <a:xfrm>
              <a:off x="7311000" y="3789000"/>
              <a:ext cx="1800000" cy="720000"/>
              <a:chOff x="6472800" y="2535669"/>
              <a:chExt cx="1800000" cy="720000"/>
            </a:xfrm>
          </p:grpSpPr>
          <p:sp>
            <p:nvSpPr>
              <p:cNvPr id="20" name="Rectangle 19">
                <a:extLst>
                  <a:ext uri="{FF2B5EF4-FFF2-40B4-BE49-F238E27FC236}">
                    <a16:creationId xmlns:a16="http://schemas.microsoft.com/office/drawing/2014/main" id="{BBEAFC41-A0A1-4E87-AC35-BE88EA5EF283}"/>
                  </a:ext>
                </a:extLst>
              </p:cNvPr>
              <p:cNvSpPr/>
              <p:nvPr/>
            </p:nvSpPr>
            <p:spPr>
              <a:xfrm>
                <a:off x="6472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21" name="TextBox 20">
                <a:extLst>
                  <a:ext uri="{FF2B5EF4-FFF2-40B4-BE49-F238E27FC236}">
                    <a16:creationId xmlns:a16="http://schemas.microsoft.com/office/drawing/2014/main" id="{F5ABC41E-FE4C-4F35-B8E3-534B43D10B41}"/>
                  </a:ext>
                </a:extLst>
              </p:cNvPr>
              <p:cNvSpPr txBox="1"/>
              <p:nvPr/>
            </p:nvSpPr>
            <p:spPr>
              <a:xfrm>
                <a:off x="6472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Clinical</a:t>
                </a:r>
              </a:p>
            </p:txBody>
          </p:sp>
        </p:grpSp>
      </p:grpSp>
      <p:grpSp>
        <p:nvGrpSpPr>
          <p:cNvPr id="32" name="Group 31">
            <a:extLst>
              <a:ext uri="{FF2B5EF4-FFF2-40B4-BE49-F238E27FC236}">
                <a16:creationId xmlns:a16="http://schemas.microsoft.com/office/drawing/2014/main" id="{9E8EEBFC-35EA-49E3-8DAB-CB0A92C6BE53}"/>
              </a:ext>
            </a:extLst>
          </p:cNvPr>
          <p:cNvGrpSpPr/>
          <p:nvPr/>
        </p:nvGrpSpPr>
        <p:grpSpPr>
          <a:xfrm>
            <a:off x="6021120" y="5488741"/>
            <a:ext cx="1352367" cy="1622840"/>
            <a:chOff x="9426000" y="2349000"/>
            <a:chExt cx="1800000" cy="2160000"/>
          </a:xfrm>
        </p:grpSpPr>
        <p:sp>
          <p:nvSpPr>
            <p:cNvPr id="15" name="Rectangle: Diagonal Corners Rounded 14">
              <a:extLst>
                <a:ext uri="{FF2B5EF4-FFF2-40B4-BE49-F238E27FC236}">
                  <a16:creationId xmlns:a16="http://schemas.microsoft.com/office/drawing/2014/main" id="{5C8DEE5F-48FB-4DCF-B9A6-C77FB7D8F45C}"/>
                </a:ext>
              </a:extLst>
            </p:cNvPr>
            <p:cNvSpPr/>
            <p:nvPr/>
          </p:nvSpPr>
          <p:spPr>
            <a:xfrm>
              <a:off x="9777000" y="2349000"/>
              <a:ext cx="1098000" cy="1098000"/>
            </a:xfrm>
            <a:prstGeom prst="round2DiagRect">
              <a:avLst>
                <a:gd name="adj1" fmla="val 29727"/>
                <a:gd name="adj2" fmla="val 0"/>
              </a:avLst>
            </a:prstGeom>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6" name="Rectangle 15" descr="Head with Gears">
              <a:extLst>
                <a:ext uri="{FF2B5EF4-FFF2-40B4-BE49-F238E27FC236}">
                  <a16:creationId xmlns:a16="http://schemas.microsoft.com/office/drawing/2014/main" id="{DB7C798B-9BED-4FCB-8E4A-8004514E0412}"/>
                </a:ext>
              </a:extLst>
            </p:cNvPr>
            <p:cNvSpPr/>
            <p:nvPr/>
          </p:nvSpPr>
          <p:spPr>
            <a:xfrm>
              <a:off x="10011000" y="2582999"/>
              <a:ext cx="630000" cy="630000"/>
            </a:xfrm>
            <a:prstGeom prst="rect">
              <a:avLst/>
            </a:prstGeom>
            <a: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nvGrpSpPr>
            <p:cNvPr id="17" name="Group 16">
              <a:extLst>
                <a:ext uri="{FF2B5EF4-FFF2-40B4-BE49-F238E27FC236}">
                  <a16:creationId xmlns:a16="http://schemas.microsoft.com/office/drawing/2014/main" id="{6096D43B-20E5-46AC-A161-868B9E1EEFE7}"/>
                </a:ext>
              </a:extLst>
            </p:cNvPr>
            <p:cNvGrpSpPr/>
            <p:nvPr/>
          </p:nvGrpSpPr>
          <p:grpSpPr>
            <a:xfrm>
              <a:off x="9426000" y="3789000"/>
              <a:ext cx="1800000" cy="720000"/>
              <a:chOff x="8587800" y="2535669"/>
              <a:chExt cx="1800000" cy="720000"/>
            </a:xfrm>
          </p:grpSpPr>
          <p:sp>
            <p:nvSpPr>
              <p:cNvPr id="18" name="Rectangle 17">
                <a:extLst>
                  <a:ext uri="{FF2B5EF4-FFF2-40B4-BE49-F238E27FC236}">
                    <a16:creationId xmlns:a16="http://schemas.microsoft.com/office/drawing/2014/main" id="{5B17A45E-E648-41D4-B844-C482712C1DE3}"/>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9" name="TextBox 18">
                <a:extLst>
                  <a:ext uri="{FF2B5EF4-FFF2-40B4-BE49-F238E27FC236}">
                    <a16:creationId xmlns:a16="http://schemas.microsoft.com/office/drawing/2014/main" id="{91F4CFE9-1229-465B-8AB8-0AE3F8A7C43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a:t>Reasoning</a:t>
                </a:r>
              </a:p>
            </p:txBody>
          </p:sp>
        </p:grpSp>
      </p:grpSp>
      <p:grpSp>
        <p:nvGrpSpPr>
          <p:cNvPr id="63" name="Group 62">
            <a:extLst>
              <a:ext uri="{FF2B5EF4-FFF2-40B4-BE49-F238E27FC236}">
                <a16:creationId xmlns:a16="http://schemas.microsoft.com/office/drawing/2014/main" id="{44884DFD-F795-447A-AB73-65C28F9EF344}"/>
              </a:ext>
            </a:extLst>
          </p:cNvPr>
          <p:cNvGrpSpPr/>
          <p:nvPr/>
        </p:nvGrpSpPr>
        <p:grpSpPr>
          <a:xfrm>
            <a:off x="10374792" y="3725821"/>
            <a:ext cx="1352367" cy="1489677"/>
            <a:chOff x="2907510" y="1010464"/>
            <a:chExt cx="1800000" cy="1982760"/>
          </a:xfrm>
        </p:grpSpPr>
        <p:sp>
          <p:nvSpPr>
            <p:cNvPr id="33" name="Rectangle: Diagonal Corners Rounded 32">
              <a:extLst>
                <a:ext uri="{FF2B5EF4-FFF2-40B4-BE49-F238E27FC236}">
                  <a16:creationId xmlns:a16="http://schemas.microsoft.com/office/drawing/2014/main" id="{CCE2D025-CF15-4B94-B479-382CFA544368}"/>
                </a:ext>
              </a:extLst>
            </p:cNvPr>
            <p:cNvSpPr/>
            <p:nvPr/>
          </p:nvSpPr>
          <p:spPr>
            <a:xfrm>
              <a:off x="3258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37" name="TextBox 36">
              <a:extLst>
                <a:ext uri="{FF2B5EF4-FFF2-40B4-BE49-F238E27FC236}">
                  <a16:creationId xmlns:a16="http://schemas.microsoft.com/office/drawing/2014/main" id="{4CE705C1-F6A7-4A78-B9B0-FE51B1729D1D}"/>
                </a:ext>
              </a:extLst>
            </p:cNvPr>
            <p:cNvSpPr txBox="1"/>
            <p:nvPr/>
          </p:nvSpPr>
          <p:spPr>
            <a:xfrm>
              <a:off x="2907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EBM-on-FHIR</a:t>
              </a:r>
            </a:p>
          </p:txBody>
        </p:sp>
        <p:pic>
          <p:nvPicPr>
            <p:cNvPr id="39" name="Picture 38">
              <a:extLst>
                <a:ext uri="{FF2B5EF4-FFF2-40B4-BE49-F238E27FC236}">
                  <a16:creationId xmlns:a16="http://schemas.microsoft.com/office/drawing/2014/main" id="{9CC9B04B-9493-4974-8D43-A49652EB5875}"/>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3442004" y="1169644"/>
              <a:ext cx="840134" cy="840134"/>
            </a:xfrm>
            <a:prstGeom prst="rect">
              <a:avLst/>
            </a:prstGeom>
          </p:spPr>
        </p:pic>
      </p:grpSp>
      <p:grpSp>
        <p:nvGrpSpPr>
          <p:cNvPr id="1024" name="Group 1023">
            <a:extLst>
              <a:ext uri="{FF2B5EF4-FFF2-40B4-BE49-F238E27FC236}">
                <a16:creationId xmlns:a16="http://schemas.microsoft.com/office/drawing/2014/main" id="{91AAF543-0361-461F-BAD8-FAB07CF3A456}"/>
              </a:ext>
            </a:extLst>
          </p:cNvPr>
          <p:cNvGrpSpPr/>
          <p:nvPr/>
        </p:nvGrpSpPr>
        <p:grpSpPr>
          <a:xfrm>
            <a:off x="9217768" y="3725821"/>
            <a:ext cx="1352367" cy="1489677"/>
            <a:chOff x="4473510" y="1010464"/>
            <a:chExt cx="1800000" cy="1982760"/>
          </a:xfrm>
        </p:grpSpPr>
        <p:sp>
          <p:nvSpPr>
            <p:cNvPr id="41" name="Rectangle: Diagonal Corners Rounded 40">
              <a:extLst>
                <a:ext uri="{FF2B5EF4-FFF2-40B4-BE49-F238E27FC236}">
                  <a16:creationId xmlns:a16="http://schemas.microsoft.com/office/drawing/2014/main" id="{FB89AC8E-D2BC-4F4B-99CC-C06614264EA6}"/>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pic>
          <p:nvPicPr>
            <p:cNvPr id="42" name="Picture 41">
              <a:extLst>
                <a:ext uri="{FF2B5EF4-FFF2-40B4-BE49-F238E27FC236}">
                  <a16:creationId xmlns:a16="http://schemas.microsoft.com/office/drawing/2014/main" id="{90FD1415-2A71-4EE0-815A-5F750A29326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923195" y="1109149"/>
              <a:ext cx="900629" cy="900629"/>
            </a:xfrm>
            <a:prstGeom prst="rect">
              <a:avLst/>
            </a:prstGeom>
          </p:spPr>
        </p:pic>
        <p:sp>
          <p:nvSpPr>
            <p:cNvPr id="44" name="TextBox 43">
              <a:extLst>
                <a:ext uri="{FF2B5EF4-FFF2-40B4-BE49-F238E27FC236}">
                  <a16:creationId xmlns:a16="http://schemas.microsoft.com/office/drawing/2014/main" id="{499ADB29-15CB-4F97-9078-DE2B2E647CD4}"/>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CPG-on-FHIR</a:t>
              </a:r>
            </a:p>
          </p:txBody>
        </p:sp>
      </p:grpSp>
      <p:grpSp>
        <p:nvGrpSpPr>
          <p:cNvPr id="61" name="Group 60">
            <a:extLst>
              <a:ext uri="{FF2B5EF4-FFF2-40B4-BE49-F238E27FC236}">
                <a16:creationId xmlns:a16="http://schemas.microsoft.com/office/drawing/2014/main" id="{F9A15AC5-BCB3-4C33-82A6-BBB9B9A0CB16}"/>
              </a:ext>
            </a:extLst>
          </p:cNvPr>
          <p:cNvGrpSpPr/>
          <p:nvPr/>
        </p:nvGrpSpPr>
        <p:grpSpPr>
          <a:xfrm>
            <a:off x="1924136" y="3722224"/>
            <a:ext cx="1352367" cy="1426969"/>
            <a:chOff x="4169112" y="3087282"/>
            <a:chExt cx="1800000" cy="1899296"/>
          </a:xfrm>
        </p:grpSpPr>
        <p:sp>
          <p:nvSpPr>
            <p:cNvPr id="58" name="Rectangle: Diagonal Corners Rounded 57">
              <a:extLst>
                <a:ext uri="{FF2B5EF4-FFF2-40B4-BE49-F238E27FC236}">
                  <a16:creationId xmlns:a16="http://schemas.microsoft.com/office/drawing/2014/main" id="{E68EA5AB-0282-4FB5-B043-398AFD24ED15}"/>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59" name="TextBox 58">
              <a:extLst>
                <a:ext uri="{FF2B5EF4-FFF2-40B4-BE49-F238E27FC236}">
                  <a16:creationId xmlns:a16="http://schemas.microsoft.com/office/drawing/2014/main" id="{2A8CBD78-D584-41C2-8C4F-0FCA6E7DED74}"/>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US </a:t>
              </a:r>
              <a:r>
                <a:rPr lang="en-US" sz="1200" kern="1200" dirty="0"/>
                <a:t>Core</a:t>
              </a:r>
            </a:p>
          </p:txBody>
        </p:sp>
        <p:pic>
          <p:nvPicPr>
            <p:cNvPr id="60" name="Picture 59">
              <a:extLst>
                <a:ext uri="{FF2B5EF4-FFF2-40B4-BE49-F238E27FC236}">
                  <a16:creationId xmlns:a16="http://schemas.microsoft.com/office/drawing/2014/main" id="{AA2D18FC-4896-4C81-8153-2118D8A1345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630094" y="3233644"/>
              <a:ext cx="790018" cy="790018"/>
            </a:xfrm>
            <a:prstGeom prst="rect">
              <a:avLst/>
            </a:prstGeom>
          </p:spPr>
        </p:pic>
      </p:grpSp>
      <p:grpSp>
        <p:nvGrpSpPr>
          <p:cNvPr id="1025" name="Group 1024">
            <a:extLst>
              <a:ext uri="{FF2B5EF4-FFF2-40B4-BE49-F238E27FC236}">
                <a16:creationId xmlns:a16="http://schemas.microsoft.com/office/drawing/2014/main" id="{DC5ECB4C-0930-4027-9656-2CB10CAF50CF}"/>
              </a:ext>
            </a:extLst>
          </p:cNvPr>
          <p:cNvGrpSpPr/>
          <p:nvPr/>
        </p:nvGrpSpPr>
        <p:grpSpPr>
          <a:xfrm>
            <a:off x="6903719" y="3725821"/>
            <a:ext cx="1352367" cy="1489677"/>
            <a:chOff x="6039510" y="1010463"/>
            <a:chExt cx="1800000" cy="1982761"/>
          </a:xfrm>
        </p:grpSpPr>
        <p:sp>
          <p:nvSpPr>
            <p:cNvPr id="45" name="Rectangle: Diagonal Corners Rounded 44">
              <a:extLst>
                <a:ext uri="{FF2B5EF4-FFF2-40B4-BE49-F238E27FC236}">
                  <a16:creationId xmlns:a16="http://schemas.microsoft.com/office/drawing/2014/main" id="{79280F84-27CE-4A49-9C3D-3FA051F13911}"/>
                </a:ext>
              </a:extLst>
            </p:cNvPr>
            <p:cNvSpPr/>
            <p:nvPr/>
          </p:nvSpPr>
          <p:spPr>
            <a:xfrm>
              <a:off x="6390510" y="1010463"/>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46" name="TextBox 45">
              <a:extLst>
                <a:ext uri="{FF2B5EF4-FFF2-40B4-BE49-F238E27FC236}">
                  <a16:creationId xmlns:a16="http://schemas.microsoft.com/office/drawing/2014/main" id="{09D92C2E-611C-43F4-BF87-CCD3E2F9E152}"/>
                </a:ext>
              </a:extLst>
            </p:cNvPr>
            <p:cNvSpPr txBox="1"/>
            <p:nvPr/>
          </p:nvSpPr>
          <p:spPr>
            <a:xfrm>
              <a:off x="6039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QM</a:t>
              </a:r>
            </a:p>
          </p:txBody>
        </p:sp>
        <p:pic>
          <p:nvPicPr>
            <p:cNvPr id="47" name="Picture 46">
              <a:extLst>
                <a:ext uri="{FF2B5EF4-FFF2-40B4-BE49-F238E27FC236}">
                  <a16:creationId xmlns:a16="http://schemas.microsoft.com/office/drawing/2014/main" id="{D040E69D-024F-4CF8-90D6-4D53E1FBCBD1}"/>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6430334" y="1050287"/>
              <a:ext cx="1018351" cy="1018351"/>
            </a:xfrm>
            <a:prstGeom prst="rect">
              <a:avLst/>
            </a:prstGeom>
          </p:spPr>
        </p:pic>
      </p:grpSp>
      <p:grpSp>
        <p:nvGrpSpPr>
          <p:cNvPr id="1034" name="Group 1033">
            <a:extLst>
              <a:ext uri="{FF2B5EF4-FFF2-40B4-BE49-F238E27FC236}">
                <a16:creationId xmlns:a16="http://schemas.microsoft.com/office/drawing/2014/main" id="{EFF7093A-9DF6-4DFF-820D-8F2D07BF7632}"/>
              </a:ext>
            </a:extLst>
          </p:cNvPr>
          <p:cNvGrpSpPr/>
          <p:nvPr/>
        </p:nvGrpSpPr>
        <p:grpSpPr>
          <a:xfrm>
            <a:off x="2694068" y="1958906"/>
            <a:ext cx="1081487" cy="1103642"/>
            <a:chOff x="2233320" y="309617"/>
            <a:chExt cx="1439460" cy="1468948"/>
          </a:xfrm>
        </p:grpSpPr>
        <p:sp>
          <p:nvSpPr>
            <p:cNvPr id="68" name="Rectangle: Diagonal Corners Rounded 67">
              <a:extLst>
                <a:ext uri="{FF2B5EF4-FFF2-40B4-BE49-F238E27FC236}">
                  <a16:creationId xmlns:a16="http://schemas.microsoft.com/office/drawing/2014/main" id="{2A4620E3-D0B4-4327-9BA3-428DD18C8189}"/>
                </a:ext>
              </a:extLst>
            </p:cNvPr>
            <p:cNvSpPr/>
            <p:nvPr/>
          </p:nvSpPr>
          <p:spPr>
            <a:xfrm>
              <a:off x="2404050" y="309617"/>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3" name="TextBox 72">
              <a:extLst>
                <a:ext uri="{FF2B5EF4-FFF2-40B4-BE49-F238E27FC236}">
                  <a16:creationId xmlns:a16="http://schemas.microsoft.com/office/drawing/2014/main" id="{4AF53698-EFAC-42E3-AB7E-35204BD8957A}"/>
                </a:ext>
              </a:extLst>
            </p:cNvPr>
            <p:cNvSpPr txBox="1"/>
            <p:nvPr/>
          </p:nvSpPr>
          <p:spPr>
            <a:xfrm>
              <a:off x="2233320"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HEDIS</a:t>
              </a:r>
              <a:endParaRPr lang="en-US" sz="1200" kern="1200" dirty="0"/>
            </a:p>
          </p:txBody>
        </p:sp>
        <p:pic>
          <p:nvPicPr>
            <p:cNvPr id="1029" name="Picture 1028">
              <a:extLst>
                <a:ext uri="{FF2B5EF4-FFF2-40B4-BE49-F238E27FC236}">
                  <a16:creationId xmlns:a16="http://schemas.microsoft.com/office/drawing/2014/main" id="{40DEF351-6439-42F8-905A-85687B5B6EF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558480" y="411773"/>
              <a:ext cx="789140" cy="789140"/>
            </a:xfrm>
            <a:prstGeom prst="rect">
              <a:avLst/>
            </a:prstGeom>
          </p:spPr>
        </p:pic>
      </p:grpSp>
      <p:grpSp>
        <p:nvGrpSpPr>
          <p:cNvPr id="1035" name="Group 1034">
            <a:extLst>
              <a:ext uri="{FF2B5EF4-FFF2-40B4-BE49-F238E27FC236}">
                <a16:creationId xmlns:a16="http://schemas.microsoft.com/office/drawing/2014/main" id="{B3C0FEBF-EE79-4526-8170-EB88FF542819}"/>
              </a:ext>
            </a:extLst>
          </p:cNvPr>
          <p:cNvGrpSpPr/>
          <p:nvPr/>
        </p:nvGrpSpPr>
        <p:grpSpPr>
          <a:xfrm>
            <a:off x="6291300" y="343472"/>
            <a:ext cx="1081487" cy="1124502"/>
            <a:chOff x="3560576" y="281853"/>
            <a:chExt cx="1439460" cy="1496712"/>
          </a:xfrm>
        </p:grpSpPr>
        <p:sp>
          <p:nvSpPr>
            <p:cNvPr id="69" name="Rectangle: Diagonal Corners Rounded 68">
              <a:extLst>
                <a:ext uri="{FF2B5EF4-FFF2-40B4-BE49-F238E27FC236}">
                  <a16:creationId xmlns:a16="http://schemas.microsoft.com/office/drawing/2014/main" id="{0755C0F0-07C4-48D5-ACE4-5B4D79D55CC3}"/>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4" name="TextBox 73">
              <a:extLst>
                <a:ext uri="{FF2B5EF4-FFF2-40B4-BE49-F238E27FC236}">
                  <a16:creationId xmlns:a16="http://schemas.microsoft.com/office/drawing/2014/main" id="{50530CFD-9A27-4EFB-977F-BD3B5C23C42E}"/>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CDC Opioid Prescribing</a:t>
              </a:r>
              <a:endParaRPr lang="en-US" sz="1200" kern="1200" dirty="0"/>
            </a:p>
          </p:txBody>
        </p:sp>
        <p:pic>
          <p:nvPicPr>
            <p:cNvPr id="1031" name="Picture 1030">
              <a:extLst>
                <a:ext uri="{FF2B5EF4-FFF2-40B4-BE49-F238E27FC236}">
                  <a16:creationId xmlns:a16="http://schemas.microsoft.com/office/drawing/2014/main" id="{1A1FD9C7-CA92-44AD-90CC-44E1FC049CE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grpSp>
        <p:nvGrpSpPr>
          <p:cNvPr id="1036" name="Group 1035">
            <a:extLst>
              <a:ext uri="{FF2B5EF4-FFF2-40B4-BE49-F238E27FC236}">
                <a16:creationId xmlns:a16="http://schemas.microsoft.com/office/drawing/2014/main" id="{EF3BAE44-DC4A-4D2E-9106-986E9FDCFB6B}"/>
              </a:ext>
            </a:extLst>
          </p:cNvPr>
          <p:cNvGrpSpPr/>
          <p:nvPr/>
        </p:nvGrpSpPr>
        <p:grpSpPr>
          <a:xfrm>
            <a:off x="10799050" y="318153"/>
            <a:ext cx="1081487" cy="1149447"/>
            <a:chOff x="9617220" y="250586"/>
            <a:chExt cx="1439460" cy="1529914"/>
          </a:xfrm>
        </p:grpSpPr>
        <p:sp>
          <p:nvSpPr>
            <p:cNvPr id="70" name="Rectangle: Diagonal Corners Rounded 69">
              <a:extLst>
                <a:ext uri="{FF2B5EF4-FFF2-40B4-BE49-F238E27FC236}">
                  <a16:creationId xmlns:a16="http://schemas.microsoft.com/office/drawing/2014/main" id="{2BB0788D-F592-4FDF-8201-403FD0ECE323}"/>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75" name="TextBox 74">
              <a:extLst>
                <a:ext uri="{FF2B5EF4-FFF2-40B4-BE49-F238E27FC236}">
                  <a16:creationId xmlns:a16="http://schemas.microsoft.com/office/drawing/2014/main" id="{6F17FE83-5720-40A7-81CB-C12A11AE9434}"/>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ANC</a:t>
              </a:r>
              <a:endParaRPr lang="en-US" sz="1200" kern="1200" dirty="0"/>
            </a:p>
          </p:txBody>
        </p:sp>
        <p:pic>
          <p:nvPicPr>
            <p:cNvPr id="1033" name="Picture 1032">
              <a:extLst>
                <a:ext uri="{FF2B5EF4-FFF2-40B4-BE49-F238E27FC236}">
                  <a16:creationId xmlns:a16="http://schemas.microsoft.com/office/drawing/2014/main" id="{0DD2C3BF-771C-49B6-B990-5ADD1F9077C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sp>
        <p:nvSpPr>
          <p:cNvPr id="1054" name="Arrow: Bent 1053">
            <a:extLst>
              <a:ext uri="{FF2B5EF4-FFF2-40B4-BE49-F238E27FC236}">
                <a16:creationId xmlns:a16="http://schemas.microsoft.com/office/drawing/2014/main" id="{7AB1F3AF-037E-4F34-ABED-47AD164767E0}"/>
              </a:ext>
            </a:extLst>
          </p:cNvPr>
          <p:cNvSpPr/>
          <p:nvPr/>
        </p:nvSpPr>
        <p:spPr>
          <a:xfrm rot="16200000">
            <a:off x="9675605" y="4530408"/>
            <a:ext cx="436817" cy="102658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5" name="Arrow: Up 114">
            <a:extLst>
              <a:ext uri="{FF2B5EF4-FFF2-40B4-BE49-F238E27FC236}">
                <a16:creationId xmlns:a16="http://schemas.microsoft.com/office/drawing/2014/main" id="{8123EF39-9B11-43B1-A79F-09298F53D43D}"/>
              </a:ext>
            </a:extLst>
          </p:cNvPr>
          <p:cNvSpPr/>
          <p:nvPr/>
        </p:nvSpPr>
        <p:spPr>
          <a:xfrm rot="5400000">
            <a:off x="3207512" y="3822642"/>
            <a:ext cx="262067" cy="531024"/>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Arrow: Bent 115">
            <a:extLst>
              <a:ext uri="{FF2B5EF4-FFF2-40B4-BE49-F238E27FC236}">
                <a16:creationId xmlns:a16="http://schemas.microsoft.com/office/drawing/2014/main" id="{58A871F3-AF46-4078-8B4B-C9C7FFAABD6E}"/>
              </a:ext>
            </a:extLst>
          </p:cNvPr>
          <p:cNvSpPr/>
          <p:nvPr/>
        </p:nvSpPr>
        <p:spPr>
          <a:xfrm rot="16200000">
            <a:off x="3799504" y="3378970"/>
            <a:ext cx="540947" cy="3131488"/>
          </a:xfrm>
          <a:prstGeom prst="bentArrow">
            <a:avLst>
              <a:gd name="adj1" fmla="val 14269"/>
              <a:gd name="adj2" fmla="val 19109"/>
              <a:gd name="adj3" fmla="val 23764"/>
              <a:gd name="adj4" fmla="val 4339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1" name="Arrow: Bent 120">
            <a:extLst>
              <a:ext uri="{FF2B5EF4-FFF2-40B4-BE49-F238E27FC236}">
                <a16:creationId xmlns:a16="http://schemas.microsoft.com/office/drawing/2014/main" id="{3C5B600D-B003-4F23-B24F-32B298F54881}"/>
              </a:ext>
            </a:extLst>
          </p:cNvPr>
          <p:cNvSpPr/>
          <p:nvPr/>
        </p:nvSpPr>
        <p:spPr>
          <a:xfrm rot="16200000">
            <a:off x="7506089" y="1332395"/>
            <a:ext cx="327980" cy="3896198"/>
          </a:xfrm>
          <a:prstGeom prst="bentArrow">
            <a:avLst>
              <a:gd name="adj1" fmla="val 30020"/>
              <a:gd name="adj2" fmla="val 23858"/>
              <a:gd name="adj3" fmla="val 31853"/>
              <a:gd name="adj4" fmla="val 3679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TextBox 34">
            <a:extLst>
              <a:ext uri="{FF2B5EF4-FFF2-40B4-BE49-F238E27FC236}">
                <a16:creationId xmlns:a16="http://schemas.microsoft.com/office/drawing/2014/main" id="{5A1B848B-1802-46B9-BA5D-E1D59ACAF2FE}"/>
              </a:ext>
            </a:extLst>
          </p:cNvPr>
          <p:cNvSpPr txBox="1"/>
          <p:nvPr/>
        </p:nvSpPr>
        <p:spPr>
          <a:xfrm rot="16200000">
            <a:off x="4278789" y="4076765"/>
            <a:ext cx="1725922" cy="369332"/>
          </a:xfrm>
          <a:prstGeom prst="rect">
            <a:avLst/>
          </a:prstGeom>
          <a:noFill/>
        </p:spPr>
        <p:txBody>
          <a:bodyPr wrap="none" rtlCol="0">
            <a:spAutoFit/>
          </a:bodyPr>
          <a:lstStyle/>
          <a:p>
            <a:r>
              <a:rPr lang="en-US" dirty="0"/>
              <a:t>Specification IGs</a:t>
            </a:r>
          </a:p>
        </p:txBody>
      </p:sp>
      <p:sp>
        <p:nvSpPr>
          <p:cNvPr id="86" name="Left Brace 85">
            <a:extLst>
              <a:ext uri="{FF2B5EF4-FFF2-40B4-BE49-F238E27FC236}">
                <a16:creationId xmlns:a16="http://schemas.microsoft.com/office/drawing/2014/main" id="{C62B7F98-559D-4442-A146-1681DF335B47}"/>
              </a:ext>
            </a:extLst>
          </p:cNvPr>
          <p:cNvSpPr/>
          <p:nvPr/>
        </p:nvSpPr>
        <p:spPr>
          <a:xfrm>
            <a:off x="2117804" y="487048"/>
            <a:ext cx="345815" cy="2656281"/>
          </a:xfrm>
          <a:prstGeom prst="leftBrace">
            <a:avLst>
              <a:gd name="adj1" fmla="val 51799"/>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7" name="TextBox 86">
            <a:extLst>
              <a:ext uri="{FF2B5EF4-FFF2-40B4-BE49-F238E27FC236}">
                <a16:creationId xmlns:a16="http://schemas.microsoft.com/office/drawing/2014/main" id="{106CFAD7-A0D5-4C23-9B3C-C76B87F66400}"/>
              </a:ext>
            </a:extLst>
          </p:cNvPr>
          <p:cNvSpPr txBox="1"/>
          <p:nvPr/>
        </p:nvSpPr>
        <p:spPr>
          <a:xfrm rot="16200000">
            <a:off x="1234228" y="1471355"/>
            <a:ext cx="1282402" cy="369332"/>
          </a:xfrm>
          <a:prstGeom prst="rect">
            <a:avLst/>
          </a:prstGeom>
          <a:noFill/>
        </p:spPr>
        <p:txBody>
          <a:bodyPr wrap="none" rtlCol="0">
            <a:spAutoFit/>
          </a:bodyPr>
          <a:lstStyle/>
          <a:p>
            <a:r>
              <a:rPr lang="en-US" dirty="0"/>
              <a:t>Content IGs</a:t>
            </a:r>
          </a:p>
        </p:txBody>
      </p:sp>
      <p:grpSp>
        <p:nvGrpSpPr>
          <p:cNvPr id="40" name="Group 39">
            <a:extLst>
              <a:ext uri="{FF2B5EF4-FFF2-40B4-BE49-F238E27FC236}">
                <a16:creationId xmlns:a16="http://schemas.microsoft.com/office/drawing/2014/main" id="{2B8DFAB3-06FB-4F7B-8A5F-9F5691295A72}"/>
              </a:ext>
            </a:extLst>
          </p:cNvPr>
          <p:cNvGrpSpPr/>
          <p:nvPr/>
        </p:nvGrpSpPr>
        <p:grpSpPr>
          <a:xfrm>
            <a:off x="7120735" y="5488741"/>
            <a:ext cx="1352367" cy="1622840"/>
            <a:chOff x="8839975" y="5007698"/>
            <a:chExt cx="1352367" cy="1622840"/>
          </a:xfrm>
        </p:grpSpPr>
        <p:grpSp>
          <p:nvGrpSpPr>
            <p:cNvPr id="88" name="Group 87">
              <a:extLst>
                <a:ext uri="{FF2B5EF4-FFF2-40B4-BE49-F238E27FC236}">
                  <a16:creationId xmlns:a16="http://schemas.microsoft.com/office/drawing/2014/main" id="{9585D622-B740-4776-BB26-D2F4FF71F040}"/>
                </a:ext>
              </a:extLst>
            </p:cNvPr>
            <p:cNvGrpSpPr/>
            <p:nvPr/>
          </p:nvGrpSpPr>
          <p:grpSpPr>
            <a:xfrm>
              <a:off x="8839975" y="5007698"/>
              <a:ext cx="1352367" cy="1622840"/>
              <a:chOff x="9426000" y="2349000"/>
              <a:chExt cx="1800000" cy="2160000"/>
            </a:xfrm>
          </p:grpSpPr>
          <p:sp>
            <p:nvSpPr>
              <p:cNvPr id="89" name="Rectangle: Diagonal Corners Rounded 88">
                <a:extLst>
                  <a:ext uri="{FF2B5EF4-FFF2-40B4-BE49-F238E27FC236}">
                    <a16:creationId xmlns:a16="http://schemas.microsoft.com/office/drawing/2014/main" id="{2211EBFB-75E4-4DED-84FC-9CCAB61973A3}"/>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91" name="Group 90">
                <a:extLst>
                  <a:ext uri="{FF2B5EF4-FFF2-40B4-BE49-F238E27FC236}">
                    <a16:creationId xmlns:a16="http://schemas.microsoft.com/office/drawing/2014/main" id="{0D62A307-D1F4-4C6D-B6A8-A6B8EED2B24B}"/>
                  </a:ext>
                </a:extLst>
              </p:cNvPr>
              <p:cNvGrpSpPr/>
              <p:nvPr/>
            </p:nvGrpSpPr>
            <p:grpSpPr>
              <a:xfrm>
                <a:off x="9426000" y="3789000"/>
                <a:ext cx="1800000" cy="720000"/>
                <a:chOff x="8587800" y="2535669"/>
                <a:chExt cx="1800000" cy="720000"/>
              </a:xfrm>
            </p:grpSpPr>
            <p:sp>
              <p:nvSpPr>
                <p:cNvPr id="92" name="Rectangle 91">
                  <a:extLst>
                    <a:ext uri="{FF2B5EF4-FFF2-40B4-BE49-F238E27FC236}">
                      <a16:creationId xmlns:a16="http://schemas.microsoft.com/office/drawing/2014/main" id="{68536BB4-2C0E-45B4-BEE7-C6E06B82BF01}"/>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93" name="TextBox 92">
                  <a:extLst>
                    <a:ext uri="{FF2B5EF4-FFF2-40B4-BE49-F238E27FC236}">
                      <a16:creationId xmlns:a16="http://schemas.microsoft.com/office/drawing/2014/main" id="{4AB3AFEB-4B45-4333-8269-C89623AE0513}"/>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err="1"/>
                    <a:t>FHIRPath</a:t>
                  </a:r>
                  <a:endParaRPr lang="en-US" sz="1200" kern="1200" dirty="0"/>
                </a:p>
              </p:txBody>
            </p:sp>
          </p:grpSp>
        </p:grpSp>
        <p:pic>
          <p:nvPicPr>
            <p:cNvPr id="38" name="Picture 37">
              <a:extLst>
                <a:ext uri="{FF2B5EF4-FFF2-40B4-BE49-F238E27FC236}">
                  <a16:creationId xmlns:a16="http://schemas.microsoft.com/office/drawing/2014/main" id="{9F94C103-1645-4245-9530-EE5989AF4BA7}"/>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9251398" y="5116289"/>
              <a:ext cx="584756" cy="584756"/>
            </a:xfrm>
            <a:prstGeom prst="rect">
              <a:avLst/>
            </a:prstGeom>
          </p:spPr>
        </p:pic>
      </p:grpSp>
      <p:grpSp>
        <p:nvGrpSpPr>
          <p:cNvPr id="36" name="Group 35">
            <a:extLst>
              <a:ext uri="{FF2B5EF4-FFF2-40B4-BE49-F238E27FC236}">
                <a16:creationId xmlns:a16="http://schemas.microsoft.com/office/drawing/2014/main" id="{97C383BA-C3EB-4C0B-AA20-33A6B1A2CE2A}"/>
              </a:ext>
            </a:extLst>
          </p:cNvPr>
          <p:cNvGrpSpPr/>
          <p:nvPr/>
        </p:nvGrpSpPr>
        <p:grpSpPr>
          <a:xfrm>
            <a:off x="8220350" y="5488741"/>
            <a:ext cx="1352367" cy="1622840"/>
            <a:chOff x="10011961" y="4984809"/>
            <a:chExt cx="1352367" cy="1622840"/>
          </a:xfrm>
        </p:grpSpPr>
        <p:grpSp>
          <p:nvGrpSpPr>
            <p:cNvPr id="103" name="Group 102">
              <a:extLst>
                <a:ext uri="{FF2B5EF4-FFF2-40B4-BE49-F238E27FC236}">
                  <a16:creationId xmlns:a16="http://schemas.microsoft.com/office/drawing/2014/main" id="{66147118-99FB-4F6B-8B19-C4285A96B1DB}"/>
                </a:ext>
              </a:extLst>
            </p:cNvPr>
            <p:cNvGrpSpPr/>
            <p:nvPr/>
          </p:nvGrpSpPr>
          <p:grpSpPr>
            <a:xfrm>
              <a:off x="10011961" y="4984809"/>
              <a:ext cx="1352367" cy="1622840"/>
              <a:chOff x="9426000" y="2349000"/>
              <a:chExt cx="1800000" cy="2160000"/>
            </a:xfrm>
          </p:grpSpPr>
          <p:sp>
            <p:nvSpPr>
              <p:cNvPr id="105" name="Rectangle: Diagonal Corners Rounded 104">
                <a:extLst>
                  <a:ext uri="{FF2B5EF4-FFF2-40B4-BE49-F238E27FC236}">
                    <a16:creationId xmlns:a16="http://schemas.microsoft.com/office/drawing/2014/main" id="{F8CCAF75-BE03-43D0-8EFC-D672014A0DF2}"/>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06" name="Group 105">
                <a:extLst>
                  <a:ext uri="{FF2B5EF4-FFF2-40B4-BE49-F238E27FC236}">
                    <a16:creationId xmlns:a16="http://schemas.microsoft.com/office/drawing/2014/main" id="{2BF21E6E-CC85-417E-B278-EEC4E1862DC9}"/>
                  </a:ext>
                </a:extLst>
              </p:cNvPr>
              <p:cNvGrpSpPr/>
              <p:nvPr/>
            </p:nvGrpSpPr>
            <p:grpSpPr>
              <a:xfrm>
                <a:off x="9426000" y="3789000"/>
                <a:ext cx="1800000" cy="720000"/>
                <a:chOff x="8587800" y="2535669"/>
                <a:chExt cx="1800000" cy="720000"/>
              </a:xfrm>
            </p:grpSpPr>
            <p:sp>
              <p:nvSpPr>
                <p:cNvPr id="107" name="Rectangle 106">
                  <a:extLst>
                    <a:ext uri="{FF2B5EF4-FFF2-40B4-BE49-F238E27FC236}">
                      <a16:creationId xmlns:a16="http://schemas.microsoft.com/office/drawing/2014/main" id="{FF76E184-8598-44E4-B4BE-50C178A9BCCC}"/>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08" name="TextBox 107">
                  <a:extLst>
                    <a:ext uri="{FF2B5EF4-FFF2-40B4-BE49-F238E27FC236}">
                      <a16:creationId xmlns:a16="http://schemas.microsoft.com/office/drawing/2014/main" id="{AE0C9817-9135-461A-9E14-BF346D4A42E4}"/>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CQL</a:t>
                  </a:r>
                </a:p>
              </p:txBody>
            </p:sp>
          </p:grpSp>
        </p:grpSp>
        <p:pic>
          <p:nvPicPr>
            <p:cNvPr id="48" name="Picture 47">
              <a:extLst>
                <a:ext uri="{FF2B5EF4-FFF2-40B4-BE49-F238E27FC236}">
                  <a16:creationId xmlns:a16="http://schemas.microsoft.com/office/drawing/2014/main" id="{E2BAB5B6-AB15-4999-95E0-A9EAA61D4CB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10384240" y="5089793"/>
              <a:ext cx="607807" cy="607807"/>
            </a:xfrm>
            <a:prstGeom prst="rect">
              <a:avLst/>
            </a:prstGeom>
          </p:spPr>
        </p:pic>
      </p:grpSp>
      <p:sp>
        <p:nvSpPr>
          <p:cNvPr id="100" name="Left Brace 99">
            <a:extLst>
              <a:ext uri="{FF2B5EF4-FFF2-40B4-BE49-F238E27FC236}">
                <a16:creationId xmlns:a16="http://schemas.microsoft.com/office/drawing/2014/main" id="{F5A3715A-C5A7-4C7E-98D7-79CDAED40297}"/>
              </a:ext>
            </a:extLst>
          </p:cNvPr>
          <p:cNvSpPr/>
          <p:nvPr/>
        </p:nvSpPr>
        <p:spPr>
          <a:xfrm>
            <a:off x="546269" y="3350209"/>
            <a:ext cx="410697" cy="1725924"/>
          </a:xfrm>
          <a:prstGeom prst="leftBrace">
            <a:avLst>
              <a:gd name="adj1" fmla="val 44932"/>
              <a:gd name="adj2" fmla="val 5062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1" name="TextBox 100">
            <a:extLst>
              <a:ext uri="{FF2B5EF4-FFF2-40B4-BE49-F238E27FC236}">
                <a16:creationId xmlns:a16="http://schemas.microsoft.com/office/drawing/2014/main" id="{B0C449FB-8463-47A3-A447-BA8B8866A268}"/>
              </a:ext>
            </a:extLst>
          </p:cNvPr>
          <p:cNvSpPr txBox="1"/>
          <p:nvPr/>
        </p:nvSpPr>
        <p:spPr>
          <a:xfrm rot="16200000">
            <a:off x="-261613" y="4072087"/>
            <a:ext cx="1140056" cy="369332"/>
          </a:xfrm>
          <a:prstGeom prst="rect">
            <a:avLst/>
          </a:prstGeom>
          <a:noFill/>
        </p:spPr>
        <p:txBody>
          <a:bodyPr wrap="none" rtlCol="0">
            <a:spAutoFit/>
          </a:bodyPr>
          <a:lstStyle/>
          <a:p>
            <a:r>
              <a:rPr lang="en-US" dirty="0"/>
              <a:t>Model IGs</a:t>
            </a:r>
          </a:p>
        </p:txBody>
      </p:sp>
      <p:grpSp>
        <p:nvGrpSpPr>
          <p:cNvPr id="49" name="Group 48">
            <a:extLst>
              <a:ext uri="{FF2B5EF4-FFF2-40B4-BE49-F238E27FC236}">
                <a16:creationId xmlns:a16="http://schemas.microsoft.com/office/drawing/2014/main" id="{8B813E42-5DE2-4455-87DB-4FF715FF6BC3}"/>
              </a:ext>
            </a:extLst>
          </p:cNvPr>
          <p:cNvGrpSpPr/>
          <p:nvPr/>
        </p:nvGrpSpPr>
        <p:grpSpPr>
          <a:xfrm>
            <a:off x="707728" y="3722224"/>
            <a:ext cx="1352367" cy="1426969"/>
            <a:chOff x="709262" y="2530532"/>
            <a:chExt cx="1352367" cy="1426969"/>
          </a:xfrm>
        </p:grpSpPr>
        <p:grpSp>
          <p:nvGrpSpPr>
            <p:cNvPr id="102" name="Group 101">
              <a:extLst>
                <a:ext uri="{FF2B5EF4-FFF2-40B4-BE49-F238E27FC236}">
                  <a16:creationId xmlns:a16="http://schemas.microsoft.com/office/drawing/2014/main" id="{99551615-D996-4C73-AD7A-D2B231A10302}"/>
                </a:ext>
              </a:extLst>
            </p:cNvPr>
            <p:cNvGrpSpPr/>
            <p:nvPr/>
          </p:nvGrpSpPr>
          <p:grpSpPr>
            <a:xfrm>
              <a:off x="709262" y="2530532"/>
              <a:ext cx="1352367" cy="1426969"/>
              <a:chOff x="4169112" y="3087282"/>
              <a:chExt cx="1800000" cy="1899296"/>
            </a:xfrm>
          </p:grpSpPr>
          <p:sp>
            <p:nvSpPr>
              <p:cNvPr id="104" name="Rectangle: Diagonal Corners Rounded 103">
                <a:extLst>
                  <a:ext uri="{FF2B5EF4-FFF2-40B4-BE49-F238E27FC236}">
                    <a16:creationId xmlns:a16="http://schemas.microsoft.com/office/drawing/2014/main" id="{D92A3919-A321-4EC5-A5E5-DD52A747DB1B}"/>
                  </a:ext>
                </a:extLst>
              </p:cNvPr>
              <p:cNvSpPr/>
              <p:nvPr/>
            </p:nvSpPr>
            <p:spPr>
              <a:xfrm>
                <a:off x="4520112" y="3087282"/>
                <a:ext cx="1098000" cy="1098000"/>
              </a:xfrm>
              <a:prstGeom prst="round2DiagRect">
                <a:avLst>
                  <a:gd name="adj1" fmla="val 29727"/>
                  <a:gd name="adj2" fmla="val 0"/>
                </a:avLst>
              </a:prstGeom>
              <a:solidFill>
                <a:schemeClr val="accent3">
                  <a:lumMod val="50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sp>
            <p:nvSpPr>
              <p:cNvPr id="109" name="TextBox 108">
                <a:extLst>
                  <a:ext uri="{FF2B5EF4-FFF2-40B4-BE49-F238E27FC236}">
                    <a16:creationId xmlns:a16="http://schemas.microsoft.com/office/drawing/2014/main" id="{949E2625-C5EB-4170-92DF-8D6E6A9A5651}"/>
                  </a:ext>
                </a:extLst>
              </p:cNvPr>
              <p:cNvSpPr txBox="1"/>
              <p:nvPr/>
            </p:nvSpPr>
            <p:spPr>
              <a:xfrm>
                <a:off x="4169112" y="4266578"/>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IPS</a:t>
                </a:r>
                <a:endParaRPr lang="en-US" sz="1200" kern="1200" dirty="0"/>
              </a:p>
            </p:txBody>
          </p:sp>
        </p:grpSp>
        <p:pic>
          <p:nvPicPr>
            <p:cNvPr id="43" name="Picture 42">
              <a:extLst>
                <a:ext uri="{FF2B5EF4-FFF2-40B4-BE49-F238E27FC236}">
                  <a16:creationId xmlns:a16="http://schemas.microsoft.com/office/drawing/2014/main" id="{F3274503-A9CF-4B86-AB2B-6BE696C2B3AD}"/>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1085556" y="2645362"/>
              <a:ext cx="610754" cy="610754"/>
            </a:xfrm>
            <a:prstGeom prst="rect">
              <a:avLst/>
            </a:prstGeom>
          </p:spPr>
        </p:pic>
      </p:grpSp>
      <p:grpSp>
        <p:nvGrpSpPr>
          <p:cNvPr id="65" name="Group 64">
            <a:extLst>
              <a:ext uri="{FF2B5EF4-FFF2-40B4-BE49-F238E27FC236}">
                <a16:creationId xmlns:a16="http://schemas.microsoft.com/office/drawing/2014/main" id="{FBECF050-E3C9-493D-AB1D-ADCED9FEF278}"/>
              </a:ext>
            </a:extLst>
          </p:cNvPr>
          <p:cNvGrpSpPr/>
          <p:nvPr/>
        </p:nvGrpSpPr>
        <p:grpSpPr>
          <a:xfrm>
            <a:off x="9319965" y="5488741"/>
            <a:ext cx="1352367" cy="1622840"/>
            <a:chOff x="9123397" y="4964946"/>
            <a:chExt cx="1352367" cy="1622840"/>
          </a:xfrm>
        </p:grpSpPr>
        <p:grpSp>
          <p:nvGrpSpPr>
            <p:cNvPr id="117" name="Group 116">
              <a:extLst>
                <a:ext uri="{FF2B5EF4-FFF2-40B4-BE49-F238E27FC236}">
                  <a16:creationId xmlns:a16="http://schemas.microsoft.com/office/drawing/2014/main" id="{326D317E-CD30-4F65-BB63-466EA92EAE79}"/>
                </a:ext>
              </a:extLst>
            </p:cNvPr>
            <p:cNvGrpSpPr/>
            <p:nvPr/>
          </p:nvGrpSpPr>
          <p:grpSpPr>
            <a:xfrm>
              <a:off x="9123397" y="4964946"/>
              <a:ext cx="1352367" cy="1622840"/>
              <a:chOff x="9426000" y="2349000"/>
              <a:chExt cx="1800000" cy="2160000"/>
            </a:xfrm>
          </p:grpSpPr>
          <p:sp>
            <p:nvSpPr>
              <p:cNvPr id="125" name="Rectangle: Diagonal Corners Rounded 124">
                <a:extLst>
                  <a:ext uri="{FF2B5EF4-FFF2-40B4-BE49-F238E27FC236}">
                    <a16:creationId xmlns:a16="http://schemas.microsoft.com/office/drawing/2014/main" id="{D5DF4D5B-AC50-4F97-870C-E706AF4E20ED}"/>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26" name="Group 125">
                <a:extLst>
                  <a:ext uri="{FF2B5EF4-FFF2-40B4-BE49-F238E27FC236}">
                    <a16:creationId xmlns:a16="http://schemas.microsoft.com/office/drawing/2014/main" id="{DE88F40C-5C7A-4B38-9440-43BD32F4CBC5}"/>
                  </a:ext>
                </a:extLst>
              </p:cNvPr>
              <p:cNvGrpSpPr/>
              <p:nvPr/>
            </p:nvGrpSpPr>
            <p:grpSpPr>
              <a:xfrm>
                <a:off x="9426000" y="3789000"/>
                <a:ext cx="1800000" cy="720000"/>
                <a:chOff x="8587800" y="2535669"/>
                <a:chExt cx="1800000" cy="720000"/>
              </a:xfrm>
            </p:grpSpPr>
            <p:sp>
              <p:nvSpPr>
                <p:cNvPr id="127" name="Rectangle 126">
                  <a:extLst>
                    <a:ext uri="{FF2B5EF4-FFF2-40B4-BE49-F238E27FC236}">
                      <a16:creationId xmlns:a16="http://schemas.microsoft.com/office/drawing/2014/main" id="{1DCC155F-2427-4AD8-AFB7-1238B65341E0}"/>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28" name="TextBox 127">
                  <a:extLst>
                    <a:ext uri="{FF2B5EF4-FFF2-40B4-BE49-F238E27FC236}">
                      <a16:creationId xmlns:a16="http://schemas.microsoft.com/office/drawing/2014/main" id="{A0C1873B-CC60-43EB-8498-C25902669AA1}"/>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CDS Hooks</a:t>
                  </a:r>
                </a:p>
              </p:txBody>
            </p:sp>
          </p:grpSp>
        </p:grpSp>
        <p:pic>
          <p:nvPicPr>
            <p:cNvPr id="64" name="Picture 63">
              <a:extLst>
                <a:ext uri="{FF2B5EF4-FFF2-40B4-BE49-F238E27FC236}">
                  <a16:creationId xmlns:a16="http://schemas.microsoft.com/office/drawing/2014/main" id="{801618FB-30C9-4030-8C20-8EC2256CE7FD}"/>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9583453" y="5108217"/>
              <a:ext cx="432254" cy="474771"/>
            </a:xfrm>
            <a:prstGeom prst="rect">
              <a:avLst/>
            </a:prstGeom>
          </p:spPr>
        </p:pic>
      </p:grpSp>
      <p:grpSp>
        <p:nvGrpSpPr>
          <p:cNvPr id="66" name="Group 65">
            <a:extLst>
              <a:ext uri="{FF2B5EF4-FFF2-40B4-BE49-F238E27FC236}">
                <a16:creationId xmlns:a16="http://schemas.microsoft.com/office/drawing/2014/main" id="{14DB6233-86BC-4348-894C-600DEBD4C57A}"/>
              </a:ext>
            </a:extLst>
          </p:cNvPr>
          <p:cNvGrpSpPr/>
          <p:nvPr/>
        </p:nvGrpSpPr>
        <p:grpSpPr>
          <a:xfrm>
            <a:off x="10419580" y="5488741"/>
            <a:ext cx="1352367" cy="1622840"/>
            <a:chOff x="10157656" y="4964946"/>
            <a:chExt cx="1352367" cy="1622840"/>
          </a:xfrm>
        </p:grpSpPr>
        <p:grpSp>
          <p:nvGrpSpPr>
            <p:cNvPr id="130" name="Group 129">
              <a:extLst>
                <a:ext uri="{FF2B5EF4-FFF2-40B4-BE49-F238E27FC236}">
                  <a16:creationId xmlns:a16="http://schemas.microsoft.com/office/drawing/2014/main" id="{0C293A96-038E-49B3-BC5D-4F8561E1D655}"/>
                </a:ext>
              </a:extLst>
            </p:cNvPr>
            <p:cNvGrpSpPr/>
            <p:nvPr/>
          </p:nvGrpSpPr>
          <p:grpSpPr>
            <a:xfrm>
              <a:off x="10157656" y="4964946"/>
              <a:ext cx="1352367" cy="1622840"/>
              <a:chOff x="9426000" y="2349000"/>
              <a:chExt cx="1800000" cy="2160000"/>
            </a:xfrm>
          </p:grpSpPr>
          <p:sp>
            <p:nvSpPr>
              <p:cNvPr id="131" name="Rectangle: Diagonal Corners Rounded 130">
                <a:extLst>
                  <a:ext uri="{FF2B5EF4-FFF2-40B4-BE49-F238E27FC236}">
                    <a16:creationId xmlns:a16="http://schemas.microsoft.com/office/drawing/2014/main" id="{E6353EEA-3EEC-4ACC-80B4-CD7716EB7BFB}"/>
                  </a:ext>
                </a:extLst>
              </p:cNvPr>
              <p:cNvSpPr/>
              <p:nvPr/>
            </p:nvSpPr>
            <p:spPr>
              <a:xfrm>
                <a:off x="9777000" y="2349000"/>
                <a:ext cx="1098000" cy="1098000"/>
              </a:xfrm>
              <a:prstGeom prst="round2DiagRect">
                <a:avLst>
                  <a:gd name="adj1" fmla="val 29727"/>
                  <a:gd name="adj2" fmla="val 0"/>
                </a:avLst>
              </a:prstGeom>
              <a:solidFill>
                <a:schemeClr val="accent6">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a:p>
            </p:txBody>
          </p:sp>
          <p:grpSp>
            <p:nvGrpSpPr>
              <p:cNvPr id="132" name="Group 131">
                <a:extLst>
                  <a:ext uri="{FF2B5EF4-FFF2-40B4-BE49-F238E27FC236}">
                    <a16:creationId xmlns:a16="http://schemas.microsoft.com/office/drawing/2014/main" id="{F6B84A81-3D2F-440A-BD5A-D40515D86705}"/>
                  </a:ext>
                </a:extLst>
              </p:cNvPr>
              <p:cNvGrpSpPr/>
              <p:nvPr/>
            </p:nvGrpSpPr>
            <p:grpSpPr>
              <a:xfrm>
                <a:off x="9426000" y="3789000"/>
                <a:ext cx="1800000" cy="720000"/>
                <a:chOff x="8587800" y="2535669"/>
                <a:chExt cx="1800000" cy="720000"/>
              </a:xfrm>
            </p:grpSpPr>
            <p:sp>
              <p:nvSpPr>
                <p:cNvPr id="133" name="Rectangle 132">
                  <a:extLst>
                    <a:ext uri="{FF2B5EF4-FFF2-40B4-BE49-F238E27FC236}">
                      <a16:creationId xmlns:a16="http://schemas.microsoft.com/office/drawing/2014/main" id="{B6268DC6-6D39-4D53-B993-96C3B15D68FF}"/>
                    </a:ext>
                  </a:extLst>
                </p:cNvPr>
                <p:cNvSpPr/>
                <p:nvPr/>
              </p:nvSpPr>
              <p:spPr>
                <a:xfrm>
                  <a:off x="8587800" y="2535669"/>
                  <a:ext cx="1800000" cy="720000"/>
                </a:xfrm>
                <a:prstGeom prst="rect">
                  <a:avLst/>
                </a:prstGeom>
              </p:spPr>
              <p:style>
                <a:lnRef idx="0">
                  <a:schemeClr val="dk2">
                    <a:alpha val="0"/>
                    <a:hueOff val="0"/>
                    <a:satOff val="0"/>
                    <a:lumOff val="0"/>
                    <a:alphaOff val="0"/>
                  </a:schemeClr>
                </a:lnRef>
                <a:fillRef idx="0">
                  <a:schemeClr val="dk2">
                    <a:alpha val="0"/>
                    <a:hueOff val="0"/>
                    <a:satOff val="0"/>
                    <a:lumOff val="0"/>
                    <a:alphaOff val="0"/>
                  </a:schemeClr>
                </a:fillRef>
                <a:effectRef idx="0">
                  <a:schemeClr val="dk2">
                    <a:alpha val="0"/>
                    <a:hueOff val="0"/>
                    <a:satOff val="0"/>
                    <a:lumOff val="0"/>
                    <a:alphaOff val="0"/>
                  </a:schemeClr>
                </a:effectRef>
                <a:fontRef idx="minor">
                  <a:schemeClr val="dk2">
                    <a:hueOff val="0"/>
                    <a:satOff val="0"/>
                    <a:lumOff val="0"/>
                    <a:alphaOff val="0"/>
                  </a:schemeClr>
                </a:fontRef>
              </p:style>
              <p:txBody>
                <a:bodyPr/>
                <a:lstStyle/>
                <a:p>
                  <a:endParaRPr lang="en-US"/>
                </a:p>
              </p:txBody>
            </p:sp>
            <p:sp>
              <p:nvSpPr>
                <p:cNvPr id="134" name="TextBox 133">
                  <a:extLst>
                    <a:ext uri="{FF2B5EF4-FFF2-40B4-BE49-F238E27FC236}">
                      <a16:creationId xmlns:a16="http://schemas.microsoft.com/office/drawing/2014/main" id="{D585DD89-3D7D-403F-AE6C-19D85FB3C577}"/>
                    </a:ext>
                  </a:extLst>
                </p:cNvPr>
                <p:cNvSpPr txBox="1"/>
                <p:nvPr/>
              </p:nvSpPr>
              <p:spPr>
                <a:xfrm>
                  <a:off x="8587800" y="2535669"/>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SMART</a:t>
                  </a:r>
                </a:p>
              </p:txBody>
            </p:sp>
          </p:grpSp>
        </p:grpSp>
        <p:pic>
          <p:nvPicPr>
            <p:cNvPr id="135" name="Picture 134" descr="smart-logo.png">
              <a:extLst>
                <a:ext uri="{FF2B5EF4-FFF2-40B4-BE49-F238E27FC236}">
                  <a16:creationId xmlns:a16="http://schemas.microsoft.com/office/drawing/2014/main" id="{C2751405-6D8A-4628-AACE-770839E4C596}"/>
                </a:ext>
              </a:extLst>
            </p:cNvPr>
            <p:cNvPicPr>
              <a:picLocks noChangeAspect="1"/>
            </p:cNvPicPr>
            <p:nvPr/>
          </p:nvPicPr>
          <p:blipFill>
            <a:blip r:embed="rId22" cstate="print">
              <a:extLst>
                <a:ext uri="{28A0092B-C50C-407E-A947-70E740481C1C}">
                  <a14:useLocalDpi xmlns:a14="http://schemas.microsoft.com/office/drawing/2010/main"/>
                </a:ext>
              </a:extLst>
            </a:blip>
            <a:stretch>
              <a:fillRect/>
            </a:stretch>
          </p:blipFill>
          <p:spPr>
            <a:xfrm>
              <a:off x="10594483" y="5162801"/>
              <a:ext cx="483387" cy="420187"/>
            </a:xfrm>
            <a:prstGeom prst="rect">
              <a:avLst/>
            </a:prstGeom>
          </p:spPr>
        </p:pic>
      </p:grpSp>
      <p:pic>
        <p:nvPicPr>
          <p:cNvPr id="53" name="Picture 52">
            <a:extLst>
              <a:ext uri="{FF2B5EF4-FFF2-40B4-BE49-F238E27FC236}">
                <a16:creationId xmlns:a16="http://schemas.microsoft.com/office/drawing/2014/main" id="{E7DFD763-7080-422C-8662-80C8ED61F56B}"/>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grpSp>
        <p:nvGrpSpPr>
          <p:cNvPr id="77" name="Group 76">
            <a:extLst>
              <a:ext uri="{FF2B5EF4-FFF2-40B4-BE49-F238E27FC236}">
                <a16:creationId xmlns:a16="http://schemas.microsoft.com/office/drawing/2014/main" id="{9BF21A3E-05F5-4A11-838C-7BD8134406E2}"/>
              </a:ext>
            </a:extLst>
          </p:cNvPr>
          <p:cNvGrpSpPr/>
          <p:nvPr/>
        </p:nvGrpSpPr>
        <p:grpSpPr>
          <a:xfrm>
            <a:off x="8060744" y="3725821"/>
            <a:ext cx="1352367" cy="1489677"/>
            <a:chOff x="9220798" y="2495033"/>
            <a:chExt cx="1352367" cy="1489677"/>
          </a:xfrm>
        </p:grpSpPr>
        <p:grpSp>
          <p:nvGrpSpPr>
            <p:cNvPr id="129" name="Group 128">
              <a:extLst>
                <a:ext uri="{FF2B5EF4-FFF2-40B4-BE49-F238E27FC236}">
                  <a16:creationId xmlns:a16="http://schemas.microsoft.com/office/drawing/2014/main" id="{1A4D32AD-BE2A-4803-8C7B-D6EE97A7C469}"/>
                </a:ext>
              </a:extLst>
            </p:cNvPr>
            <p:cNvGrpSpPr/>
            <p:nvPr/>
          </p:nvGrpSpPr>
          <p:grpSpPr>
            <a:xfrm>
              <a:off x="9220798" y="2495033"/>
              <a:ext cx="1352367" cy="1489677"/>
              <a:chOff x="4473510" y="1010464"/>
              <a:chExt cx="1800000" cy="1982760"/>
            </a:xfrm>
          </p:grpSpPr>
          <p:sp>
            <p:nvSpPr>
              <p:cNvPr id="136" name="Rectangle: Diagonal Corners Rounded 135">
                <a:extLst>
                  <a:ext uri="{FF2B5EF4-FFF2-40B4-BE49-F238E27FC236}">
                    <a16:creationId xmlns:a16="http://schemas.microsoft.com/office/drawing/2014/main" id="{613E6084-44E5-436E-980B-DB0D39BD07B4}"/>
                  </a:ext>
                </a:extLst>
              </p:cNvPr>
              <p:cNvSpPr/>
              <p:nvPr/>
            </p:nvSpPr>
            <p:spPr>
              <a:xfrm>
                <a:off x="4824510" y="1010464"/>
                <a:ext cx="1098000" cy="1098000"/>
              </a:xfrm>
              <a:prstGeom prst="round2DiagRect">
                <a:avLst>
                  <a:gd name="adj1" fmla="val 29727"/>
                  <a:gd name="adj2" fmla="val 0"/>
                </a:avLst>
              </a:prstGeom>
              <a:solidFill>
                <a:schemeClr val="accent3">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38" name="TextBox 137">
                <a:extLst>
                  <a:ext uri="{FF2B5EF4-FFF2-40B4-BE49-F238E27FC236}">
                    <a16:creationId xmlns:a16="http://schemas.microsoft.com/office/drawing/2014/main" id="{75C0B597-B403-45F0-9A22-28EF2A388F7E}"/>
                  </a:ext>
                </a:extLst>
              </p:cNvPr>
              <p:cNvSpPr txBox="1"/>
              <p:nvPr/>
            </p:nvSpPr>
            <p:spPr>
              <a:xfrm>
                <a:off x="4473510" y="2273224"/>
                <a:ext cx="1800000" cy="720000"/>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kern="1200" dirty="0"/>
                  <a:t>SDC</a:t>
                </a:r>
              </a:p>
            </p:txBody>
          </p:sp>
        </p:grpSp>
        <p:pic>
          <p:nvPicPr>
            <p:cNvPr id="76" name="Picture 75">
              <a:extLst>
                <a:ext uri="{FF2B5EF4-FFF2-40B4-BE49-F238E27FC236}">
                  <a16:creationId xmlns:a16="http://schemas.microsoft.com/office/drawing/2014/main" id="{CDDD314D-D313-4155-A182-C66D7280BA4D}"/>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9686381" y="2624911"/>
              <a:ext cx="516189" cy="516188"/>
            </a:xfrm>
            <a:prstGeom prst="rect">
              <a:avLst/>
            </a:prstGeom>
          </p:spPr>
        </p:pic>
      </p:grpSp>
      <p:sp>
        <p:nvSpPr>
          <p:cNvPr id="119" name="Arrow: Bent 118">
            <a:extLst>
              <a:ext uri="{FF2B5EF4-FFF2-40B4-BE49-F238E27FC236}">
                <a16:creationId xmlns:a16="http://schemas.microsoft.com/office/drawing/2014/main" id="{EC12D5A4-4075-434D-989F-805BF9D8F083}"/>
              </a:ext>
            </a:extLst>
          </p:cNvPr>
          <p:cNvSpPr/>
          <p:nvPr/>
        </p:nvSpPr>
        <p:spPr>
          <a:xfrm rot="16200000">
            <a:off x="5141443" y="970826"/>
            <a:ext cx="476325" cy="4473478"/>
          </a:xfrm>
          <a:prstGeom prst="bentArrow">
            <a:avLst>
              <a:gd name="adj1" fmla="val 16872"/>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8" name="Arrow: Left-Right 77">
            <a:extLst>
              <a:ext uri="{FF2B5EF4-FFF2-40B4-BE49-F238E27FC236}">
                <a16:creationId xmlns:a16="http://schemas.microsoft.com/office/drawing/2014/main" id="{59511F1E-AE09-4D97-97D1-125CCA234E6A}"/>
              </a:ext>
            </a:extLst>
          </p:cNvPr>
          <p:cNvSpPr/>
          <p:nvPr/>
        </p:nvSpPr>
        <p:spPr>
          <a:xfrm>
            <a:off x="10239453" y="4043087"/>
            <a:ext cx="433561" cy="23585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2" name="Group 141">
            <a:extLst>
              <a:ext uri="{FF2B5EF4-FFF2-40B4-BE49-F238E27FC236}">
                <a16:creationId xmlns:a16="http://schemas.microsoft.com/office/drawing/2014/main" id="{6616FFA0-31DB-4840-8F23-68B9965DB4A8}"/>
              </a:ext>
            </a:extLst>
          </p:cNvPr>
          <p:cNvGrpSpPr/>
          <p:nvPr/>
        </p:nvGrpSpPr>
        <p:grpSpPr>
          <a:xfrm>
            <a:off x="9446986" y="1962479"/>
            <a:ext cx="1081487" cy="1149447"/>
            <a:chOff x="9617220" y="250586"/>
            <a:chExt cx="1439460" cy="1529914"/>
          </a:xfrm>
        </p:grpSpPr>
        <p:sp>
          <p:nvSpPr>
            <p:cNvPr id="143" name="Rectangle: Diagonal Corners Rounded 142">
              <a:extLst>
                <a:ext uri="{FF2B5EF4-FFF2-40B4-BE49-F238E27FC236}">
                  <a16:creationId xmlns:a16="http://schemas.microsoft.com/office/drawing/2014/main" id="{7ABD57E9-E650-47FA-A6AA-DA2E6743AF95}"/>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44" name="TextBox 143">
              <a:extLst>
                <a:ext uri="{FF2B5EF4-FFF2-40B4-BE49-F238E27FC236}">
                  <a16:creationId xmlns:a16="http://schemas.microsoft.com/office/drawing/2014/main" id="{0BD49093-EA3C-4DE3-9706-6473FD1F24C2}"/>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CORE</a:t>
              </a:r>
              <a:endParaRPr lang="en-US" sz="1200" kern="1200" dirty="0"/>
            </a:p>
          </p:txBody>
        </p:sp>
        <p:pic>
          <p:nvPicPr>
            <p:cNvPr id="145" name="Picture 144">
              <a:extLst>
                <a:ext uri="{FF2B5EF4-FFF2-40B4-BE49-F238E27FC236}">
                  <a16:creationId xmlns:a16="http://schemas.microsoft.com/office/drawing/2014/main" id="{96B0FC1B-D195-40F5-992F-717F77B7F9A6}"/>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grpSp>
        <p:nvGrpSpPr>
          <p:cNvPr id="146" name="Group 145">
            <a:extLst>
              <a:ext uri="{FF2B5EF4-FFF2-40B4-BE49-F238E27FC236}">
                <a16:creationId xmlns:a16="http://schemas.microsoft.com/office/drawing/2014/main" id="{250A4116-97B6-418E-861B-AB47F412F690}"/>
              </a:ext>
            </a:extLst>
          </p:cNvPr>
          <p:cNvGrpSpPr/>
          <p:nvPr/>
        </p:nvGrpSpPr>
        <p:grpSpPr>
          <a:xfrm>
            <a:off x="8051675" y="308238"/>
            <a:ext cx="1081487" cy="1149447"/>
            <a:chOff x="9617220" y="250586"/>
            <a:chExt cx="1439460" cy="1529914"/>
          </a:xfrm>
        </p:grpSpPr>
        <p:sp>
          <p:nvSpPr>
            <p:cNvPr id="147" name="Rectangle: Diagonal Corners Rounded 146">
              <a:extLst>
                <a:ext uri="{FF2B5EF4-FFF2-40B4-BE49-F238E27FC236}">
                  <a16:creationId xmlns:a16="http://schemas.microsoft.com/office/drawing/2014/main" id="{A44F8ED3-8F5C-406B-AED4-DB3142871369}"/>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48" name="TextBox 147">
              <a:extLst>
                <a:ext uri="{FF2B5EF4-FFF2-40B4-BE49-F238E27FC236}">
                  <a16:creationId xmlns:a16="http://schemas.microsoft.com/office/drawing/2014/main" id="{52D088C4-01B2-4D0D-9E4E-F9D1922A401C}"/>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FP</a:t>
              </a:r>
              <a:endParaRPr lang="en-US" sz="1200" kern="1200" dirty="0"/>
            </a:p>
          </p:txBody>
        </p:sp>
        <p:pic>
          <p:nvPicPr>
            <p:cNvPr id="149" name="Picture 148">
              <a:extLst>
                <a:ext uri="{FF2B5EF4-FFF2-40B4-BE49-F238E27FC236}">
                  <a16:creationId xmlns:a16="http://schemas.microsoft.com/office/drawing/2014/main" id="{E7410208-3917-4CB4-8166-851352F8F9FA}"/>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grpSp>
        <p:nvGrpSpPr>
          <p:cNvPr id="150" name="Group 149">
            <a:extLst>
              <a:ext uri="{FF2B5EF4-FFF2-40B4-BE49-F238E27FC236}">
                <a16:creationId xmlns:a16="http://schemas.microsoft.com/office/drawing/2014/main" id="{DD1D7C3A-9BC2-488F-BD96-4A6D28F9CEA2}"/>
              </a:ext>
            </a:extLst>
          </p:cNvPr>
          <p:cNvGrpSpPr/>
          <p:nvPr/>
        </p:nvGrpSpPr>
        <p:grpSpPr>
          <a:xfrm>
            <a:off x="9486400" y="347241"/>
            <a:ext cx="1081487" cy="1149447"/>
            <a:chOff x="9617220" y="250586"/>
            <a:chExt cx="1439460" cy="1529914"/>
          </a:xfrm>
        </p:grpSpPr>
        <p:sp>
          <p:nvSpPr>
            <p:cNvPr id="151" name="Rectangle: Diagonal Corners Rounded 150">
              <a:extLst>
                <a:ext uri="{FF2B5EF4-FFF2-40B4-BE49-F238E27FC236}">
                  <a16:creationId xmlns:a16="http://schemas.microsoft.com/office/drawing/2014/main" id="{E4D28BA7-85C4-4B31-BD1B-C38EA245747C}"/>
                </a:ext>
              </a:extLst>
            </p:cNvPr>
            <p:cNvSpPr/>
            <p:nvPr/>
          </p:nvSpPr>
          <p:spPr>
            <a:xfrm>
              <a:off x="9787950" y="250586"/>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52" name="TextBox 151">
              <a:extLst>
                <a:ext uri="{FF2B5EF4-FFF2-40B4-BE49-F238E27FC236}">
                  <a16:creationId xmlns:a16="http://schemas.microsoft.com/office/drawing/2014/main" id="{E44CC3C4-C97C-4358-8DD1-E5D0CEC82728}"/>
                </a:ext>
              </a:extLst>
            </p:cNvPr>
            <p:cNvSpPr txBox="1"/>
            <p:nvPr/>
          </p:nvSpPr>
          <p:spPr>
            <a:xfrm>
              <a:off x="9617220" y="1490848"/>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WHO STI</a:t>
              </a:r>
              <a:endParaRPr lang="en-US" sz="1200" kern="1200" dirty="0"/>
            </a:p>
          </p:txBody>
        </p:sp>
        <p:pic>
          <p:nvPicPr>
            <p:cNvPr id="153" name="Picture 152">
              <a:extLst>
                <a:ext uri="{FF2B5EF4-FFF2-40B4-BE49-F238E27FC236}">
                  <a16:creationId xmlns:a16="http://schemas.microsoft.com/office/drawing/2014/main" id="{9C9C7FF4-D32A-4CBC-8871-0358A88DBF7C}"/>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9858613" y="354913"/>
              <a:ext cx="971175" cy="971175"/>
            </a:xfrm>
            <a:prstGeom prst="rect">
              <a:avLst/>
            </a:prstGeom>
          </p:spPr>
        </p:pic>
      </p:grpSp>
      <p:grpSp>
        <p:nvGrpSpPr>
          <p:cNvPr id="154" name="Group 153">
            <a:extLst>
              <a:ext uri="{FF2B5EF4-FFF2-40B4-BE49-F238E27FC236}">
                <a16:creationId xmlns:a16="http://schemas.microsoft.com/office/drawing/2014/main" id="{BC88ECE4-E26B-454D-AB98-68A8F2586D0C}"/>
              </a:ext>
            </a:extLst>
          </p:cNvPr>
          <p:cNvGrpSpPr/>
          <p:nvPr/>
        </p:nvGrpSpPr>
        <p:grpSpPr>
          <a:xfrm>
            <a:off x="4231717" y="343472"/>
            <a:ext cx="1081487" cy="1124502"/>
            <a:chOff x="3560576" y="281853"/>
            <a:chExt cx="1439460" cy="1496712"/>
          </a:xfrm>
        </p:grpSpPr>
        <p:sp>
          <p:nvSpPr>
            <p:cNvPr id="155" name="Rectangle: Diagonal Corners Rounded 154">
              <a:extLst>
                <a:ext uri="{FF2B5EF4-FFF2-40B4-BE49-F238E27FC236}">
                  <a16:creationId xmlns:a16="http://schemas.microsoft.com/office/drawing/2014/main" id="{A4071929-EC69-4C7C-BC53-5D059357E784}"/>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56" name="TextBox 155">
              <a:extLst>
                <a:ext uri="{FF2B5EF4-FFF2-40B4-BE49-F238E27FC236}">
                  <a16:creationId xmlns:a16="http://schemas.microsoft.com/office/drawing/2014/main" id="{39340A46-107B-4AD8-A6D7-2D34182A1746}"/>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err="1"/>
                <a:t>eCQM</a:t>
              </a:r>
              <a:r>
                <a:rPr lang="en-US" sz="1200" dirty="0"/>
                <a:t> </a:t>
              </a:r>
              <a:r>
                <a:rPr lang="en-US" sz="1200" dirty="0" err="1"/>
                <a:t>ProgramS</a:t>
              </a:r>
              <a:endParaRPr lang="en-US" sz="1200" kern="1200" dirty="0"/>
            </a:p>
          </p:txBody>
        </p:sp>
        <p:pic>
          <p:nvPicPr>
            <p:cNvPr id="157" name="Picture 156">
              <a:extLst>
                <a:ext uri="{FF2B5EF4-FFF2-40B4-BE49-F238E27FC236}">
                  <a16:creationId xmlns:a16="http://schemas.microsoft.com/office/drawing/2014/main" id="{F40E2CA1-BE2C-4FFE-9822-5EB2E2430A21}"/>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868253" y="444757"/>
              <a:ext cx="824105" cy="824105"/>
            </a:xfrm>
            <a:prstGeom prst="rect">
              <a:avLst/>
            </a:prstGeom>
          </p:spPr>
        </p:pic>
      </p:grpSp>
      <p:sp>
        <p:nvSpPr>
          <p:cNvPr id="159" name="Rectangle 158">
            <a:extLst>
              <a:ext uri="{FF2B5EF4-FFF2-40B4-BE49-F238E27FC236}">
                <a16:creationId xmlns:a16="http://schemas.microsoft.com/office/drawing/2014/main" id="{2EC7A898-FFE8-4875-B622-2F864FAA5435}"/>
              </a:ext>
            </a:extLst>
          </p:cNvPr>
          <p:cNvSpPr/>
          <p:nvPr/>
        </p:nvSpPr>
        <p:spPr>
          <a:xfrm>
            <a:off x="5787331" y="1750594"/>
            <a:ext cx="114518" cy="2044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Arrow: Bent 159">
            <a:extLst>
              <a:ext uri="{FF2B5EF4-FFF2-40B4-BE49-F238E27FC236}">
                <a16:creationId xmlns:a16="http://schemas.microsoft.com/office/drawing/2014/main" id="{A5B950DE-A2FD-4DF2-AE94-02D5E70C1E36}"/>
              </a:ext>
            </a:extLst>
          </p:cNvPr>
          <p:cNvSpPr/>
          <p:nvPr/>
        </p:nvSpPr>
        <p:spPr>
          <a:xfrm rot="16200000" flipV="1">
            <a:off x="5879621" y="911508"/>
            <a:ext cx="335866" cy="1479017"/>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1" name="Arrow: Bent 160">
            <a:extLst>
              <a:ext uri="{FF2B5EF4-FFF2-40B4-BE49-F238E27FC236}">
                <a16:creationId xmlns:a16="http://schemas.microsoft.com/office/drawing/2014/main" id="{C1835C10-A6E1-4905-AF77-92F99D7D0416}"/>
              </a:ext>
            </a:extLst>
          </p:cNvPr>
          <p:cNvSpPr/>
          <p:nvPr/>
        </p:nvSpPr>
        <p:spPr>
          <a:xfrm rot="16200000">
            <a:off x="5440162" y="928068"/>
            <a:ext cx="327980" cy="1453786"/>
          </a:xfrm>
          <a:prstGeom prst="bentArrow">
            <a:avLst>
              <a:gd name="adj1" fmla="val 30020"/>
              <a:gd name="adj2" fmla="val 23858"/>
              <a:gd name="adj3" fmla="val 31853"/>
              <a:gd name="adj4" fmla="val 3679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83" name="Group 82">
            <a:extLst>
              <a:ext uri="{FF2B5EF4-FFF2-40B4-BE49-F238E27FC236}">
                <a16:creationId xmlns:a16="http://schemas.microsoft.com/office/drawing/2014/main" id="{9F29FE3F-4638-41C3-9638-3AAA30091481}"/>
              </a:ext>
            </a:extLst>
          </p:cNvPr>
          <p:cNvGrpSpPr/>
          <p:nvPr/>
        </p:nvGrpSpPr>
        <p:grpSpPr>
          <a:xfrm>
            <a:off x="5249558" y="1926403"/>
            <a:ext cx="1081487" cy="1124502"/>
            <a:chOff x="5249558" y="1926403"/>
            <a:chExt cx="1081487" cy="1124502"/>
          </a:xfrm>
        </p:grpSpPr>
        <p:grpSp>
          <p:nvGrpSpPr>
            <p:cNvPr id="137" name="Group 136">
              <a:extLst>
                <a:ext uri="{FF2B5EF4-FFF2-40B4-BE49-F238E27FC236}">
                  <a16:creationId xmlns:a16="http://schemas.microsoft.com/office/drawing/2014/main" id="{2B802CDF-345D-4573-A1B7-EA8D57382860}"/>
                </a:ext>
              </a:extLst>
            </p:cNvPr>
            <p:cNvGrpSpPr/>
            <p:nvPr/>
          </p:nvGrpSpPr>
          <p:grpSpPr>
            <a:xfrm>
              <a:off x="5249558" y="1926403"/>
              <a:ext cx="1081487" cy="1124502"/>
              <a:chOff x="3560576" y="281853"/>
              <a:chExt cx="1439460" cy="1496712"/>
            </a:xfrm>
          </p:grpSpPr>
          <p:sp>
            <p:nvSpPr>
              <p:cNvPr id="139" name="Rectangle: Diagonal Corners Rounded 138">
                <a:extLst>
                  <a:ext uri="{FF2B5EF4-FFF2-40B4-BE49-F238E27FC236}">
                    <a16:creationId xmlns:a16="http://schemas.microsoft.com/office/drawing/2014/main" id="{1F46B3DD-3324-44BC-AE2F-EC163EDB0838}"/>
                  </a:ext>
                </a:extLst>
              </p:cNvPr>
              <p:cNvSpPr/>
              <p:nvPr/>
            </p:nvSpPr>
            <p:spPr>
              <a:xfrm>
                <a:off x="3742240" y="281853"/>
                <a:ext cx="1098000" cy="1098000"/>
              </a:xfrm>
              <a:prstGeom prst="round2DiagRect">
                <a:avLst>
                  <a:gd name="adj1" fmla="val 29727"/>
                  <a:gd name="adj2" fmla="val 0"/>
                </a:avLst>
              </a:prstGeom>
              <a:solidFill>
                <a:schemeClr val="accent1">
                  <a:lumMod val="75000"/>
                </a:schemeClr>
              </a:solidFill>
            </p:spPr>
            <p:style>
              <a:lnRef idx="0">
                <a:schemeClr val="lt2">
                  <a:alpha val="0"/>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p:style>
            <p:txBody>
              <a:bodyPr/>
              <a:lstStyle/>
              <a:p>
                <a:endParaRPr lang="en-US" sz="1100" dirty="0"/>
              </a:p>
            </p:txBody>
          </p:sp>
          <p:sp>
            <p:nvSpPr>
              <p:cNvPr id="140" name="TextBox 139">
                <a:extLst>
                  <a:ext uri="{FF2B5EF4-FFF2-40B4-BE49-F238E27FC236}">
                    <a16:creationId xmlns:a16="http://schemas.microsoft.com/office/drawing/2014/main" id="{528F6ABD-BE3B-4BAB-9416-A96685A2F31B}"/>
                  </a:ext>
                </a:extLst>
              </p:cNvPr>
              <p:cNvSpPr txBox="1"/>
              <p:nvPr/>
            </p:nvSpPr>
            <p:spPr>
              <a:xfrm>
                <a:off x="3560576" y="1488913"/>
                <a:ext cx="1439460" cy="289652"/>
              </a:xfrm>
              <a:prstGeom prst="rect">
                <a:avLst/>
              </a:prstGeom>
            </p:spPr>
            <p:style>
              <a:lnRef idx="0">
                <a:scrgbClr r="0" g="0" b="0"/>
              </a:lnRef>
              <a:fillRef idx="0">
                <a:scrgbClr r="0" g="0" b="0"/>
              </a:fillRef>
              <a:effectRef idx="0">
                <a:scrgbClr r="0" g="0" b="0"/>
              </a:effectRef>
              <a:fontRef idx="minor">
                <a:schemeClr val="dk2">
                  <a:hueOff val="0"/>
                  <a:satOff val="0"/>
                  <a:lumOff val="0"/>
                  <a:alphaOff val="0"/>
                </a:schemeClr>
              </a:fontRef>
            </p:style>
            <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defRPr cap="all"/>
                </a:pPr>
                <a:r>
                  <a:rPr lang="en-US" sz="1200" dirty="0"/>
                  <a:t>MME Calculation</a:t>
                </a:r>
                <a:endParaRPr lang="en-US" sz="1200" kern="1200" dirty="0"/>
              </a:p>
            </p:txBody>
          </p:sp>
        </p:grpSp>
        <p:pic>
          <p:nvPicPr>
            <p:cNvPr id="82" name="Picture 81">
              <a:extLst>
                <a:ext uri="{FF2B5EF4-FFF2-40B4-BE49-F238E27FC236}">
                  <a16:creationId xmlns:a16="http://schemas.microsoft.com/office/drawing/2014/main" id="{39FB5E23-0E86-4F6E-BDAC-012FA0DA816E}"/>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548387" y="2108409"/>
              <a:ext cx="500257" cy="500257"/>
            </a:xfrm>
            <a:prstGeom prst="rect">
              <a:avLst/>
            </a:prstGeom>
          </p:spPr>
        </p:pic>
      </p:grpSp>
      <p:sp>
        <p:nvSpPr>
          <p:cNvPr id="162" name="Rectangle 161">
            <a:extLst>
              <a:ext uri="{FF2B5EF4-FFF2-40B4-BE49-F238E27FC236}">
                <a16:creationId xmlns:a16="http://schemas.microsoft.com/office/drawing/2014/main" id="{880D413F-9EB6-487C-8859-F633DAD1CD17}"/>
              </a:ext>
            </a:extLst>
          </p:cNvPr>
          <p:cNvSpPr/>
          <p:nvPr/>
        </p:nvSpPr>
        <p:spPr>
          <a:xfrm>
            <a:off x="9975812" y="1764735"/>
            <a:ext cx="114518" cy="2044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Arrow: Bent 162">
            <a:extLst>
              <a:ext uri="{FF2B5EF4-FFF2-40B4-BE49-F238E27FC236}">
                <a16:creationId xmlns:a16="http://schemas.microsoft.com/office/drawing/2014/main" id="{788B4BA7-A374-4DA9-9E34-6E4392FD4236}"/>
              </a:ext>
            </a:extLst>
          </p:cNvPr>
          <p:cNvSpPr/>
          <p:nvPr/>
        </p:nvSpPr>
        <p:spPr>
          <a:xfrm rot="16200000" flipV="1">
            <a:off x="10256473" y="681995"/>
            <a:ext cx="328520" cy="1973673"/>
          </a:xfrm>
          <a:prstGeom prst="bentArrow">
            <a:avLst>
              <a:gd name="adj1" fmla="val 30020"/>
              <a:gd name="adj2" fmla="val 23858"/>
              <a:gd name="adj3" fmla="val 31853"/>
              <a:gd name="adj4" fmla="val 4540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4" name="Arrow: Bent 163">
            <a:extLst>
              <a:ext uri="{FF2B5EF4-FFF2-40B4-BE49-F238E27FC236}">
                <a16:creationId xmlns:a16="http://schemas.microsoft.com/office/drawing/2014/main" id="{81D6CF1D-26CC-4345-B50F-2C6DCC5A094F}"/>
              </a:ext>
            </a:extLst>
          </p:cNvPr>
          <p:cNvSpPr/>
          <p:nvPr/>
        </p:nvSpPr>
        <p:spPr>
          <a:xfrm rot="16200000">
            <a:off x="9331007" y="707202"/>
            <a:ext cx="321209" cy="1930569"/>
          </a:xfrm>
          <a:prstGeom prst="bentArrow">
            <a:avLst>
              <a:gd name="adj1" fmla="val 30020"/>
              <a:gd name="adj2" fmla="val 23858"/>
              <a:gd name="adj3" fmla="val 31853"/>
              <a:gd name="adj4" fmla="val 3679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5" name="Arrow: Up 164">
            <a:extLst>
              <a:ext uri="{FF2B5EF4-FFF2-40B4-BE49-F238E27FC236}">
                <a16:creationId xmlns:a16="http://schemas.microsoft.com/office/drawing/2014/main" id="{58BDC1B6-1C70-4169-926D-38F2CFB6FF83}"/>
              </a:ext>
            </a:extLst>
          </p:cNvPr>
          <p:cNvSpPr/>
          <p:nvPr/>
        </p:nvSpPr>
        <p:spPr>
          <a:xfrm>
            <a:off x="9937617" y="1519260"/>
            <a:ext cx="179051" cy="327981"/>
          </a:xfrm>
          <a:prstGeom prst="up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17772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apezoid 4">
            <a:extLst>
              <a:ext uri="{FF2B5EF4-FFF2-40B4-BE49-F238E27FC236}">
                <a16:creationId xmlns:a16="http://schemas.microsoft.com/office/drawing/2014/main" id="{74DF24FE-5007-4763-BE3F-A86B44B2A45E}"/>
              </a:ext>
            </a:extLst>
          </p:cNvPr>
          <p:cNvSpPr/>
          <p:nvPr/>
        </p:nvSpPr>
        <p:spPr>
          <a:xfrm>
            <a:off x="2551112" y="4495800"/>
            <a:ext cx="8153400" cy="1028700"/>
          </a:xfrm>
          <a:prstGeom prst="trapezoid">
            <a:avLst>
              <a:gd name="adj" fmla="val 5092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Universally applicable resources and guidance</a:t>
            </a:r>
          </a:p>
        </p:txBody>
      </p:sp>
      <p:sp>
        <p:nvSpPr>
          <p:cNvPr id="6" name="Trapezoid 5">
            <a:extLst>
              <a:ext uri="{FF2B5EF4-FFF2-40B4-BE49-F238E27FC236}">
                <a16:creationId xmlns:a16="http://schemas.microsoft.com/office/drawing/2014/main" id="{50B2B962-9349-4B5B-8FF3-CF5DDD2DEA35}"/>
              </a:ext>
            </a:extLst>
          </p:cNvPr>
          <p:cNvSpPr/>
          <p:nvPr/>
        </p:nvSpPr>
        <p:spPr>
          <a:xfrm>
            <a:off x="3087687" y="3467100"/>
            <a:ext cx="7070725" cy="1028700"/>
          </a:xfrm>
          <a:prstGeom prst="trapezoid">
            <a:avLst>
              <a:gd name="adj" fmla="val 50926"/>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US Realm specific profiles</a:t>
            </a:r>
          </a:p>
        </p:txBody>
      </p:sp>
      <p:sp>
        <p:nvSpPr>
          <p:cNvPr id="7" name="Trapezoid 6">
            <a:extLst>
              <a:ext uri="{FF2B5EF4-FFF2-40B4-BE49-F238E27FC236}">
                <a16:creationId xmlns:a16="http://schemas.microsoft.com/office/drawing/2014/main" id="{D5F8BA9C-B816-420E-8BA6-29E06DF95C8C}"/>
              </a:ext>
            </a:extLst>
          </p:cNvPr>
          <p:cNvSpPr/>
          <p:nvPr/>
        </p:nvSpPr>
        <p:spPr>
          <a:xfrm>
            <a:off x="3621087" y="2438400"/>
            <a:ext cx="6016625" cy="1028700"/>
          </a:xfrm>
          <a:prstGeom prst="trapezoid">
            <a:avLst>
              <a:gd name="adj" fmla="val 5092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Quality Improvement focused</a:t>
            </a:r>
          </a:p>
        </p:txBody>
      </p:sp>
      <p:sp>
        <p:nvSpPr>
          <p:cNvPr id="8" name="Trapezoid 7">
            <a:extLst>
              <a:ext uri="{FF2B5EF4-FFF2-40B4-BE49-F238E27FC236}">
                <a16:creationId xmlns:a16="http://schemas.microsoft.com/office/drawing/2014/main" id="{58D92A33-8EEC-4B0F-A875-C570D8F758F1}"/>
              </a:ext>
            </a:extLst>
          </p:cNvPr>
          <p:cNvSpPr/>
          <p:nvPr/>
        </p:nvSpPr>
        <p:spPr>
          <a:xfrm>
            <a:off x="4141787" y="1409700"/>
            <a:ext cx="4975225" cy="1028700"/>
          </a:xfrm>
          <a:prstGeom prst="trapezoid">
            <a:avLst>
              <a:gd name="adj" fmla="val 50926"/>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Use case focused</a:t>
            </a:r>
          </a:p>
        </p:txBody>
      </p:sp>
      <p:sp>
        <p:nvSpPr>
          <p:cNvPr id="10" name="Rectangle 9">
            <a:extLst>
              <a:ext uri="{FF2B5EF4-FFF2-40B4-BE49-F238E27FC236}">
                <a16:creationId xmlns:a16="http://schemas.microsoft.com/office/drawing/2014/main" id="{B1230B7B-CB86-41C2-8818-A7793453FB67}"/>
              </a:ext>
            </a:extLst>
          </p:cNvPr>
          <p:cNvSpPr/>
          <p:nvPr/>
        </p:nvSpPr>
        <p:spPr>
          <a:xfrm>
            <a:off x="1193800" y="4826000"/>
            <a:ext cx="2120900" cy="3683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FHIR</a:t>
            </a:r>
          </a:p>
        </p:txBody>
      </p:sp>
      <p:sp>
        <p:nvSpPr>
          <p:cNvPr id="11" name="Rectangle 10">
            <a:extLst>
              <a:ext uri="{FF2B5EF4-FFF2-40B4-BE49-F238E27FC236}">
                <a16:creationId xmlns:a16="http://schemas.microsoft.com/office/drawing/2014/main" id="{07191C11-0908-47DE-BA7D-FF6C65FB0B91}"/>
              </a:ext>
            </a:extLst>
          </p:cNvPr>
          <p:cNvSpPr/>
          <p:nvPr/>
        </p:nvSpPr>
        <p:spPr>
          <a:xfrm>
            <a:off x="1193800" y="3797300"/>
            <a:ext cx="2120900" cy="3683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US Core</a:t>
            </a:r>
          </a:p>
        </p:txBody>
      </p:sp>
      <p:sp>
        <p:nvSpPr>
          <p:cNvPr id="12" name="Rectangle 11">
            <a:extLst>
              <a:ext uri="{FF2B5EF4-FFF2-40B4-BE49-F238E27FC236}">
                <a16:creationId xmlns:a16="http://schemas.microsoft.com/office/drawing/2014/main" id="{3E920B8A-C1BD-46CE-9080-20E9DE13D2EC}"/>
              </a:ext>
            </a:extLst>
          </p:cNvPr>
          <p:cNvSpPr/>
          <p:nvPr/>
        </p:nvSpPr>
        <p:spPr>
          <a:xfrm>
            <a:off x="1193800" y="2768600"/>
            <a:ext cx="2120900" cy="3683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QI Core</a:t>
            </a:r>
          </a:p>
        </p:txBody>
      </p:sp>
      <p:sp>
        <p:nvSpPr>
          <p:cNvPr id="13" name="Rectangle 12">
            <a:extLst>
              <a:ext uri="{FF2B5EF4-FFF2-40B4-BE49-F238E27FC236}">
                <a16:creationId xmlns:a16="http://schemas.microsoft.com/office/drawing/2014/main" id="{5F0E9B49-D113-473E-AA9D-7B2E8A38E8EF}"/>
              </a:ext>
            </a:extLst>
          </p:cNvPr>
          <p:cNvSpPr/>
          <p:nvPr/>
        </p:nvSpPr>
        <p:spPr>
          <a:xfrm>
            <a:off x="1193800" y="1739900"/>
            <a:ext cx="2120900" cy="3683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Content</a:t>
            </a:r>
          </a:p>
        </p:txBody>
      </p:sp>
      <p:sp>
        <p:nvSpPr>
          <p:cNvPr id="14" name="Arrow: Down 13">
            <a:extLst>
              <a:ext uri="{FF2B5EF4-FFF2-40B4-BE49-F238E27FC236}">
                <a16:creationId xmlns:a16="http://schemas.microsoft.com/office/drawing/2014/main" id="{639D5AAE-8AA3-4833-A148-7B002C90B6CC}"/>
              </a:ext>
            </a:extLst>
          </p:cNvPr>
          <p:cNvSpPr/>
          <p:nvPr/>
        </p:nvSpPr>
        <p:spPr>
          <a:xfrm rot="10800000">
            <a:off x="10250614" y="1739900"/>
            <a:ext cx="315786" cy="3245104"/>
          </a:xfrm>
          <a:prstGeom prst="downArrow">
            <a:avLst/>
          </a:prstGeom>
          <a:gradFill>
            <a:gsLst>
              <a:gs pos="0">
                <a:schemeClr val="accent2">
                  <a:lumMod val="60000"/>
                  <a:lumOff val="40000"/>
                </a:schemeClr>
              </a:gs>
              <a:gs pos="35000">
                <a:schemeClr val="bg2">
                  <a:lumMod val="75000"/>
                </a:schemeClr>
              </a:gs>
              <a:gs pos="61000">
                <a:schemeClr val="accent4">
                  <a:lumMod val="20000"/>
                  <a:lumOff val="80000"/>
                </a:schemeClr>
              </a:gs>
              <a:gs pos="85000">
                <a:schemeClr val="accent1">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1A92138-6F0B-4D0C-B488-D21523198A44}"/>
              </a:ext>
            </a:extLst>
          </p:cNvPr>
          <p:cNvSpPr txBox="1"/>
          <p:nvPr/>
        </p:nvSpPr>
        <p:spPr>
          <a:xfrm rot="16200000">
            <a:off x="9370050" y="3121791"/>
            <a:ext cx="2762038" cy="369332"/>
          </a:xfrm>
          <a:prstGeom prst="rect">
            <a:avLst/>
          </a:prstGeom>
          <a:noFill/>
        </p:spPr>
        <p:txBody>
          <a:bodyPr wrap="none" rtlCol="0">
            <a:spAutoFit/>
          </a:bodyPr>
          <a:lstStyle/>
          <a:p>
            <a:r>
              <a:rPr lang="en-US" dirty="0"/>
              <a:t>Constraint-based Definition</a:t>
            </a:r>
          </a:p>
        </p:txBody>
      </p:sp>
      <p:sp>
        <p:nvSpPr>
          <p:cNvPr id="16" name="Arrow: Down 15">
            <a:extLst>
              <a:ext uri="{FF2B5EF4-FFF2-40B4-BE49-F238E27FC236}">
                <a16:creationId xmlns:a16="http://schemas.microsoft.com/office/drawing/2014/main" id="{FD7F0013-E967-4918-BB1A-6C68139D125F}"/>
              </a:ext>
            </a:extLst>
          </p:cNvPr>
          <p:cNvSpPr/>
          <p:nvPr/>
        </p:nvSpPr>
        <p:spPr>
          <a:xfrm>
            <a:off x="1404883" y="2203238"/>
            <a:ext cx="220717" cy="482600"/>
          </a:xfrm>
          <a:prstGeom prst="downArrow">
            <a:avLst/>
          </a:prstGeom>
          <a:gradFill>
            <a:gsLst>
              <a:gs pos="0">
                <a:schemeClr val="accent1">
                  <a:lumMod val="60000"/>
                  <a:lumOff val="40000"/>
                </a:schemeClr>
              </a:gs>
              <a:gs pos="100000">
                <a:schemeClr val="accent4">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57BFF4D7-DBF5-49CE-9AAF-D07FBA4A9F1E}"/>
              </a:ext>
            </a:extLst>
          </p:cNvPr>
          <p:cNvSpPr/>
          <p:nvPr/>
        </p:nvSpPr>
        <p:spPr>
          <a:xfrm>
            <a:off x="1404882" y="3238501"/>
            <a:ext cx="220717" cy="482600"/>
          </a:xfrm>
          <a:prstGeom prst="downArrow">
            <a:avLst/>
          </a:prstGeom>
          <a:gradFill>
            <a:gsLst>
              <a:gs pos="0">
                <a:schemeClr val="accent4">
                  <a:lumMod val="60000"/>
                  <a:lumOff val="40000"/>
                </a:schemeClr>
              </a:gs>
              <a:gs pos="100000">
                <a:schemeClr val="accent3">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3D68A192-3A6E-4946-AA32-A499676C9849}"/>
              </a:ext>
            </a:extLst>
          </p:cNvPr>
          <p:cNvSpPr/>
          <p:nvPr/>
        </p:nvSpPr>
        <p:spPr>
          <a:xfrm>
            <a:off x="1404882" y="4241799"/>
            <a:ext cx="220717" cy="482600"/>
          </a:xfrm>
          <a:prstGeom prst="downArrow">
            <a:avLst/>
          </a:prstGeom>
          <a:gradFill>
            <a:gsLst>
              <a:gs pos="0">
                <a:schemeClr val="accent3">
                  <a:lumMod val="60000"/>
                  <a:lumOff val="40000"/>
                </a:schemeClr>
              </a:gs>
              <a:gs pos="100000">
                <a:schemeClr val="accent2">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BE96E4D-4470-44D8-93A2-731D8FE9B845}"/>
              </a:ext>
            </a:extLst>
          </p:cNvPr>
          <p:cNvSpPr txBox="1"/>
          <p:nvPr/>
        </p:nvSpPr>
        <p:spPr>
          <a:xfrm rot="5400000">
            <a:off x="-572017" y="3295134"/>
            <a:ext cx="2859565" cy="369332"/>
          </a:xfrm>
          <a:prstGeom prst="rect">
            <a:avLst/>
          </a:prstGeom>
          <a:noFill/>
        </p:spPr>
        <p:txBody>
          <a:bodyPr wrap="none" rtlCol="0">
            <a:spAutoFit/>
          </a:bodyPr>
          <a:lstStyle/>
          <a:p>
            <a:r>
              <a:rPr lang="en-US" dirty="0"/>
              <a:t>Consensus-based Promotion</a:t>
            </a:r>
          </a:p>
        </p:txBody>
      </p:sp>
      <p:sp>
        <p:nvSpPr>
          <p:cNvPr id="20" name="TextBox 19">
            <a:extLst>
              <a:ext uri="{FF2B5EF4-FFF2-40B4-BE49-F238E27FC236}">
                <a16:creationId xmlns:a16="http://schemas.microsoft.com/office/drawing/2014/main" id="{7BF904E7-B6D7-4EE0-BB67-E2905293C276}"/>
              </a:ext>
            </a:extLst>
          </p:cNvPr>
          <p:cNvSpPr txBox="1"/>
          <p:nvPr/>
        </p:nvSpPr>
        <p:spPr>
          <a:xfrm>
            <a:off x="188663" y="201721"/>
            <a:ext cx="3307316" cy="369332"/>
          </a:xfrm>
          <a:prstGeom prst="rect">
            <a:avLst/>
          </a:prstGeom>
          <a:noFill/>
        </p:spPr>
        <p:txBody>
          <a:bodyPr wrap="none" rtlCol="0">
            <a:spAutoFit/>
          </a:bodyPr>
          <a:lstStyle/>
          <a:p>
            <a:r>
              <a:rPr lang="en-US" dirty="0"/>
              <a:t>Data Model Standards Landscape</a:t>
            </a:r>
          </a:p>
        </p:txBody>
      </p:sp>
      <p:pic>
        <p:nvPicPr>
          <p:cNvPr id="2" name="Picture 1">
            <a:extLst>
              <a:ext uri="{FF2B5EF4-FFF2-40B4-BE49-F238E27FC236}">
                <a16:creationId xmlns:a16="http://schemas.microsoft.com/office/drawing/2014/main" id="{68493320-5E20-49CB-B3BE-E79B4F053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Tree>
    <p:extLst>
      <p:ext uri="{BB962C8B-B14F-4D97-AF65-F5344CB8AC3E}">
        <p14:creationId xmlns:p14="http://schemas.microsoft.com/office/powerpoint/2010/main" val="9434469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1FCE-9ACA-0DD2-F548-C44B75760612}"/>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A7994B28-D19F-F822-4524-51D5F3C91534}"/>
              </a:ext>
            </a:extLst>
          </p:cNvPr>
          <p:cNvGrpSpPr/>
          <p:nvPr/>
        </p:nvGrpSpPr>
        <p:grpSpPr>
          <a:xfrm>
            <a:off x="686577" y="1409700"/>
            <a:ext cx="8153400" cy="4114800"/>
            <a:chOff x="2551112" y="1409700"/>
            <a:chExt cx="8153400" cy="4114800"/>
          </a:xfrm>
        </p:grpSpPr>
        <p:sp>
          <p:nvSpPr>
            <p:cNvPr id="5" name="Trapezoid 4">
              <a:extLst>
                <a:ext uri="{FF2B5EF4-FFF2-40B4-BE49-F238E27FC236}">
                  <a16:creationId xmlns:a16="http://schemas.microsoft.com/office/drawing/2014/main" id="{4703DE66-3310-D6FA-7B55-EF7B00A17DC6}"/>
                </a:ext>
              </a:extLst>
            </p:cNvPr>
            <p:cNvSpPr/>
            <p:nvPr/>
          </p:nvSpPr>
          <p:spPr>
            <a:xfrm>
              <a:off x="2551112" y="4495800"/>
              <a:ext cx="8153400" cy="1028700"/>
            </a:xfrm>
            <a:prstGeom prst="trapezoid">
              <a:avLst>
                <a:gd name="adj" fmla="val 50926"/>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FHIR</a:t>
              </a:r>
            </a:p>
            <a:p>
              <a:pPr algn="ctr"/>
              <a:r>
                <a:rPr lang="en-US" dirty="0"/>
                <a:t>Universally applicable resources and guidance</a:t>
              </a:r>
            </a:p>
          </p:txBody>
        </p:sp>
        <p:sp>
          <p:nvSpPr>
            <p:cNvPr id="6" name="Trapezoid 5">
              <a:extLst>
                <a:ext uri="{FF2B5EF4-FFF2-40B4-BE49-F238E27FC236}">
                  <a16:creationId xmlns:a16="http://schemas.microsoft.com/office/drawing/2014/main" id="{4EE32E71-4309-65B8-FAE3-486857671DD2}"/>
                </a:ext>
              </a:extLst>
            </p:cNvPr>
            <p:cNvSpPr/>
            <p:nvPr/>
          </p:nvSpPr>
          <p:spPr>
            <a:xfrm>
              <a:off x="3087687" y="3467100"/>
              <a:ext cx="7070725" cy="1028700"/>
            </a:xfrm>
            <a:prstGeom prst="trapezoid">
              <a:avLst>
                <a:gd name="adj" fmla="val 50926"/>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Realm Specific Profiles</a:t>
              </a:r>
            </a:p>
          </p:txBody>
        </p:sp>
        <p:sp>
          <p:nvSpPr>
            <p:cNvPr id="7" name="Trapezoid 6">
              <a:extLst>
                <a:ext uri="{FF2B5EF4-FFF2-40B4-BE49-F238E27FC236}">
                  <a16:creationId xmlns:a16="http://schemas.microsoft.com/office/drawing/2014/main" id="{767942A3-E136-0F36-79E2-3AB12483763F}"/>
                </a:ext>
              </a:extLst>
            </p:cNvPr>
            <p:cNvSpPr/>
            <p:nvPr/>
          </p:nvSpPr>
          <p:spPr>
            <a:xfrm>
              <a:off x="3621087" y="2438400"/>
              <a:ext cx="6016625" cy="1028700"/>
            </a:xfrm>
            <a:prstGeom prst="trapezoid">
              <a:avLst>
                <a:gd name="adj" fmla="val 5092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Quality Improvement Focused</a:t>
              </a:r>
            </a:p>
          </p:txBody>
        </p:sp>
        <p:sp>
          <p:nvSpPr>
            <p:cNvPr id="8" name="Trapezoid 7">
              <a:extLst>
                <a:ext uri="{FF2B5EF4-FFF2-40B4-BE49-F238E27FC236}">
                  <a16:creationId xmlns:a16="http://schemas.microsoft.com/office/drawing/2014/main" id="{88BD7701-5C94-E6B4-5CCD-3A13C4EBEBE9}"/>
                </a:ext>
              </a:extLst>
            </p:cNvPr>
            <p:cNvSpPr/>
            <p:nvPr/>
          </p:nvSpPr>
          <p:spPr>
            <a:xfrm>
              <a:off x="4141787" y="1409700"/>
              <a:ext cx="4975225" cy="1028700"/>
            </a:xfrm>
            <a:prstGeom prst="trapezoid">
              <a:avLst>
                <a:gd name="adj" fmla="val 50926"/>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Use Case Focused</a:t>
              </a:r>
            </a:p>
          </p:txBody>
        </p:sp>
      </p:grpSp>
      <p:grpSp>
        <p:nvGrpSpPr>
          <p:cNvPr id="4" name="Group 3">
            <a:extLst>
              <a:ext uri="{FF2B5EF4-FFF2-40B4-BE49-F238E27FC236}">
                <a16:creationId xmlns:a16="http://schemas.microsoft.com/office/drawing/2014/main" id="{D7546E65-9650-65FA-43B4-C5CE44DFDFA7}"/>
              </a:ext>
            </a:extLst>
          </p:cNvPr>
          <p:cNvGrpSpPr/>
          <p:nvPr/>
        </p:nvGrpSpPr>
        <p:grpSpPr>
          <a:xfrm>
            <a:off x="8536088" y="1739900"/>
            <a:ext cx="685121" cy="3245104"/>
            <a:chOff x="10250614" y="1739900"/>
            <a:chExt cx="685121" cy="3245104"/>
          </a:xfrm>
        </p:grpSpPr>
        <p:sp>
          <p:nvSpPr>
            <p:cNvPr id="14" name="Arrow: Down 13">
              <a:extLst>
                <a:ext uri="{FF2B5EF4-FFF2-40B4-BE49-F238E27FC236}">
                  <a16:creationId xmlns:a16="http://schemas.microsoft.com/office/drawing/2014/main" id="{1CB1B641-27D7-BC21-E934-81128E606785}"/>
                </a:ext>
              </a:extLst>
            </p:cNvPr>
            <p:cNvSpPr/>
            <p:nvPr/>
          </p:nvSpPr>
          <p:spPr>
            <a:xfrm rot="10800000">
              <a:off x="10250614" y="1739900"/>
              <a:ext cx="315786" cy="3245104"/>
            </a:xfrm>
            <a:prstGeom prst="downArrow">
              <a:avLst/>
            </a:prstGeom>
            <a:gradFill>
              <a:gsLst>
                <a:gs pos="0">
                  <a:schemeClr val="accent2">
                    <a:lumMod val="60000"/>
                    <a:lumOff val="40000"/>
                  </a:schemeClr>
                </a:gs>
                <a:gs pos="35000">
                  <a:schemeClr val="bg2">
                    <a:lumMod val="75000"/>
                  </a:schemeClr>
                </a:gs>
                <a:gs pos="61000">
                  <a:schemeClr val="accent4">
                    <a:lumMod val="20000"/>
                    <a:lumOff val="80000"/>
                  </a:schemeClr>
                </a:gs>
                <a:gs pos="85000">
                  <a:schemeClr val="accent1">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571C11E-1FC2-4E4D-117C-5FDE7681A0F9}"/>
                </a:ext>
              </a:extLst>
            </p:cNvPr>
            <p:cNvSpPr txBox="1"/>
            <p:nvPr/>
          </p:nvSpPr>
          <p:spPr>
            <a:xfrm rot="16200000">
              <a:off x="9370050" y="3121791"/>
              <a:ext cx="2762038" cy="369332"/>
            </a:xfrm>
            <a:prstGeom prst="rect">
              <a:avLst/>
            </a:prstGeom>
            <a:noFill/>
          </p:spPr>
          <p:txBody>
            <a:bodyPr wrap="none" rtlCol="0">
              <a:spAutoFit/>
            </a:bodyPr>
            <a:lstStyle/>
            <a:p>
              <a:r>
                <a:rPr lang="en-US" dirty="0"/>
                <a:t>Constraint-based Definition</a:t>
              </a:r>
            </a:p>
          </p:txBody>
        </p:sp>
      </p:grpSp>
      <p:sp>
        <p:nvSpPr>
          <p:cNvPr id="20" name="TextBox 19">
            <a:extLst>
              <a:ext uri="{FF2B5EF4-FFF2-40B4-BE49-F238E27FC236}">
                <a16:creationId xmlns:a16="http://schemas.microsoft.com/office/drawing/2014/main" id="{41F3EA92-CF97-0CDB-8368-46A9EF575A4D}"/>
              </a:ext>
            </a:extLst>
          </p:cNvPr>
          <p:cNvSpPr txBox="1"/>
          <p:nvPr/>
        </p:nvSpPr>
        <p:spPr>
          <a:xfrm>
            <a:off x="188663" y="201721"/>
            <a:ext cx="4359399" cy="369332"/>
          </a:xfrm>
          <a:prstGeom prst="rect">
            <a:avLst/>
          </a:prstGeom>
          <a:noFill/>
        </p:spPr>
        <p:txBody>
          <a:bodyPr wrap="none" rtlCol="0">
            <a:spAutoFit/>
          </a:bodyPr>
          <a:lstStyle/>
          <a:p>
            <a:r>
              <a:rPr lang="en-US" dirty="0"/>
              <a:t>Data Model Standards Landscape- May 2026</a:t>
            </a:r>
          </a:p>
        </p:txBody>
      </p:sp>
      <p:pic>
        <p:nvPicPr>
          <p:cNvPr id="2" name="Picture 1">
            <a:extLst>
              <a:ext uri="{FF2B5EF4-FFF2-40B4-BE49-F238E27FC236}">
                <a16:creationId xmlns:a16="http://schemas.microsoft.com/office/drawing/2014/main" id="{7AF4B635-3F86-4770-FA3C-0740634A5D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grpSp>
        <p:nvGrpSpPr>
          <p:cNvPr id="23" name="Group 22">
            <a:extLst>
              <a:ext uri="{FF2B5EF4-FFF2-40B4-BE49-F238E27FC236}">
                <a16:creationId xmlns:a16="http://schemas.microsoft.com/office/drawing/2014/main" id="{128E831D-27FE-8037-1FAD-0D2AD2A56731}"/>
              </a:ext>
            </a:extLst>
          </p:cNvPr>
          <p:cNvGrpSpPr/>
          <p:nvPr/>
        </p:nvGrpSpPr>
        <p:grpSpPr>
          <a:xfrm>
            <a:off x="294463" y="1806448"/>
            <a:ext cx="648366" cy="3245104"/>
            <a:chOff x="2030413" y="1806448"/>
            <a:chExt cx="648366" cy="3245104"/>
          </a:xfrm>
        </p:grpSpPr>
        <p:sp>
          <p:nvSpPr>
            <p:cNvPr id="19" name="TextBox 18">
              <a:extLst>
                <a:ext uri="{FF2B5EF4-FFF2-40B4-BE49-F238E27FC236}">
                  <a16:creationId xmlns:a16="http://schemas.microsoft.com/office/drawing/2014/main" id="{C8DC5EF6-81C3-6FDC-374F-24FDF5B74E4F}"/>
                </a:ext>
              </a:extLst>
            </p:cNvPr>
            <p:cNvSpPr txBox="1"/>
            <p:nvPr/>
          </p:nvSpPr>
          <p:spPr>
            <a:xfrm rot="5400000">
              <a:off x="785296" y="3282434"/>
              <a:ext cx="2859565" cy="369332"/>
            </a:xfrm>
            <a:prstGeom prst="rect">
              <a:avLst/>
            </a:prstGeom>
            <a:noFill/>
          </p:spPr>
          <p:txBody>
            <a:bodyPr wrap="none" rtlCol="0">
              <a:spAutoFit/>
            </a:bodyPr>
            <a:lstStyle/>
            <a:p>
              <a:r>
                <a:rPr lang="en-US" dirty="0"/>
                <a:t>Consensus-based Promotion</a:t>
              </a:r>
            </a:p>
          </p:txBody>
        </p:sp>
        <p:sp>
          <p:nvSpPr>
            <p:cNvPr id="21" name="Arrow: Down 20">
              <a:extLst>
                <a:ext uri="{FF2B5EF4-FFF2-40B4-BE49-F238E27FC236}">
                  <a16:creationId xmlns:a16="http://schemas.microsoft.com/office/drawing/2014/main" id="{4BF34142-478E-9B74-531D-7DAD45B1D51A}"/>
                </a:ext>
              </a:extLst>
            </p:cNvPr>
            <p:cNvSpPr/>
            <p:nvPr/>
          </p:nvSpPr>
          <p:spPr>
            <a:xfrm>
              <a:off x="2362993" y="1806448"/>
              <a:ext cx="315786" cy="3245104"/>
            </a:xfrm>
            <a:prstGeom prst="downArrow">
              <a:avLst/>
            </a:prstGeom>
            <a:gradFill flip="none" rotWithShape="1">
              <a:gsLst>
                <a:gs pos="0">
                  <a:schemeClr val="accent2">
                    <a:lumMod val="60000"/>
                    <a:lumOff val="40000"/>
                  </a:schemeClr>
                </a:gs>
                <a:gs pos="35000">
                  <a:schemeClr val="bg2">
                    <a:lumMod val="75000"/>
                  </a:schemeClr>
                </a:gs>
                <a:gs pos="61000">
                  <a:schemeClr val="accent4">
                    <a:lumMod val="20000"/>
                    <a:lumOff val="80000"/>
                  </a:schemeClr>
                </a:gs>
                <a:gs pos="85000">
                  <a:schemeClr val="accent1">
                    <a:lumMod val="60000"/>
                    <a:lumOff val="40000"/>
                  </a:schemeClr>
                </a:gs>
              </a:gsLst>
              <a:lin ang="16200000" scaled="1"/>
              <a:tileRect/>
            </a:gra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33072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rapezoid 4">
            <a:extLst>
              <a:ext uri="{FF2B5EF4-FFF2-40B4-BE49-F238E27FC236}">
                <a16:creationId xmlns:a16="http://schemas.microsoft.com/office/drawing/2014/main" id="{74DF24FE-5007-4763-BE3F-A86B44B2A45E}"/>
              </a:ext>
            </a:extLst>
          </p:cNvPr>
          <p:cNvSpPr/>
          <p:nvPr/>
        </p:nvSpPr>
        <p:spPr>
          <a:xfrm flipV="1">
            <a:off x="4679576" y="4490255"/>
            <a:ext cx="4197726" cy="1028699"/>
          </a:xfrm>
          <a:prstGeom prst="trapezoid">
            <a:avLst>
              <a:gd name="adj" fmla="val 47463"/>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6" name="Trapezoid 5">
            <a:extLst>
              <a:ext uri="{FF2B5EF4-FFF2-40B4-BE49-F238E27FC236}">
                <a16:creationId xmlns:a16="http://schemas.microsoft.com/office/drawing/2014/main" id="{50B2B962-9349-4B5B-8FF3-CF5DDD2DEA35}"/>
              </a:ext>
            </a:extLst>
          </p:cNvPr>
          <p:cNvSpPr/>
          <p:nvPr/>
        </p:nvSpPr>
        <p:spPr>
          <a:xfrm rot="10800000">
            <a:off x="4144957" y="3466353"/>
            <a:ext cx="5264718" cy="1028700"/>
          </a:xfrm>
          <a:prstGeom prst="trapezoid">
            <a:avLst>
              <a:gd name="adj" fmla="val 50926"/>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7" name="Trapezoid 6">
            <a:extLst>
              <a:ext uri="{FF2B5EF4-FFF2-40B4-BE49-F238E27FC236}">
                <a16:creationId xmlns:a16="http://schemas.microsoft.com/office/drawing/2014/main" id="{D5F8BA9C-B816-420E-8BA6-29E06DF95C8C}"/>
              </a:ext>
            </a:extLst>
          </p:cNvPr>
          <p:cNvSpPr/>
          <p:nvPr/>
        </p:nvSpPr>
        <p:spPr>
          <a:xfrm rot="10800000">
            <a:off x="3632197" y="2442449"/>
            <a:ext cx="6264837" cy="1028700"/>
          </a:xfrm>
          <a:prstGeom prst="trapezoid">
            <a:avLst>
              <a:gd name="adj" fmla="val 50926"/>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dirty="0"/>
          </a:p>
        </p:txBody>
      </p:sp>
      <p:sp>
        <p:nvSpPr>
          <p:cNvPr id="8" name="Trapezoid 7">
            <a:extLst>
              <a:ext uri="{FF2B5EF4-FFF2-40B4-BE49-F238E27FC236}">
                <a16:creationId xmlns:a16="http://schemas.microsoft.com/office/drawing/2014/main" id="{58D92A33-8EEC-4B0F-A875-C570D8F758F1}"/>
              </a:ext>
            </a:extLst>
          </p:cNvPr>
          <p:cNvSpPr/>
          <p:nvPr/>
        </p:nvSpPr>
        <p:spPr>
          <a:xfrm rot="10800000">
            <a:off x="3106269" y="1409700"/>
            <a:ext cx="7315201" cy="1028700"/>
          </a:xfrm>
          <a:prstGeom prst="trapezoid">
            <a:avLst>
              <a:gd name="adj" fmla="val 50000"/>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0" name="Rectangle 9">
            <a:extLst>
              <a:ext uri="{FF2B5EF4-FFF2-40B4-BE49-F238E27FC236}">
                <a16:creationId xmlns:a16="http://schemas.microsoft.com/office/drawing/2014/main" id="{B1230B7B-CB86-41C2-8818-A7793453FB67}"/>
              </a:ext>
            </a:extLst>
          </p:cNvPr>
          <p:cNvSpPr/>
          <p:nvPr/>
        </p:nvSpPr>
        <p:spPr>
          <a:xfrm>
            <a:off x="1193800" y="4826000"/>
            <a:ext cx="2120900" cy="3683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FHIR</a:t>
            </a:r>
          </a:p>
        </p:txBody>
      </p:sp>
      <p:sp>
        <p:nvSpPr>
          <p:cNvPr id="11" name="Rectangle 10">
            <a:extLst>
              <a:ext uri="{FF2B5EF4-FFF2-40B4-BE49-F238E27FC236}">
                <a16:creationId xmlns:a16="http://schemas.microsoft.com/office/drawing/2014/main" id="{07191C11-0908-47DE-BA7D-FF6C65FB0B91}"/>
              </a:ext>
            </a:extLst>
          </p:cNvPr>
          <p:cNvSpPr/>
          <p:nvPr/>
        </p:nvSpPr>
        <p:spPr>
          <a:xfrm>
            <a:off x="1193800" y="3797300"/>
            <a:ext cx="2120900" cy="3683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Realm</a:t>
            </a:r>
          </a:p>
        </p:txBody>
      </p:sp>
      <p:sp>
        <p:nvSpPr>
          <p:cNvPr id="12" name="Rectangle 11">
            <a:extLst>
              <a:ext uri="{FF2B5EF4-FFF2-40B4-BE49-F238E27FC236}">
                <a16:creationId xmlns:a16="http://schemas.microsoft.com/office/drawing/2014/main" id="{3E920B8A-C1BD-46CE-9080-20E9DE13D2EC}"/>
              </a:ext>
            </a:extLst>
          </p:cNvPr>
          <p:cNvSpPr/>
          <p:nvPr/>
        </p:nvSpPr>
        <p:spPr>
          <a:xfrm>
            <a:off x="1193800" y="2768600"/>
            <a:ext cx="2120900" cy="3683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dirty="0"/>
              <a:t>Domain</a:t>
            </a:r>
          </a:p>
        </p:txBody>
      </p:sp>
      <p:sp>
        <p:nvSpPr>
          <p:cNvPr id="13" name="Rectangle 12">
            <a:extLst>
              <a:ext uri="{FF2B5EF4-FFF2-40B4-BE49-F238E27FC236}">
                <a16:creationId xmlns:a16="http://schemas.microsoft.com/office/drawing/2014/main" id="{5F0E9B49-D113-473E-AA9D-7B2E8A38E8EF}"/>
              </a:ext>
            </a:extLst>
          </p:cNvPr>
          <p:cNvSpPr/>
          <p:nvPr/>
        </p:nvSpPr>
        <p:spPr>
          <a:xfrm>
            <a:off x="1193800" y="1739900"/>
            <a:ext cx="2120900" cy="3683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Content</a:t>
            </a:r>
          </a:p>
        </p:txBody>
      </p:sp>
      <p:sp>
        <p:nvSpPr>
          <p:cNvPr id="14" name="Arrow: Down 13">
            <a:extLst>
              <a:ext uri="{FF2B5EF4-FFF2-40B4-BE49-F238E27FC236}">
                <a16:creationId xmlns:a16="http://schemas.microsoft.com/office/drawing/2014/main" id="{639D5AAE-8AA3-4833-A148-7B002C90B6CC}"/>
              </a:ext>
            </a:extLst>
          </p:cNvPr>
          <p:cNvSpPr/>
          <p:nvPr/>
        </p:nvSpPr>
        <p:spPr>
          <a:xfrm rot="10800000">
            <a:off x="10250614" y="1739900"/>
            <a:ext cx="315786" cy="3245104"/>
          </a:xfrm>
          <a:prstGeom prst="downArrow">
            <a:avLst/>
          </a:prstGeom>
          <a:gradFill>
            <a:gsLst>
              <a:gs pos="0">
                <a:schemeClr val="accent2">
                  <a:lumMod val="60000"/>
                  <a:lumOff val="40000"/>
                </a:schemeClr>
              </a:gs>
              <a:gs pos="35000">
                <a:schemeClr val="bg2">
                  <a:lumMod val="75000"/>
                </a:schemeClr>
              </a:gs>
              <a:gs pos="61000">
                <a:schemeClr val="accent4">
                  <a:lumMod val="20000"/>
                  <a:lumOff val="80000"/>
                </a:schemeClr>
              </a:gs>
              <a:gs pos="85000">
                <a:schemeClr val="accent1">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1A92138-6F0B-4D0C-B488-D21523198A44}"/>
              </a:ext>
            </a:extLst>
          </p:cNvPr>
          <p:cNvSpPr txBox="1"/>
          <p:nvPr/>
        </p:nvSpPr>
        <p:spPr>
          <a:xfrm rot="16200000">
            <a:off x="9370050" y="3121791"/>
            <a:ext cx="2762038" cy="369332"/>
          </a:xfrm>
          <a:prstGeom prst="rect">
            <a:avLst/>
          </a:prstGeom>
          <a:noFill/>
        </p:spPr>
        <p:txBody>
          <a:bodyPr wrap="none" rtlCol="0">
            <a:spAutoFit/>
          </a:bodyPr>
          <a:lstStyle/>
          <a:p>
            <a:r>
              <a:rPr lang="en-US" dirty="0"/>
              <a:t>Constraint-based Definition</a:t>
            </a:r>
          </a:p>
        </p:txBody>
      </p:sp>
      <p:sp>
        <p:nvSpPr>
          <p:cNvPr id="16" name="Arrow: Down 15">
            <a:extLst>
              <a:ext uri="{FF2B5EF4-FFF2-40B4-BE49-F238E27FC236}">
                <a16:creationId xmlns:a16="http://schemas.microsoft.com/office/drawing/2014/main" id="{FD7F0013-E967-4918-BB1A-6C68139D125F}"/>
              </a:ext>
            </a:extLst>
          </p:cNvPr>
          <p:cNvSpPr/>
          <p:nvPr/>
        </p:nvSpPr>
        <p:spPr>
          <a:xfrm>
            <a:off x="1404883" y="2203238"/>
            <a:ext cx="220717" cy="482600"/>
          </a:xfrm>
          <a:prstGeom prst="downArrow">
            <a:avLst/>
          </a:prstGeom>
          <a:gradFill>
            <a:gsLst>
              <a:gs pos="0">
                <a:schemeClr val="accent1">
                  <a:lumMod val="60000"/>
                  <a:lumOff val="40000"/>
                </a:schemeClr>
              </a:gs>
              <a:gs pos="100000">
                <a:schemeClr val="accent4">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Down 16">
            <a:extLst>
              <a:ext uri="{FF2B5EF4-FFF2-40B4-BE49-F238E27FC236}">
                <a16:creationId xmlns:a16="http://schemas.microsoft.com/office/drawing/2014/main" id="{57BFF4D7-DBF5-49CE-9AAF-D07FBA4A9F1E}"/>
              </a:ext>
            </a:extLst>
          </p:cNvPr>
          <p:cNvSpPr/>
          <p:nvPr/>
        </p:nvSpPr>
        <p:spPr>
          <a:xfrm>
            <a:off x="1404882" y="3238501"/>
            <a:ext cx="220717" cy="482600"/>
          </a:xfrm>
          <a:prstGeom prst="downArrow">
            <a:avLst/>
          </a:prstGeom>
          <a:gradFill>
            <a:gsLst>
              <a:gs pos="0">
                <a:schemeClr val="accent4">
                  <a:lumMod val="60000"/>
                  <a:lumOff val="40000"/>
                </a:schemeClr>
              </a:gs>
              <a:gs pos="100000">
                <a:schemeClr val="accent3">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Down 17">
            <a:extLst>
              <a:ext uri="{FF2B5EF4-FFF2-40B4-BE49-F238E27FC236}">
                <a16:creationId xmlns:a16="http://schemas.microsoft.com/office/drawing/2014/main" id="{3D68A192-3A6E-4946-AA32-A499676C9849}"/>
              </a:ext>
            </a:extLst>
          </p:cNvPr>
          <p:cNvSpPr/>
          <p:nvPr/>
        </p:nvSpPr>
        <p:spPr>
          <a:xfrm>
            <a:off x="1404882" y="4241799"/>
            <a:ext cx="220717" cy="482600"/>
          </a:xfrm>
          <a:prstGeom prst="downArrow">
            <a:avLst/>
          </a:prstGeom>
          <a:gradFill>
            <a:gsLst>
              <a:gs pos="0">
                <a:schemeClr val="accent3">
                  <a:lumMod val="60000"/>
                  <a:lumOff val="40000"/>
                </a:schemeClr>
              </a:gs>
              <a:gs pos="100000">
                <a:schemeClr val="accent2">
                  <a:lumMod val="60000"/>
                  <a:lumOff val="40000"/>
                </a:schemeClr>
              </a:gs>
            </a:gsLst>
            <a:lin ang="5400000" scaled="1"/>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2BE96E4D-4470-44D8-93A2-731D8FE9B845}"/>
              </a:ext>
            </a:extLst>
          </p:cNvPr>
          <p:cNvSpPr txBox="1"/>
          <p:nvPr/>
        </p:nvSpPr>
        <p:spPr>
          <a:xfrm rot="5400000">
            <a:off x="-572017" y="3295134"/>
            <a:ext cx="2859565" cy="369332"/>
          </a:xfrm>
          <a:prstGeom prst="rect">
            <a:avLst/>
          </a:prstGeom>
          <a:noFill/>
        </p:spPr>
        <p:txBody>
          <a:bodyPr wrap="none" rtlCol="0">
            <a:spAutoFit/>
          </a:bodyPr>
          <a:lstStyle/>
          <a:p>
            <a:r>
              <a:rPr lang="en-US" dirty="0"/>
              <a:t>Consensus-based Promotion</a:t>
            </a:r>
          </a:p>
        </p:txBody>
      </p:sp>
      <p:sp>
        <p:nvSpPr>
          <p:cNvPr id="20" name="TextBox 19">
            <a:extLst>
              <a:ext uri="{FF2B5EF4-FFF2-40B4-BE49-F238E27FC236}">
                <a16:creationId xmlns:a16="http://schemas.microsoft.com/office/drawing/2014/main" id="{7BF904E7-B6D7-4EE0-BB67-E2905293C276}"/>
              </a:ext>
            </a:extLst>
          </p:cNvPr>
          <p:cNvSpPr txBox="1"/>
          <p:nvPr/>
        </p:nvSpPr>
        <p:spPr>
          <a:xfrm>
            <a:off x="188663" y="201721"/>
            <a:ext cx="3307316" cy="369332"/>
          </a:xfrm>
          <a:prstGeom prst="rect">
            <a:avLst/>
          </a:prstGeom>
          <a:noFill/>
        </p:spPr>
        <p:txBody>
          <a:bodyPr wrap="none" rtlCol="0">
            <a:spAutoFit/>
          </a:bodyPr>
          <a:lstStyle/>
          <a:p>
            <a:r>
              <a:rPr lang="en-US" dirty="0"/>
              <a:t>Data Model Standards Landscape</a:t>
            </a:r>
          </a:p>
        </p:txBody>
      </p:sp>
      <p:pic>
        <p:nvPicPr>
          <p:cNvPr id="2" name="Picture 1">
            <a:extLst>
              <a:ext uri="{FF2B5EF4-FFF2-40B4-BE49-F238E27FC236}">
                <a16:creationId xmlns:a16="http://schemas.microsoft.com/office/drawing/2014/main" id="{68493320-5E20-49CB-B3BE-E79B4F053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563030"/>
            <a:ext cx="1128965" cy="211681"/>
          </a:xfrm>
          <a:prstGeom prst="rect">
            <a:avLst/>
          </a:prstGeom>
        </p:spPr>
      </p:pic>
      <p:sp>
        <p:nvSpPr>
          <p:cNvPr id="4" name="Flowchart: Document 3">
            <a:extLst>
              <a:ext uri="{FF2B5EF4-FFF2-40B4-BE49-F238E27FC236}">
                <a16:creationId xmlns:a16="http://schemas.microsoft.com/office/drawing/2014/main" id="{1763FC49-6543-4CC6-832F-E65A5047FB69}"/>
              </a:ext>
            </a:extLst>
          </p:cNvPr>
          <p:cNvSpPr/>
          <p:nvPr/>
        </p:nvSpPr>
        <p:spPr>
          <a:xfrm>
            <a:off x="4907810" y="3598377"/>
            <a:ext cx="914400" cy="735751"/>
          </a:xfrm>
          <a:prstGeom prst="flowChartDocumen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US Core</a:t>
            </a:r>
          </a:p>
        </p:txBody>
      </p:sp>
      <p:sp>
        <p:nvSpPr>
          <p:cNvPr id="41" name="Flowchart: Document 40">
            <a:extLst>
              <a:ext uri="{FF2B5EF4-FFF2-40B4-BE49-F238E27FC236}">
                <a16:creationId xmlns:a16="http://schemas.microsoft.com/office/drawing/2014/main" id="{0F73F181-1263-42B5-B3E0-3B25FEB31899}"/>
              </a:ext>
            </a:extLst>
          </p:cNvPr>
          <p:cNvSpPr/>
          <p:nvPr/>
        </p:nvSpPr>
        <p:spPr>
          <a:xfrm>
            <a:off x="7855544" y="3632077"/>
            <a:ext cx="914400" cy="735751"/>
          </a:xfrm>
          <a:prstGeom prst="flowChartDocumen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AU Core</a:t>
            </a:r>
          </a:p>
        </p:txBody>
      </p:sp>
      <p:sp>
        <p:nvSpPr>
          <p:cNvPr id="42" name="Flowchart: Document 41">
            <a:extLst>
              <a:ext uri="{FF2B5EF4-FFF2-40B4-BE49-F238E27FC236}">
                <a16:creationId xmlns:a16="http://schemas.microsoft.com/office/drawing/2014/main" id="{5952EB38-C2A7-4DDC-ACAF-F9D8EF451E56}"/>
              </a:ext>
            </a:extLst>
          </p:cNvPr>
          <p:cNvSpPr/>
          <p:nvPr/>
        </p:nvSpPr>
        <p:spPr>
          <a:xfrm>
            <a:off x="6423647" y="3612827"/>
            <a:ext cx="914400" cy="735751"/>
          </a:xfrm>
          <a:prstGeom prst="flowChartDocumen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IPS</a:t>
            </a:r>
          </a:p>
        </p:txBody>
      </p:sp>
      <p:sp>
        <p:nvSpPr>
          <p:cNvPr id="43" name="Flowchart: Document 42">
            <a:extLst>
              <a:ext uri="{FF2B5EF4-FFF2-40B4-BE49-F238E27FC236}">
                <a16:creationId xmlns:a16="http://schemas.microsoft.com/office/drawing/2014/main" id="{CC7DDF1D-14C8-4A4F-AF99-DEE3FE8DF313}"/>
              </a:ext>
            </a:extLst>
          </p:cNvPr>
          <p:cNvSpPr/>
          <p:nvPr/>
        </p:nvSpPr>
        <p:spPr>
          <a:xfrm>
            <a:off x="3903550" y="2593942"/>
            <a:ext cx="746535"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QI Core</a:t>
            </a:r>
          </a:p>
        </p:txBody>
      </p:sp>
      <p:sp>
        <p:nvSpPr>
          <p:cNvPr id="44" name="Flowchart: Document 43">
            <a:extLst>
              <a:ext uri="{FF2B5EF4-FFF2-40B4-BE49-F238E27FC236}">
                <a16:creationId xmlns:a16="http://schemas.microsoft.com/office/drawing/2014/main" id="{1D52070E-AF61-4BEB-B673-2E49353CDB3F}"/>
              </a:ext>
            </a:extLst>
          </p:cNvPr>
          <p:cNvSpPr/>
          <p:nvPr/>
        </p:nvSpPr>
        <p:spPr>
          <a:xfrm>
            <a:off x="4724526" y="2598263"/>
            <a:ext cx="746535"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ODH</a:t>
            </a:r>
          </a:p>
        </p:txBody>
      </p:sp>
      <p:sp>
        <p:nvSpPr>
          <p:cNvPr id="45" name="Flowchart: Document 44">
            <a:extLst>
              <a:ext uri="{FF2B5EF4-FFF2-40B4-BE49-F238E27FC236}">
                <a16:creationId xmlns:a16="http://schemas.microsoft.com/office/drawing/2014/main" id="{4C956F13-2860-4FBC-9ACC-5C29751AC4B4}"/>
              </a:ext>
            </a:extLst>
          </p:cNvPr>
          <p:cNvSpPr/>
          <p:nvPr/>
        </p:nvSpPr>
        <p:spPr>
          <a:xfrm>
            <a:off x="5545502" y="2592348"/>
            <a:ext cx="746535"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SDOH</a:t>
            </a:r>
          </a:p>
        </p:txBody>
      </p:sp>
      <p:sp>
        <p:nvSpPr>
          <p:cNvPr id="46" name="Flowchart: Document 45">
            <a:extLst>
              <a:ext uri="{FF2B5EF4-FFF2-40B4-BE49-F238E27FC236}">
                <a16:creationId xmlns:a16="http://schemas.microsoft.com/office/drawing/2014/main" id="{6C4A675D-4119-4222-8CDC-1F5F91AAF391}"/>
              </a:ext>
            </a:extLst>
          </p:cNvPr>
          <p:cNvSpPr/>
          <p:nvPr/>
        </p:nvSpPr>
        <p:spPr>
          <a:xfrm>
            <a:off x="6385292" y="2598263"/>
            <a:ext cx="959628"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rPr>
              <a:t>mCODE</a:t>
            </a:r>
            <a:endParaRPr lang="en-US" dirty="0">
              <a:solidFill>
                <a:schemeClr val="tx1"/>
              </a:solidFill>
            </a:endParaRPr>
          </a:p>
        </p:txBody>
      </p:sp>
      <p:sp>
        <p:nvSpPr>
          <p:cNvPr id="47" name="Flowchart: Document 46">
            <a:extLst>
              <a:ext uri="{FF2B5EF4-FFF2-40B4-BE49-F238E27FC236}">
                <a16:creationId xmlns:a16="http://schemas.microsoft.com/office/drawing/2014/main" id="{FC65FEF8-DA39-456A-A880-75247E3D8875}"/>
              </a:ext>
            </a:extLst>
          </p:cNvPr>
          <p:cNvSpPr/>
          <p:nvPr/>
        </p:nvSpPr>
        <p:spPr>
          <a:xfrm>
            <a:off x="7448452" y="2603375"/>
            <a:ext cx="821740"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HIV</a:t>
            </a:r>
          </a:p>
        </p:txBody>
      </p:sp>
      <p:sp>
        <p:nvSpPr>
          <p:cNvPr id="48" name="Flowchart: Document 47">
            <a:extLst>
              <a:ext uri="{FF2B5EF4-FFF2-40B4-BE49-F238E27FC236}">
                <a16:creationId xmlns:a16="http://schemas.microsoft.com/office/drawing/2014/main" id="{E2D2F4C6-B937-450F-AA23-2DB719D8902F}"/>
              </a:ext>
            </a:extLst>
          </p:cNvPr>
          <p:cNvSpPr/>
          <p:nvPr/>
        </p:nvSpPr>
        <p:spPr>
          <a:xfrm>
            <a:off x="8397803" y="2593942"/>
            <a:ext cx="924508" cy="735751"/>
          </a:xfrm>
          <a:prstGeom prst="flowChartDocumen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Cancer</a:t>
            </a:r>
          </a:p>
        </p:txBody>
      </p:sp>
      <p:sp>
        <p:nvSpPr>
          <p:cNvPr id="49" name="Flowchart: Document 48">
            <a:extLst>
              <a:ext uri="{FF2B5EF4-FFF2-40B4-BE49-F238E27FC236}">
                <a16:creationId xmlns:a16="http://schemas.microsoft.com/office/drawing/2014/main" id="{7911BF25-C43C-40D9-843D-B763468C479C}"/>
              </a:ext>
            </a:extLst>
          </p:cNvPr>
          <p:cNvSpPr/>
          <p:nvPr/>
        </p:nvSpPr>
        <p:spPr>
          <a:xfrm>
            <a:off x="3668280" y="1556173"/>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CMS </a:t>
            </a:r>
            <a:r>
              <a:rPr lang="en-US" dirty="0" err="1">
                <a:solidFill>
                  <a:schemeClr val="tx1"/>
                </a:solidFill>
              </a:rPr>
              <a:t>dQMs</a:t>
            </a:r>
            <a:endParaRPr lang="en-US" dirty="0">
              <a:solidFill>
                <a:schemeClr val="tx1"/>
              </a:solidFill>
            </a:endParaRPr>
          </a:p>
        </p:txBody>
      </p:sp>
      <p:sp>
        <p:nvSpPr>
          <p:cNvPr id="50" name="Flowchart: Document 49">
            <a:extLst>
              <a:ext uri="{FF2B5EF4-FFF2-40B4-BE49-F238E27FC236}">
                <a16:creationId xmlns:a16="http://schemas.microsoft.com/office/drawing/2014/main" id="{E9C0147C-FFAD-414F-A828-3ED85F742E31}"/>
              </a:ext>
            </a:extLst>
          </p:cNvPr>
          <p:cNvSpPr/>
          <p:nvPr/>
        </p:nvSpPr>
        <p:spPr>
          <a:xfrm>
            <a:off x="4534542" y="1562620"/>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HEDIS</a:t>
            </a:r>
          </a:p>
        </p:txBody>
      </p:sp>
      <p:sp>
        <p:nvSpPr>
          <p:cNvPr id="51" name="Flowchart: Document 50">
            <a:extLst>
              <a:ext uri="{FF2B5EF4-FFF2-40B4-BE49-F238E27FC236}">
                <a16:creationId xmlns:a16="http://schemas.microsoft.com/office/drawing/2014/main" id="{EAC8DA7F-0DDC-40AD-8A0A-D75063C3C414}"/>
              </a:ext>
            </a:extLst>
          </p:cNvPr>
          <p:cNvSpPr/>
          <p:nvPr/>
        </p:nvSpPr>
        <p:spPr>
          <a:xfrm>
            <a:off x="5437602" y="1556172"/>
            <a:ext cx="8544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Opioid CDS</a:t>
            </a:r>
          </a:p>
        </p:txBody>
      </p:sp>
      <p:sp>
        <p:nvSpPr>
          <p:cNvPr id="52" name="Flowchart: Document 51">
            <a:extLst>
              <a:ext uri="{FF2B5EF4-FFF2-40B4-BE49-F238E27FC236}">
                <a16:creationId xmlns:a16="http://schemas.microsoft.com/office/drawing/2014/main" id="{C7E2D121-D155-44B7-A8BC-701AC8FE017E}"/>
              </a:ext>
            </a:extLst>
          </p:cNvPr>
          <p:cNvSpPr/>
          <p:nvPr/>
        </p:nvSpPr>
        <p:spPr>
          <a:xfrm>
            <a:off x="6444965" y="1550568"/>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ANC</a:t>
            </a:r>
          </a:p>
        </p:txBody>
      </p:sp>
      <p:sp>
        <p:nvSpPr>
          <p:cNvPr id="53" name="Flowchart: Document 52">
            <a:extLst>
              <a:ext uri="{FF2B5EF4-FFF2-40B4-BE49-F238E27FC236}">
                <a16:creationId xmlns:a16="http://schemas.microsoft.com/office/drawing/2014/main" id="{F67961F3-CBE4-4502-BC32-3DF87E9978B1}"/>
              </a:ext>
            </a:extLst>
          </p:cNvPr>
          <p:cNvSpPr/>
          <p:nvPr/>
        </p:nvSpPr>
        <p:spPr>
          <a:xfrm>
            <a:off x="7365780" y="1550568"/>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FP</a:t>
            </a:r>
          </a:p>
        </p:txBody>
      </p:sp>
      <p:sp>
        <p:nvSpPr>
          <p:cNvPr id="54" name="Flowchart: Document 53">
            <a:extLst>
              <a:ext uri="{FF2B5EF4-FFF2-40B4-BE49-F238E27FC236}">
                <a16:creationId xmlns:a16="http://schemas.microsoft.com/office/drawing/2014/main" id="{31C53779-5854-4C31-9B6E-B30A04F4D479}"/>
              </a:ext>
            </a:extLst>
          </p:cNvPr>
          <p:cNvSpPr/>
          <p:nvPr/>
        </p:nvSpPr>
        <p:spPr>
          <a:xfrm>
            <a:off x="8246505" y="1542036"/>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STI</a:t>
            </a:r>
          </a:p>
        </p:txBody>
      </p:sp>
      <p:sp>
        <p:nvSpPr>
          <p:cNvPr id="55" name="Flowchart: Document 54">
            <a:extLst>
              <a:ext uri="{FF2B5EF4-FFF2-40B4-BE49-F238E27FC236}">
                <a16:creationId xmlns:a16="http://schemas.microsoft.com/office/drawing/2014/main" id="{4F3EF42B-4B98-4CE4-A4C9-FD3ABB516093}"/>
              </a:ext>
            </a:extLst>
          </p:cNvPr>
          <p:cNvSpPr/>
          <p:nvPr/>
        </p:nvSpPr>
        <p:spPr>
          <a:xfrm>
            <a:off x="9139713" y="1548598"/>
            <a:ext cx="746535" cy="735751"/>
          </a:xfrm>
          <a:prstGeom prst="flowChartDocumen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CHF</a:t>
            </a:r>
          </a:p>
        </p:txBody>
      </p:sp>
      <p:sp>
        <p:nvSpPr>
          <p:cNvPr id="56" name="Flowchart: Document 55">
            <a:extLst>
              <a:ext uri="{FF2B5EF4-FFF2-40B4-BE49-F238E27FC236}">
                <a16:creationId xmlns:a16="http://schemas.microsoft.com/office/drawing/2014/main" id="{F4C60DC2-34BE-4CD7-B4CD-3A613F28E2DC}"/>
              </a:ext>
            </a:extLst>
          </p:cNvPr>
          <p:cNvSpPr/>
          <p:nvPr/>
        </p:nvSpPr>
        <p:spPr>
          <a:xfrm>
            <a:off x="6394246" y="4639128"/>
            <a:ext cx="914400" cy="735751"/>
          </a:xfrm>
          <a:prstGeom prst="flowChartDocumen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FHIR</a:t>
            </a:r>
          </a:p>
        </p:txBody>
      </p:sp>
    </p:spTree>
    <p:extLst>
      <p:ext uri="{BB962C8B-B14F-4D97-AF65-F5344CB8AC3E}">
        <p14:creationId xmlns:p14="http://schemas.microsoft.com/office/powerpoint/2010/main" val="27816282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14CCF440-EC19-41BC-8E3D-F67DD5F71045}"/>
              </a:ext>
            </a:extLst>
          </p:cNvPr>
          <p:cNvSpPr/>
          <p:nvPr/>
        </p:nvSpPr>
        <p:spPr>
          <a:xfrm>
            <a:off x="665891" y="2783497"/>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eCQI</a:t>
            </a:r>
            <a:r>
              <a:rPr lang="en-US" dirty="0"/>
              <a:t> Resource Center (website)</a:t>
            </a:r>
          </a:p>
        </p:txBody>
      </p:sp>
      <p:sp>
        <p:nvSpPr>
          <p:cNvPr id="4" name="Rectangle: Rounded Corners 3">
            <a:extLst>
              <a:ext uri="{FF2B5EF4-FFF2-40B4-BE49-F238E27FC236}">
                <a16:creationId xmlns:a16="http://schemas.microsoft.com/office/drawing/2014/main" id="{56535764-2DC5-480A-99B0-2E7F5B68EAB7}"/>
              </a:ext>
            </a:extLst>
          </p:cNvPr>
          <p:cNvSpPr/>
          <p:nvPr/>
        </p:nvSpPr>
        <p:spPr>
          <a:xfrm>
            <a:off x="6283892" y="2763141"/>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eCQI</a:t>
            </a:r>
            <a:r>
              <a:rPr lang="en-US" dirty="0"/>
              <a:t> Measure Repository</a:t>
            </a:r>
          </a:p>
          <a:p>
            <a:pPr algn="ctr"/>
            <a:r>
              <a:rPr lang="en-US" dirty="0"/>
              <a:t>(Measure API)</a:t>
            </a:r>
          </a:p>
        </p:txBody>
      </p:sp>
      <p:sp>
        <p:nvSpPr>
          <p:cNvPr id="5" name="Partial Circle 4">
            <a:extLst>
              <a:ext uri="{FF2B5EF4-FFF2-40B4-BE49-F238E27FC236}">
                <a16:creationId xmlns:a16="http://schemas.microsoft.com/office/drawing/2014/main" id="{9ACF1150-A000-4E20-A005-84928ABFF1F5}"/>
              </a:ext>
            </a:extLst>
          </p:cNvPr>
          <p:cNvSpPr/>
          <p:nvPr/>
        </p:nvSpPr>
        <p:spPr>
          <a:xfrm rot="10800000">
            <a:off x="3091763" y="5261341"/>
            <a:ext cx="1114816" cy="1114817"/>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Oval 5">
            <a:extLst>
              <a:ext uri="{FF2B5EF4-FFF2-40B4-BE49-F238E27FC236}">
                <a16:creationId xmlns:a16="http://schemas.microsoft.com/office/drawing/2014/main" id="{E4E7BD5B-844A-4F9F-8F92-9CC0A5F5D123}"/>
              </a:ext>
            </a:extLst>
          </p:cNvPr>
          <p:cNvSpPr/>
          <p:nvPr/>
        </p:nvSpPr>
        <p:spPr>
          <a:xfrm>
            <a:off x="3419527" y="4779089"/>
            <a:ext cx="459288" cy="48851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be 6">
            <a:extLst>
              <a:ext uri="{FF2B5EF4-FFF2-40B4-BE49-F238E27FC236}">
                <a16:creationId xmlns:a16="http://schemas.microsoft.com/office/drawing/2014/main" id="{10192D4B-919E-442E-9B4E-76D57555BDA3}"/>
              </a:ext>
            </a:extLst>
          </p:cNvPr>
          <p:cNvSpPr/>
          <p:nvPr/>
        </p:nvSpPr>
        <p:spPr>
          <a:xfrm>
            <a:off x="8653856" y="4724109"/>
            <a:ext cx="630477" cy="1114818"/>
          </a:xfrm>
          <a:prstGeom prst="cub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ylinder 7">
            <a:extLst>
              <a:ext uri="{FF2B5EF4-FFF2-40B4-BE49-F238E27FC236}">
                <a16:creationId xmlns:a16="http://schemas.microsoft.com/office/drawing/2014/main" id="{0639AE24-9C42-4E4F-89C0-4B3B772DF8B8}"/>
              </a:ext>
            </a:extLst>
          </p:cNvPr>
          <p:cNvSpPr/>
          <p:nvPr/>
        </p:nvSpPr>
        <p:spPr>
          <a:xfrm>
            <a:off x="6987437" y="990123"/>
            <a:ext cx="1014608" cy="92692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F5F594B-62FE-47D2-A3D9-1991072B56D5}"/>
              </a:ext>
            </a:extLst>
          </p:cNvPr>
          <p:cNvSpPr txBox="1"/>
          <p:nvPr/>
        </p:nvSpPr>
        <p:spPr>
          <a:xfrm>
            <a:off x="8154147" y="375197"/>
            <a:ext cx="1808380" cy="369332"/>
          </a:xfrm>
          <a:prstGeom prst="rect">
            <a:avLst/>
          </a:prstGeom>
          <a:noFill/>
        </p:spPr>
        <p:txBody>
          <a:bodyPr wrap="none" rtlCol="0">
            <a:spAutoFit/>
          </a:bodyPr>
          <a:lstStyle/>
          <a:p>
            <a:r>
              <a:rPr lang="en-US" dirty="0"/>
              <a:t>Repository stores</a:t>
            </a:r>
          </a:p>
        </p:txBody>
      </p:sp>
      <p:sp>
        <p:nvSpPr>
          <p:cNvPr id="10" name="Partial Circle 9">
            <a:extLst>
              <a:ext uri="{FF2B5EF4-FFF2-40B4-BE49-F238E27FC236}">
                <a16:creationId xmlns:a16="http://schemas.microsoft.com/office/drawing/2014/main" id="{86071900-DAC0-41C3-B431-9B28C5A9E9A0}"/>
              </a:ext>
            </a:extLst>
          </p:cNvPr>
          <p:cNvSpPr/>
          <p:nvPr/>
        </p:nvSpPr>
        <p:spPr>
          <a:xfrm rot="10800000">
            <a:off x="315238" y="914399"/>
            <a:ext cx="674318" cy="663879"/>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Oval 10">
            <a:extLst>
              <a:ext uri="{FF2B5EF4-FFF2-40B4-BE49-F238E27FC236}">
                <a16:creationId xmlns:a16="http://schemas.microsoft.com/office/drawing/2014/main" id="{2253041A-D404-4475-B6E9-02DBD72E3AAD}"/>
              </a:ext>
            </a:extLst>
          </p:cNvPr>
          <p:cNvSpPr/>
          <p:nvPr/>
        </p:nvSpPr>
        <p:spPr>
          <a:xfrm>
            <a:off x="513491" y="598025"/>
            <a:ext cx="277809" cy="290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artial Circle 11">
            <a:extLst>
              <a:ext uri="{FF2B5EF4-FFF2-40B4-BE49-F238E27FC236}">
                <a16:creationId xmlns:a16="http://schemas.microsoft.com/office/drawing/2014/main" id="{CCB02780-57BA-4B16-8C93-20AB8C39AC09}"/>
              </a:ext>
            </a:extLst>
          </p:cNvPr>
          <p:cNvSpPr/>
          <p:nvPr/>
        </p:nvSpPr>
        <p:spPr>
          <a:xfrm rot="10800000">
            <a:off x="467638" y="1066799"/>
            <a:ext cx="674318" cy="663879"/>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Oval 12">
            <a:extLst>
              <a:ext uri="{FF2B5EF4-FFF2-40B4-BE49-F238E27FC236}">
                <a16:creationId xmlns:a16="http://schemas.microsoft.com/office/drawing/2014/main" id="{676DA889-B931-4FBC-8080-14A8E922393A}"/>
              </a:ext>
            </a:extLst>
          </p:cNvPr>
          <p:cNvSpPr/>
          <p:nvPr/>
        </p:nvSpPr>
        <p:spPr>
          <a:xfrm>
            <a:off x="665891" y="750425"/>
            <a:ext cx="277809" cy="290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tial Circle 13">
            <a:extLst>
              <a:ext uri="{FF2B5EF4-FFF2-40B4-BE49-F238E27FC236}">
                <a16:creationId xmlns:a16="http://schemas.microsoft.com/office/drawing/2014/main" id="{722E9D5F-0074-4B00-99BC-3F8C8345E1DB}"/>
              </a:ext>
            </a:extLst>
          </p:cNvPr>
          <p:cNvSpPr/>
          <p:nvPr/>
        </p:nvSpPr>
        <p:spPr>
          <a:xfrm rot="10800000">
            <a:off x="620038" y="1219199"/>
            <a:ext cx="674318" cy="663879"/>
          </a:xfrm>
          <a:prstGeom prst="pie">
            <a:avLst>
              <a:gd name="adj1" fmla="val 0"/>
              <a:gd name="adj2" fmla="val 1080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Oval 14">
            <a:extLst>
              <a:ext uri="{FF2B5EF4-FFF2-40B4-BE49-F238E27FC236}">
                <a16:creationId xmlns:a16="http://schemas.microsoft.com/office/drawing/2014/main" id="{6B02D60B-5AA2-4930-B9B9-F8563CEA1127}"/>
              </a:ext>
            </a:extLst>
          </p:cNvPr>
          <p:cNvSpPr/>
          <p:nvPr/>
        </p:nvSpPr>
        <p:spPr>
          <a:xfrm>
            <a:off x="818291" y="902825"/>
            <a:ext cx="277809" cy="2909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E6CFA7A-8658-48A2-AC8E-4FC569166F3B}"/>
              </a:ext>
            </a:extLst>
          </p:cNvPr>
          <p:cNvSpPr txBox="1"/>
          <p:nvPr/>
        </p:nvSpPr>
        <p:spPr>
          <a:xfrm>
            <a:off x="181586" y="1712313"/>
            <a:ext cx="1273409" cy="646331"/>
          </a:xfrm>
          <a:prstGeom prst="rect">
            <a:avLst/>
          </a:prstGeom>
          <a:noFill/>
        </p:spPr>
        <p:txBody>
          <a:bodyPr wrap="square" rtlCol="0">
            <a:spAutoFit/>
          </a:bodyPr>
          <a:lstStyle/>
          <a:p>
            <a:pPr algn="ctr"/>
            <a:r>
              <a:rPr lang="en-US" dirty="0"/>
              <a:t>Authors </a:t>
            </a:r>
          </a:p>
          <a:p>
            <a:pPr algn="ctr"/>
            <a:r>
              <a:rPr lang="en-US" dirty="0"/>
              <a:t>&amp; Stewards</a:t>
            </a:r>
          </a:p>
        </p:txBody>
      </p:sp>
      <p:sp>
        <p:nvSpPr>
          <p:cNvPr id="17" name="Arrow: Right 16">
            <a:extLst>
              <a:ext uri="{FF2B5EF4-FFF2-40B4-BE49-F238E27FC236}">
                <a16:creationId xmlns:a16="http://schemas.microsoft.com/office/drawing/2014/main" id="{24C24AB4-F997-4973-85D7-0F839ADA64F7}"/>
              </a:ext>
            </a:extLst>
          </p:cNvPr>
          <p:cNvSpPr/>
          <p:nvPr/>
        </p:nvSpPr>
        <p:spPr>
          <a:xfrm>
            <a:off x="1565300" y="801096"/>
            <a:ext cx="1066341" cy="2266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Multidocument 17">
            <a:extLst>
              <a:ext uri="{FF2B5EF4-FFF2-40B4-BE49-F238E27FC236}">
                <a16:creationId xmlns:a16="http://schemas.microsoft.com/office/drawing/2014/main" id="{E6BBD87B-6B69-4B80-AE0A-B4E214FD4EDE}"/>
              </a:ext>
            </a:extLst>
          </p:cNvPr>
          <p:cNvSpPr/>
          <p:nvPr/>
        </p:nvSpPr>
        <p:spPr>
          <a:xfrm>
            <a:off x="2781102" y="481842"/>
            <a:ext cx="708498" cy="814192"/>
          </a:xfrm>
          <a:prstGeom prst="flowChartMultidocumen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3D86F3E3-79A5-4779-9B25-3427806A2205}"/>
              </a:ext>
            </a:extLst>
          </p:cNvPr>
          <p:cNvSpPr/>
          <p:nvPr/>
        </p:nvSpPr>
        <p:spPr>
          <a:xfrm>
            <a:off x="3509447" y="2783496"/>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Value Set Authority Center (website)</a:t>
            </a:r>
          </a:p>
        </p:txBody>
      </p:sp>
      <p:sp>
        <p:nvSpPr>
          <p:cNvPr id="20" name="Rectangle: Rounded Corners 19">
            <a:extLst>
              <a:ext uri="{FF2B5EF4-FFF2-40B4-BE49-F238E27FC236}">
                <a16:creationId xmlns:a16="http://schemas.microsoft.com/office/drawing/2014/main" id="{056917B5-1770-4D51-91D6-A0E609F719E2}"/>
              </a:ext>
            </a:extLst>
          </p:cNvPr>
          <p:cNvSpPr/>
          <p:nvPr/>
        </p:nvSpPr>
        <p:spPr>
          <a:xfrm>
            <a:off x="9058337" y="2763142"/>
            <a:ext cx="2421698" cy="12432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CTS FHIR Service (Terminology API)</a:t>
            </a:r>
          </a:p>
        </p:txBody>
      </p:sp>
      <p:sp>
        <p:nvSpPr>
          <p:cNvPr id="21" name="TextBox 20">
            <a:extLst>
              <a:ext uri="{FF2B5EF4-FFF2-40B4-BE49-F238E27FC236}">
                <a16:creationId xmlns:a16="http://schemas.microsoft.com/office/drawing/2014/main" id="{BC19DFCF-1359-48FD-A646-E50D6FC39D74}"/>
              </a:ext>
            </a:extLst>
          </p:cNvPr>
          <p:cNvSpPr txBox="1"/>
          <p:nvPr/>
        </p:nvSpPr>
        <p:spPr>
          <a:xfrm>
            <a:off x="2645638" y="5881840"/>
            <a:ext cx="2007066" cy="923330"/>
          </a:xfrm>
          <a:prstGeom prst="rect">
            <a:avLst/>
          </a:prstGeom>
          <a:noFill/>
        </p:spPr>
        <p:txBody>
          <a:bodyPr wrap="square" rtlCol="0">
            <a:spAutoFit/>
          </a:bodyPr>
          <a:lstStyle/>
          <a:p>
            <a:pPr algn="ctr"/>
            <a:r>
              <a:rPr lang="en-US" dirty="0"/>
              <a:t>Implementers (Website Users, manual download)</a:t>
            </a:r>
          </a:p>
        </p:txBody>
      </p:sp>
      <p:sp>
        <p:nvSpPr>
          <p:cNvPr id="22" name="TextBox 21">
            <a:extLst>
              <a:ext uri="{FF2B5EF4-FFF2-40B4-BE49-F238E27FC236}">
                <a16:creationId xmlns:a16="http://schemas.microsoft.com/office/drawing/2014/main" id="{04341107-16C8-45E6-B2B4-394B57C9A024}"/>
              </a:ext>
            </a:extLst>
          </p:cNvPr>
          <p:cNvSpPr txBox="1"/>
          <p:nvPr/>
        </p:nvSpPr>
        <p:spPr>
          <a:xfrm>
            <a:off x="7561761" y="5886364"/>
            <a:ext cx="2993152" cy="923330"/>
          </a:xfrm>
          <a:prstGeom prst="rect">
            <a:avLst/>
          </a:prstGeom>
          <a:noFill/>
        </p:spPr>
        <p:txBody>
          <a:bodyPr wrap="square" rtlCol="0">
            <a:spAutoFit/>
          </a:bodyPr>
          <a:lstStyle/>
          <a:p>
            <a:pPr algn="ctr"/>
            <a:r>
              <a:rPr lang="en-US" dirty="0"/>
              <a:t>Implementing Systems (API access, automated ingestion/processing)</a:t>
            </a:r>
          </a:p>
        </p:txBody>
      </p:sp>
      <p:sp>
        <p:nvSpPr>
          <p:cNvPr id="23" name="Cylinder 22">
            <a:extLst>
              <a:ext uri="{FF2B5EF4-FFF2-40B4-BE49-F238E27FC236}">
                <a16:creationId xmlns:a16="http://schemas.microsoft.com/office/drawing/2014/main" id="{95DA1771-4FC0-48ED-ADEB-1095212FF0A6}"/>
              </a:ext>
            </a:extLst>
          </p:cNvPr>
          <p:cNvSpPr/>
          <p:nvPr/>
        </p:nvSpPr>
        <p:spPr>
          <a:xfrm>
            <a:off x="9761882" y="990123"/>
            <a:ext cx="1014608" cy="926926"/>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FE211B0D-C3E5-448C-AA4E-430A0A13AA9D}"/>
              </a:ext>
            </a:extLst>
          </p:cNvPr>
          <p:cNvSpPr/>
          <p:nvPr/>
        </p:nvSpPr>
        <p:spPr>
          <a:xfrm rot="5400000">
            <a:off x="7219804" y="2246255"/>
            <a:ext cx="549873" cy="187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Arrow: Right 24">
            <a:extLst>
              <a:ext uri="{FF2B5EF4-FFF2-40B4-BE49-F238E27FC236}">
                <a16:creationId xmlns:a16="http://schemas.microsoft.com/office/drawing/2014/main" id="{03990F75-7BDA-403C-B783-C9BE49CA0F96}"/>
              </a:ext>
            </a:extLst>
          </p:cNvPr>
          <p:cNvSpPr/>
          <p:nvPr/>
        </p:nvSpPr>
        <p:spPr>
          <a:xfrm rot="5400000">
            <a:off x="9994250" y="2264804"/>
            <a:ext cx="549873" cy="187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1FBFFA2-4A99-408B-9A2C-56330A4D7AB9}"/>
              </a:ext>
            </a:extLst>
          </p:cNvPr>
          <p:cNvSpPr/>
          <p:nvPr/>
        </p:nvSpPr>
        <p:spPr>
          <a:xfrm>
            <a:off x="4679219" y="710554"/>
            <a:ext cx="1375705" cy="67545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Content processing</a:t>
            </a:r>
          </a:p>
        </p:txBody>
      </p:sp>
      <p:sp>
        <p:nvSpPr>
          <p:cNvPr id="27" name="Arrow: Right 26">
            <a:extLst>
              <a:ext uri="{FF2B5EF4-FFF2-40B4-BE49-F238E27FC236}">
                <a16:creationId xmlns:a16="http://schemas.microsoft.com/office/drawing/2014/main" id="{3877546D-F46B-4095-87DC-492C8A43CA0B}"/>
              </a:ext>
            </a:extLst>
          </p:cNvPr>
          <p:cNvSpPr/>
          <p:nvPr/>
        </p:nvSpPr>
        <p:spPr>
          <a:xfrm>
            <a:off x="6149467" y="1193738"/>
            <a:ext cx="731116" cy="19226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Arrow: Right 27">
            <a:extLst>
              <a:ext uri="{FF2B5EF4-FFF2-40B4-BE49-F238E27FC236}">
                <a16:creationId xmlns:a16="http://schemas.microsoft.com/office/drawing/2014/main" id="{9DD72F89-44FE-4ED4-B68F-FBD1468F56B6}"/>
              </a:ext>
            </a:extLst>
          </p:cNvPr>
          <p:cNvSpPr/>
          <p:nvPr/>
        </p:nvSpPr>
        <p:spPr>
          <a:xfrm>
            <a:off x="6137078" y="710554"/>
            <a:ext cx="3624804" cy="2038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Arrow: Right 28">
            <a:extLst>
              <a:ext uri="{FF2B5EF4-FFF2-40B4-BE49-F238E27FC236}">
                <a16:creationId xmlns:a16="http://schemas.microsoft.com/office/drawing/2014/main" id="{0CB08AE9-708A-402C-8024-3DE396CD8200}"/>
              </a:ext>
            </a:extLst>
          </p:cNvPr>
          <p:cNvSpPr/>
          <p:nvPr/>
        </p:nvSpPr>
        <p:spPr>
          <a:xfrm>
            <a:off x="3682981" y="775635"/>
            <a:ext cx="806262" cy="25206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Arrow: Right 29">
            <a:extLst>
              <a:ext uri="{FF2B5EF4-FFF2-40B4-BE49-F238E27FC236}">
                <a16:creationId xmlns:a16="http://schemas.microsoft.com/office/drawing/2014/main" id="{7ABCB6A0-3C49-4DA7-B901-62B1135E691F}"/>
              </a:ext>
            </a:extLst>
          </p:cNvPr>
          <p:cNvSpPr/>
          <p:nvPr/>
        </p:nvSpPr>
        <p:spPr>
          <a:xfrm rot="5400000">
            <a:off x="4757804" y="1999141"/>
            <a:ext cx="1081199" cy="18768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Arrow: Right 30">
            <a:extLst>
              <a:ext uri="{FF2B5EF4-FFF2-40B4-BE49-F238E27FC236}">
                <a16:creationId xmlns:a16="http://schemas.microsoft.com/office/drawing/2014/main" id="{A0D1C02D-2A45-4F6D-81E0-DD851953574E}"/>
              </a:ext>
            </a:extLst>
          </p:cNvPr>
          <p:cNvSpPr/>
          <p:nvPr/>
        </p:nvSpPr>
        <p:spPr>
          <a:xfrm rot="9033215">
            <a:off x="2596754" y="1991993"/>
            <a:ext cx="2106402" cy="19645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BB13740C-4A3B-4B09-84CD-E3FE7A880482}"/>
              </a:ext>
            </a:extLst>
          </p:cNvPr>
          <p:cNvPicPr>
            <a:picLocks noChangeAspect="1"/>
          </p:cNvPicPr>
          <p:nvPr/>
        </p:nvPicPr>
        <p:blipFill>
          <a:blip r:embed="rId2"/>
          <a:stretch>
            <a:fillRect/>
          </a:stretch>
        </p:blipFill>
        <p:spPr>
          <a:xfrm>
            <a:off x="7256582" y="4154459"/>
            <a:ext cx="476316" cy="752580"/>
          </a:xfrm>
          <a:prstGeom prst="rect">
            <a:avLst/>
          </a:prstGeom>
        </p:spPr>
      </p:pic>
      <p:pic>
        <p:nvPicPr>
          <p:cNvPr id="36" name="Picture 35">
            <a:extLst>
              <a:ext uri="{FF2B5EF4-FFF2-40B4-BE49-F238E27FC236}">
                <a16:creationId xmlns:a16="http://schemas.microsoft.com/office/drawing/2014/main" id="{A82544D9-F252-468D-AC74-1C95B05AD5EA}"/>
              </a:ext>
            </a:extLst>
          </p:cNvPr>
          <p:cNvPicPr>
            <a:picLocks noChangeAspect="1"/>
          </p:cNvPicPr>
          <p:nvPr/>
        </p:nvPicPr>
        <p:blipFill>
          <a:blip r:embed="rId2"/>
          <a:stretch>
            <a:fillRect/>
          </a:stretch>
        </p:blipFill>
        <p:spPr>
          <a:xfrm>
            <a:off x="10078597" y="4135912"/>
            <a:ext cx="476316" cy="752580"/>
          </a:xfrm>
          <a:prstGeom prst="rect">
            <a:avLst/>
          </a:prstGeom>
        </p:spPr>
      </p:pic>
      <p:pic>
        <p:nvPicPr>
          <p:cNvPr id="38" name="Picture 37">
            <a:extLst>
              <a:ext uri="{FF2B5EF4-FFF2-40B4-BE49-F238E27FC236}">
                <a16:creationId xmlns:a16="http://schemas.microsoft.com/office/drawing/2014/main" id="{7F4552D8-8F1E-44E3-A0B9-8B009ECEEC08}"/>
              </a:ext>
            </a:extLst>
          </p:cNvPr>
          <p:cNvPicPr>
            <a:picLocks noChangeAspect="1"/>
          </p:cNvPicPr>
          <p:nvPr/>
        </p:nvPicPr>
        <p:blipFill>
          <a:blip r:embed="rId2"/>
          <a:stretch>
            <a:fillRect/>
          </a:stretch>
        </p:blipFill>
        <p:spPr>
          <a:xfrm>
            <a:off x="5857842" y="1398739"/>
            <a:ext cx="476316" cy="752580"/>
          </a:xfrm>
          <a:prstGeom prst="rect">
            <a:avLst/>
          </a:prstGeom>
        </p:spPr>
      </p:pic>
      <p:pic>
        <p:nvPicPr>
          <p:cNvPr id="40" name="Picture 39">
            <a:extLst>
              <a:ext uri="{FF2B5EF4-FFF2-40B4-BE49-F238E27FC236}">
                <a16:creationId xmlns:a16="http://schemas.microsoft.com/office/drawing/2014/main" id="{9D08E01D-2A71-4C14-AA87-63989F17E554}"/>
              </a:ext>
            </a:extLst>
          </p:cNvPr>
          <p:cNvPicPr>
            <a:picLocks noChangeAspect="1"/>
          </p:cNvPicPr>
          <p:nvPr/>
        </p:nvPicPr>
        <p:blipFill>
          <a:blip r:embed="rId2"/>
          <a:stretch>
            <a:fillRect/>
          </a:stretch>
        </p:blipFill>
        <p:spPr>
          <a:xfrm>
            <a:off x="2213564" y="1289872"/>
            <a:ext cx="476316" cy="752580"/>
          </a:xfrm>
          <a:prstGeom prst="rect">
            <a:avLst/>
          </a:prstGeom>
        </p:spPr>
      </p:pic>
    </p:spTree>
    <p:extLst>
      <p:ext uri="{BB962C8B-B14F-4D97-AF65-F5344CB8AC3E}">
        <p14:creationId xmlns:p14="http://schemas.microsoft.com/office/powerpoint/2010/main" val="1395642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2A6829-9FF0-4549-884C-A9C4AADC52C8}"/>
              </a:ext>
            </a:extLst>
          </p:cNvPr>
          <p:cNvPicPr>
            <a:picLocks noChangeAspect="1"/>
          </p:cNvPicPr>
          <p:nvPr/>
        </p:nvPicPr>
        <p:blipFill>
          <a:blip r:embed="rId2"/>
          <a:stretch>
            <a:fillRect/>
          </a:stretch>
        </p:blipFill>
        <p:spPr>
          <a:xfrm>
            <a:off x="202839" y="1949719"/>
            <a:ext cx="1409999" cy="846001"/>
          </a:xfrm>
          <a:prstGeom prst="rect">
            <a:avLst/>
          </a:prstGeom>
        </p:spPr>
      </p:pic>
      <p:pic>
        <p:nvPicPr>
          <p:cNvPr id="3" name="Picture 2">
            <a:extLst>
              <a:ext uri="{FF2B5EF4-FFF2-40B4-BE49-F238E27FC236}">
                <a16:creationId xmlns:a16="http://schemas.microsoft.com/office/drawing/2014/main" id="{C2EAB909-BB09-410B-BFCD-B41EB7996C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429" y="3685319"/>
            <a:ext cx="1764127" cy="424956"/>
          </a:xfrm>
          <a:prstGeom prst="rect">
            <a:avLst/>
          </a:prstGeom>
        </p:spPr>
      </p:pic>
    </p:spTree>
    <p:extLst>
      <p:ext uri="{BB962C8B-B14F-4D97-AF65-F5344CB8AC3E}">
        <p14:creationId xmlns:p14="http://schemas.microsoft.com/office/powerpoint/2010/main" val="39895742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F74CF8-AEC7-4737-9105-B12F5275BF27}"/>
              </a:ext>
            </a:extLst>
          </p:cNvPr>
          <p:cNvSpPr/>
          <p:nvPr/>
        </p:nvSpPr>
        <p:spPr>
          <a:xfrm>
            <a:off x="771895" y="107768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5" name="Flowchart: Magnetic Disk 4">
            <a:extLst>
              <a:ext uri="{FF2B5EF4-FFF2-40B4-BE49-F238E27FC236}">
                <a16:creationId xmlns:a16="http://schemas.microsoft.com/office/drawing/2014/main" id="{75CCC6D5-8381-4DC5-9CDB-18335771257D}"/>
              </a:ext>
            </a:extLst>
          </p:cNvPr>
          <p:cNvSpPr/>
          <p:nvPr/>
        </p:nvSpPr>
        <p:spPr>
          <a:xfrm>
            <a:off x="2546966" y="2490848"/>
            <a:ext cx="1294410" cy="93815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Data Repository</a:t>
            </a:r>
          </a:p>
        </p:txBody>
      </p:sp>
      <p:cxnSp>
        <p:nvCxnSpPr>
          <p:cNvPr id="8" name="Straight Arrow Connector 7">
            <a:extLst>
              <a:ext uri="{FF2B5EF4-FFF2-40B4-BE49-F238E27FC236}">
                <a16:creationId xmlns:a16="http://schemas.microsoft.com/office/drawing/2014/main" id="{38085DD3-ED0C-4025-BA28-345F7FB453E5}"/>
              </a:ext>
            </a:extLst>
          </p:cNvPr>
          <p:cNvCxnSpPr/>
          <p:nvPr/>
        </p:nvCxnSpPr>
        <p:spPr>
          <a:xfrm>
            <a:off x="2553195" y="1564574"/>
            <a:ext cx="129441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0" name="Connector: Elbow 9">
            <a:extLst>
              <a:ext uri="{FF2B5EF4-FFF2-40B4-BE49-F238E27FC236}">
                <a16:creationId xmlns:a16="http://schemas.microsoft.com/office/drawing/2014/main" id="{92ACBDF6-BC46-4718-8FE7-E757BA1CF01A}"/>
              </a:ext>
            </a:extLst>
          </p:cNvPr>
          <p:cNvCxnSpPr>
            <a:cxnSpLocks/>
          </p:cNvCxnSpPr>
          <p:nvPr/>
        </p:nvCxnSpPr>
        <p:spPr>
          <a:xfrm>
            <a:off x="1541811" y="2262249"/>
            <a:ext cx="928257" cy="697675"/>
          </a:xfrm>
          <a:prstGeom prst="bentConnector3">
            <a:avLst>
              <a:gd name="adj1" fmla="val 1386"/>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6" name="Connector: Elbow 15">
            <a:extLst>
              <a:ext uri="{FF2B5EF4-FFF2-40B4-BE49-F238E27FC236}">
                <a16:creationId xmlns:a16="http://schemas.microsoft.com/office/drawing/2014/main" id="{A9645C31-4EFB-476E-8917-95F2EAD406A2}"/>
              </a:ext>
            </a:extLst>
          </p:cNvPr>
          <p:cNvCxnSpPr>
            <a:cxnSpLocks/>
          </p:cNvCxnSpPr>
          <p:nvPr/>
        </p:nvCxnSpPr>
        <p:spPr>
          <a:xfrm rot="10800000" flipV="1">
            <a:off x="3930731" y="2262248"/>
            <a:ext cx="882734" cy="697675"/>
          </a:xfrm>
          <a:prstGeom prst="bentConnector3">
            <a:avLst>
              <a:gd name="adj1" fmla="val -1121"/>
            </a:avLst>
          </a:prstGeom>
          <a:ln>
            <a:tailEnd type="triangle"/>
          </a:ln>
        </p:spPr>
        <p:style>
          <a:lnRef idx="3">
            <a:schemeClr val="accent1"/>
          </a:lnRef>
          <a:fillRef idx="0">
            <a:schemeClr val="accent1"/>
          </a:fillRef>
          <a:effectRef idx="2">
            <a:schemeClr val="accent1"/>
          </a:effectRef>
          <a:fontRef idx="minor">
            <a:schemeClr val="tx1"/>
          </a:fontRef>
        </p:style>
      </p:cxnSp>
      <p:sp>
        <p:nvSpPr>
          <p:cNvPr id="19" name="TextBox 18">
            <a:extLst>
              <a:ext uri="{FF2B5EF4-FFF2-40B4-BE49-F238E27FC236}">
                <a16:creationId xmlns:a16="http://schemas.microsoft.com/office/drawing/2014/main" id="{0F19E353-2690-4151-9AE9-4F3B010FA72D}"/>
              </a:ext>
            </a:extLst>
          </p:cNvPr>
          <p:cNvSpPr txBox="1"/>
          <p:nvPr/>
        </p:nvSpPr>
        <p:spPr>
          <a:xfrm>
            <a:off x="2710265" y="1077686"/>
            <a:ext cx="980268" cy="461665"/>
          </a:xfrm>
          <a:prstGeom prst="rect">
            <a:avLst/>
          </a:prstGeom>
          <a:noFill/>
        </p:spPr>
        <p:txBody>
          <a:bodyPr wrap="none" rtlCol="0">
            <a:spAutoFit/>
          </a:bodyPr>
          <a:lstStyle/>
          <a:p>
            <a:pPr algn="ctr"/>
            <a:r>
              <a:rPr lang="en-US" sz="1200" dirty="0"/>
              <a:t>Reporting</a:t>
            </a:r>
          </a:p>
          <a:p>
            <a:pPr algn="ctr"/>
            <a:r>
              <a:rPr lang="en-US" sz="1200" dirty="0"/>
              <a:t>Specification</a:t>
            </a:r>
          </a:p>
        </p:txBody>
      </p:sp>
      <p:sp>
        <p:nvSpPr>
          <p:cNvPr id="20" name="TextBox 19">
            <a:extLst>
              <a:ext uri="{FF2B5EF4-FFF2-40B4-BE49-F238E27FC236}">
                <a16:creationId xmlns:a16="http://schemas.microsoft.com/office/drawing/2014/main" id="{3A88872E-E809-4149-9D3B-ED933725BAE1}"/>
              </a:ext>
            </a:extLst>
          </p:cNvPr>
          <p:cNvSpPr txBox="1"/>
          <p:nvPr/>
        </p:nvSpPr>
        <p:spPr>
          <a:xfrm>
            <a:off x="4902820" y="2496036"/>
            <a:ext cx="669287" cy="276999"/>
          </a:xfrm>
          <a:prstGeom prst="rect">
            <a:avLst/>
          </a:prstGeom>
          <a:noFill/>
        </p:spPr>
        <p:txBody>
          <a:bodyPr wrap="none" rtlCol="0">
            <a:spAutoFit/>
          </a:bodyPr>
          <a:lstStyle/>
          <a:p>
            <a:pPr algn="ctr"/>
            <a:r>
              <a:rPr lang="en-US" sz="1200" dirty="0"/>
              <a:t>Reports</a:t>
            </a:r>
          </a:p>
        </p:txBody>
      </p:sp>
      <p:sp>
        <p:nvSpPr>
          <p:cNvPr id="21" name="TextBox 20">
            <a:extLst>
              <a:ext uri="{FF2B5EF4-FFF2-40B4-BE49-F238E27FC236}">
                <a16:creationId xmlns:a16="http://schemas.microsoft.com/office/drawing/2014/main" id="{EA273432-46B1-41F8-96D6-212E9BC4E770}"/>
              </a:ext>
            </a:extLst>
          </p:cNvPr>
          <p:cNvSpPr txBox="1"/>
          <p:nvPr/>
        </p:nvSpPr>
        <p:spPr>
          <a:xfrm>
            <a:off x="484049" y="2380253"/>
            <a:ext cx="1089144" cy="461665"/>
          </a:xfrm>
          <a:prstGeom prst="rect">
            <a:avLst/>
          </a:prstGeom>
          <a:noFill/>
        </p:spPr>
        <p:txBody>
          <a:bodyPr wrap="none" rtlCol="0">
            <a:spAutoFit/>
          </a:bodyPr>
          <a:lstStyle/>
          <a:p>
            <a:pPr algn="ctr"/>
            <a:r>
              <a:rPr lang="en-US" sz="1200" dirty="0"/>
              <a:t>Analytics on </a:t>
            </a:r>
          </a:p>
          <a:p>
            <a:pPr algn="ctr"/>
            <a:r>
              <a:rPr lang="en-US" sz="1200" dirty="0"/>
              <a:t>Reported Data</a:t>
            </a:r>
          </a:p>
        </p:txBody>
      </p:sp>
      <p:sp>
        <p:nvSpPr>
          <p:cNvPr id="26" name="Rectangle 25">
            <a:extLst>
              <a:ext uri="{FF2B5EF4-FFF2-40B4-BE49-F238E27FC236}">
                <a16:creationId xmlns:a16="http://schemas.microsoft.com/office/drawing/2014/main" id="{23884BE4-F644-4D2F-86C0-D7CBF1BC0648}"/>
              </a:ext>
            </a:extLst>
          </p:cNvPr>
          <p:cNvSpPr/>
          <p:nvPr/>
        </p:nvSpPr>
        <p:spPr>
          <a:xfrm>
            <a:off x="6723315" y="1047425"/>
            <a:ext cx="1539834" cy="973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Electronic Health Record</a:t>
            </a:r>
          </a:p>
        </p:txBody>
      </p:sp>
      <p:sp>
        <p:nvSpPr>
          <p:cNvPr id="27" name="Rectangle 26">
            <a:extLst>
              <a:ext uri="{FF2B5EF4-FFF2-40B4-BE49-F238E27FC236}">
                <a16:creationId xmlns:a16="http://schemas.microsoft.com/office/drawing/2014/main" id="{CE5EFCD0-9020-4A64-96B0-26306411ADAD}"/>
              </a:ext>
            </a:extLst>
          </p:cNvPr>
          <p:cNvSpPr/>
          <p:nvPr/>
        </p:nvSpPr>
        <p:spPr>
          <a:xfrm>
            <a:off x="4089070" y="1074145"/>
            <a:ext cx="1539834" cy="9737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Reporting Application</a:t>
            </a:r>
          </a:p>
        </p:txBody>
      </p:sp>
      <p:cxnSp>
        <p:nvCxnSpPr>
          <p:cNvPr id="31" name="Straight Arrow Connector 30">
            <a:extLst>
              <a:ext uri="{FF2B5EF4-FFF2-40B4-BE49-F238E27FC236}">
                <a16:creationId xmlns:a16="http://schemas.microsoft.com/office/drawing/2014/main" id="{A293DA8D-8BEE-4008-A559-F2CCAF513C0A}"/>
              </a:ext>
            </a:extLst>
          </p:cNvPr>
          <p:cNvCxnSpPr>
            <a:cxnSpLocks/>
          </p:cNvCxnSpPr>
          <p:nvPr/>
        </p:nvCxnSpPr>
        <p:spPr>
          <a:xfrm flipH="1">
            <a:off x="5713367" y="1725936"/>
            <a:ext cx="90486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36" name="Picture 35">
            <a:extLst>
              <a:ext uri="{FF2B5EF4-FFF2-40B4-BE49-F238E27FC236}">
                <a16:creationId xmlns:a16="http://schemas.microsoft.com/office/drawing/2014/main" id="{CB586B07-9A30-4A5B-A623-5D7CD1EB643A}"/>
              </a:ext>
            </a:extLst>
          </p:cNvPr>
          <p:cNvPicPr>
            <a:picLocks noChangeAspect="1"/>
          </p:cNvPicPr>
          <p:nvPr/>
        </p:nvPicPr>
        <p:blipFill>
          <a:blip r:embed="rId2"/>
          <a:stretch>
            <a:fillRect/>
          </a:stretch>
        </p:blipFill>
        <p:spPr>
          <a:xfrm>
            <a:off x="6027441" y="986435"/>
            <a:ext cx="292193" cy="461665"/>
          </a:xfrm>
          <a:prstGeom prst="rect">
            <a:avLst/>
          </a:prstGeom>
        </p:spPr>
      </p:pic>
      <p:cxnSp>
        <p:nvCxnSpPr>
          <p:cNvPr id="38" name="Straight Arrow Connector 37">
            <a:extLst>
              <a:ext uri="{FF2B5EF4-FFF2-40B4-BE49-F238E27FC236}">
                <a16:creationId xmlns:a16="http://schemas.microsoft.com/office/drawing/2014/main" id="{7D227288-20FC-42C8-BFC1-7A7EDAFD197B}"/>
              </a:ext>
            </a:extLst>
          </p:cNvPr>
          <p:cNvCxnSpPr>
            <a:cxnSpLocks/>
          </p:cNvCxnSpPr>
          <p:nvPr/>
        </p:nvCxnSpPr>
        <p:spPr>
          <a:xfrm>
            <a:off x="5718478" y="1480514"/>
            <a:ext cx="89464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Rectangle 43">
            <a:extLst>
              <a:ext uri="{FF2B5EF4-FFF2-40B4-BE49-F238E27FC236}">
                <a16:creationId xmlns:a16="http://schemas.microsoft.com/office/drawing/2014/main" id="{890ADACB-4250-493C-BE67-5775B714259E}"/>
              </a:ext>
            </a:extLst>
          </p:cNvPr>
          <p:cNvSpPr/>
          <p:nvPr/>
        </p:nvSpPr>
        <p:spPr>
          <a:xfrm>
            <a:off x="3667787" y="634111"/>
            <a:ext cx="4833682" cy="178294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
        <p:nvSpPr>
          <p:cNvPr id="45" name="TextBox 44">
            <a:extLst>
              <a:ext uri="{FF2B5EF4-FFF2-40B4-BE49-F238E27FC236}">
                <a16:creationId xmlns:a16="http://schemas.microsoft.com/office/drawing/2014/main" id="{1C49076B-5B97-4C3A-8EC9-2A5204B48D9C}"/>
              </a:ext>
            </a:extLst>
          </p:cNvPr>
          <p:cNvSpPr txBox="1"/>
          <p:nvPr/>
        </p:nvSpPr>
        <p:spPr>
          <a:xfrm>
            <a:off x="3706654" y="656607"/>
            <a:ext cx="1642757" cy="338554"/>
          </a:xfrm>
          <a:prstGeom prst="rect">
            <a:avLst/>
          </a:prstGeom>
          <a:noFill/>
        </p:spPr>
        <p:txBody>
          <a:bodyPr wrap="none" rtlCol="0">
            <a:spAutoFit/>
          </a:bodyPr>
          <a:lstStyle/>
          <a:p>
            <a:r>
              <a:rPr lang="en-US" sz="1600" dirty="0"/>
              <a:t>EHR Environment</a:t>
            </a:r>
          </a:p>
        </p:txBody>
      </p:sp>
      <p:sp>
        <p:nvSpPr>
          <p:cNvPr id="22" name="Flowchart: Document 21">
            <a:extLst>
              <a:ext uri="{FF2B5EF4-FFF2-40B4-BE49-F238E27FC236}">
                <a16:creationId xmlns:a16="http://schemas.microsoft.com/office/drawing/2014/main" id="{D4DBB98C-1484-49EC-97D0-37954FC27B81}"/>
              </a:ext>
            </a:extLst>
          </p:cNvPr>
          <p:cNvSpPr/>
          <p:nvPr/>
        </p:nvSpPr>
        <p:spPr>
          <a:xfrm>
            <a:off x="2942451" y="1693590"/>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1115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7DC5E0B-23B0-7DB8-4B60-BD2DB5638FC6}"/>
              </a:ext>
            </a:extLst>
          </p:cNvPr>
          <p:cNvSpPr txBox="1"/>
          <p:nvPr/>
        </p:nvSpPr>
        <p:spPr>
          <a:xfrm>
            <a:off x="5684437" y="3794004"/>
            <a:ext cx="608372"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62AB193-B6A8-586C-8C1B-C537E5C7D651}"/>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Tree>
    <p:extLst>
      <p:ext uri="{BB962C8B-B14F-4D97-AF65-F5344CB8AC3E}">
        <p14:creationId xmlns:p14="http://schemas.microsoft.com/office/powerpoint/2010/main" val="600422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80AB254-30B8-3E51-2314-209F392C4D68}"/>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8" name="TextBox 7">
            <a:extLst>
              <a:ext uri="{FF2B5EF4-FFF2-40B4-BE49-F238E27FC236}">
                <a16:creationId xmlns:a16="http://schemas.microsoft.com/office/drawing/2014/main" id="{47DC5E0B-23B0-7DB8-4B60-BD2DB5638FC6}"/>
              </a:ext>
            </a:extLst>
          </p:cNvPr>
          <p:cNvSpPr txBox="1"/>
          <p:nvPr/>
        </p:nvSpPr>
        <p:spPr>
          <a:xfrm>
            <a:off x="5684436" y="3794004"/>
            <a:ext cx="608373"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 name="TextBox 1">
            <a:extLst>
              <a:ext uri="{FF2B5EF4-FFF2-40B4-BE49-F238E27FC236}">
                <a16:creationId xmlns:a16="http://schemas.microsoft.com/office/drawing/2014/main" id="{B3FA844E-79E5-95E4-B217-E2E3FF4EEB2C}"/>
              </a:ext>
            </a:extLst>
          </p:cNvPr>
          <p:cNvSpPr txBox="1"/>
          <p:nvPr/>
        </p:nvSpPr>
        <p:spPr>
          <a:xfrm>
            <a:off x="7281088" y="1485562"/>
            <a:ext cx="611065" cy="369332"/>
          </a:xfrm>
          <a:prstGeom prst="rect">
            <a:avLst/>
          </a:prstGeom>
          <a:noFill/>
        </p:spPr>
        <p:txBody>
          <a:bodyPr wrap="none" rtlCol="0">
            <a:spAutoFit/>
          </a:bodyPr>
          <a:lstStyle/>
          <a:p>
            <a:r>
              <a:rPr lang="en-US" dirty="0"/>
              <a:t>CMS</a:t>
            </a:r>
          </a:p>
        </p:txBody>
      </p:sp>
      <p:sp>
        <p:nvSpPr>
          <p:cNvPr id="10" name="TextBox 9">
            <a:extLst>
              <a:ext uri="{FF2B5EF4-FFF2-40B4-BE49-F238E27FC236}">
                <a16:creationId xmlns:a16="http://schemas.microsoft.com/office/drawing/2014/main" id="{9EF40D12-DEED-782C-413F-7716094D97BA}"/>
              </a:ext>
            </a:extLst>
          </p:cNvPr>
          <p:cNvSpPr txBox="1"/>
          <p:nvPr/>
        </p:nvSpPr>
        <p:spPr>
          <a:xfrm>
            <a:off x="6870962" y="2967169"/>
            <a:ext cx="787395" cy="369332"/>
          </a:xfrm>
          <a:prstGeom prst="rect">
            <a:avLst/>
          </a:prstGeom>
          <a:noFill/>
        </p:spPr>
        <p:txBody>
          <a:bodyPr wrap="square" rtlCol="0">
            <a:spAutoFit/>
          </a:bodyPr>
          <a:lstStyle/>
          <a:p>
            <a:r>
              <a:rPr lang="en-US" dirty="0"/>
              <a:t>HQMF</a:t>
            </a:r>
          </a:p>
        </p:txBody>
      </p:sp>
      <p:cxnSp>
        <p:nvCxnSpPr>
          <p:cNvPr id="14" name="Straight Arrow Connector 13">
            <a:extLst>
              <a:ext uri="{FF2B5EF4-FFF2-40B4-BE49-F238E27FC236}">
                <a16:creationId xmlns:a16="http://schemas.microsoft.com/office/drawing/2014/main" id="{7F7D420E-473C-9445-5808-27B3159BC3EA}"/>
              </a:ext>
            </a:extLst>
          </p:cNvPr>
          <p:cNvCxnSpPr>
            <a:cxnSpLocks/>
            <a:stCxn id="2" idx="1"/>
            <a:endCxn id="7" idx="3"/>
          </p:cNvCxnSpPr>
          <p:nvPr/>
        </p:nvCxnSpPr>
        <p:spPr>
          <a:xfrm flipH="1">
            <a:off x="6768281" y="1670228"/>
            <a:ext cx="512807" cy="1846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86A645A3-C484-2A7E-1F79-8A3DB80A2289}"/>
              </a:ext>
            </a:extLst>
          </p:cNvPr>
          <p:cNvCxnSpPr>
            <a:cxnSpLocks/>
            <a:stCxn id="10" idx="1"/>
            <a:endCxn id="6" idx="3"/>
          </p:cNvCxnSpPr>
          <p:nvPr/>
        </p:nvCxnSpPr>
        <p:spPr>
          <a:xfrm flipH="1">
            <a:off x="5356176" y="3151835"/>
            <a:ext cx="1514786" cy="11392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96E2C6D9-061B-9B01-0F0F-F36515C342D1}"/>
              </a:ext>
            </a:extLst>
          </p:cNvPr>
          <p:cNvSpPr txBox="1"/>
          <p:nvPr/>
        </p:nvSpPr>
        <p:spPr>
          <a:xfrm>
            <a:off x="6800689" y="3537102"/>
            <a:ext cx="737510" cy="369332"/>
          </a:xfrm>
          <a:prstGeom prst="rect">
            <a:avLst/>
          </a:prstGeom>
          <a:noFill/>
        </p:spPr>
        <p:txBody>
          <a:bodyPr wrap="none" rtlCol="0">
            <a:spAutoFit/>
          </a:bodyPr>
          <a:lstStyle/>
          <a:p>
            <a:r>
              <a:rPr lang="en-US" dirty="0"/>
              <a:t>QRDA</a:t>
            </a:r>
          </a:p>
        </p:txBody>
      </p:sp>
      <p:cxnSp>
        <p:nvCxnSpPr>
          <p:cNvPr id="23" name="Straight Arrow Connector 22">
            <a:extLst>
              <a:ext uri="{FF2B5EF4-FFF2-40B4-BE49-F238E27FC236}">
                <a16:creationId xmlns:a16="http://schemas.microsoft.com/office/drawing/2014/main" id="{2DD6A23D-D179-57E6-1AA2-9D1D5B2841E4}"/>
              </a:ext>
            </a:extLst>
          </p:cNvPr>
          <p:cNvCxnSpPr>
            <a:cxnSpLocks/>
            <a:stCxn id="22" idx="1"/>
            <a:endCxn id="9" idx="3"/>
          </p:cNvCxnSpPr>
          <p:nvPr/>
        </p:nvCxnSpPr>
        <p:spPr>
          <a:xfrm flipH="1">
            <a:off x="6170710" y="3721768"/>
            <a:ext cx="629979" cy="5377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73901EE-CC26-5AD0-0A44-4B4F8BC86C2B}"/>
              </a:ext>
            </a:extLst>
          </p:cNvPr>
          <p:cNvSpPr txBox="1"/>
          <p:nvPr/>
        </p:nvSpPr>
        <p:spPr>
          <a:xfrm>
            <a:off x="5868528" y="5595200"/>
            <a:ext cx="3057757" cy="646331"/>
          </a:xfrm>
          <a:prstGeom prst="rect">
            <a:avLst/>
          </a:prstGeom>
          <a:noFill/>
        </p:spPr>
        <p:txBody>
          <a:bodyPr wrap="square" rtlCol="0">
            <a:spAutoFit/>
          </a:bodyPr>
          <a:lstStyle/>
          <a:p>
            <a:r>
              <a:rPr lang="en-US" dirty="0"/>
              <a:t>Typically a push interaction, using file transfer technology</a:t>
            </a:r>
          </a:p>
        </p:txBody>
      </p:sp>
      <p:cxnSp>
        <p:nvCxnSpPr>
          <p:cNvPr id="30" name="Straight Arrow Connector 29">
            <a:extLst>
              <a:ext uri="{FF2B5EF4-FFF2-40B4-BE49-F238E27FC236}">
                <a16:creationId xmlns:a16="http://schemas.microsoft.com/office/drawing/2014/main" id="{07220FCB-3C87-82BF-7547-E5206BF768F7}"/>
              </a:ext>
            </a:extLst>
          </p:cNvPr>
          <p:cNvCxnSpPr>
            <a:cxnSpLocks/>
          </p:cNvCxnSpPr>
          <p:nvPr/>
        </p:nvCxnSpPr>
        <p:spPr>
          <a:xfrm flipH="1" flipV="1">
            <a:off x="5944063" y="4799821"/>
            <a:ext cx="241209" cy="801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TextBox 33">
            <a:extLst>
              <a:ext uri="{FF2B5EF4-FFF2-40B4-BE49-F238E27FC236}">
                <a16:creationId xmlns:a16="http://schemas.microsoft.com/office/drawing/2014/main" id="{D8025EF3-797F-3BC0-0DB5-F73161F7B425}"/>
              </a:ext>
            </a:extLst>
          </p:cNvPr>
          <p:cNvSpPr txBox="1"/>
          <p:nvPr/>
        </p:nvSpPr>
        <p:spPr>
          <a:xfrm>
            <a:off x="2542969" y="5410534"/>
            <a:ext cx="2685479" cy="369332"/>
          </a:xfrm>
          <a:prstGeom prst="rect">
            <a:avLst/>
          </a:prstGeom>
          <a:noFill/>
        </p:spPr>
        <p:txBody>
          <a:bodyPr wrap="none" rtlCol="0">
            <a:spAutoFit/>
          </a:bodyPr>
          <a:lstStyle/>
          <a:p>
            <a:r>
              <a:rPr lang="en-US" dirty="0"/>
              <a:t>Vendor/Reporting Systems</a:t>
            </a:r>
          </a:p>
        </p:txBody>
      </p:sp>
      <p:cxnSp>
        <p:nvCxnSpPr>
          <p:cNvPr id="35" name="Straight Arrow Connector 34">
            <a:extLst>
              <a:ext uri="{FF2B5EF4-FFF2-40B4-BE49-F238E27FC236}">
                <a16:creationId xmlns:a16="http://schemas.microsoft.com/office/drawing/2014/main" id="{3EB7B384-E590-3F8F-11E6-72DF27C16AB8}"/>
              </a:ext>
            </a:extLst>
          </p:cNvPr>
          <p:cNvCxnSpPr>
            <a:cxnSpLocks/>
            <a:stCxn id="34" idx="0"/>
            <a:endCxn id="3" idx="2"/>
          </p:cNvCxnSpPr>
          <p:nvPr/>
        </p:nvCxnSpPr>
        <p:spPr>
          <a:xfrm flipV="1">
            <a:off x="3885709" y="4902926"/>
            <a:ext cx="572825" cy="5076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9" name="TextBox 38">
            <a:extLst>
              <a:ext uri="{FF2B5EF4-FFF2-40B4-BE49-F238E27FC236}">
                <a16:creationId xmlns:a16="http://schemas.microsoft.com/office/drawing/2014/main" id="{A8DDB702-1D82-1C4C-D59E-CD11A324AA7B}"/>
              </a:ext>
            </a:extLst>
          </p:cNvPr>
          <p:cNvSpPr txBox="1"/>
          <p:nvPr/>
        </p:nvSpPr>
        <p:spPr>
          <a:xfrm>
            <a:off x="1308556" y="488124"/>
            <a:ext cx="2228815" cy="369332"/>
          </a:xfrm>
          <a:prstGeom prst="rect">
            <a:avLst/>
          </a:prstGeom>
          <a:noFill/>
        </p:spPr>
        <p:txBody>
          <a:bodyPr wrap="none" rtlCol="0">
            <a:spAutoFit/>
          </a:bodyPr>
          <a:lstStyle/>
          <a:p>
            <a:r>
              <a:rPr lang="en-US" dirty="0" err="1"/>
              <a:t>eCQI</a:t>
            </a:r>
            <a:r>
              <a:rPr lang="en-US" dirty="0"/>
              <a:t> Resource Center</a:t>
            </a:r>
          </a:p>
        </p:txBody>
      </p:sp>
      <p:cxnSp>
        <p:nvCxnSpPr>
          <p:cNvPr id="40" name="Straight Arrow Connector 39">
            <a:extLst>
              <a:ext uri="{FF2B5EF4-FFF2-40B4-BE49-F238E27FC236}">
                <a16:creationId xmlns:a16="http://schemas.microsoft.com/office/drawing/2014/main" id="{E1641B34-0B89-2C3A-053E-B5680705085C}"/>
              </a:ext>
            </a:extLst>
          </p:cNvPr>
          <p:cNvCxnSpPr>
            <a:cxnSpLocks/>
            <a:stCxn id="39" idx="2"/>
            <a:endCxn id="12" idx="1"/>
          </p:cNvCxnSpPr>
          <p:nvPr/>
        </p:nvCxnSpPr>
        <p:spPr>
          <a:xfrm>
            <a:off x="2422964" y="857456"/>
            <a:ext cx="1009904" cy="71307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TextBox 43">
            <a:extLst>
              <a:ext uri="{FF2B5EF4-FFF2-40B4-BE49-F238E27FC236}">
                <a16:creationId xmlns:a16="http://schemas.microsoft.com/office/drawing/2014/main" id="{FF24AB4E-AE93-F9F0-99E7-7A2C34AA7EE9}"/>
              </a:ext>
            </a:extLst>
          </p:cNvPr>
          <p:cNvSpPr txBox="1"/>
          <p:nvPr/>
        </p:nvSpPr>
        <p:spPr>
          <a:xfrm>
            <a:off x="1372493" y="1919162"/>
            <a:ext cx="673711" cy="369332"/>
          </a:xfrm>
          <a:prstGeom prst="rect">
            <a:avLst/>
          </a:prstGeom>
          <a:noFill/>
        </p:spPr>
        <p:txBody>
          <a:bodyPr wrap="none" rtlCol="0">
            <a:spAutoFit/>
          </a:bodyPr>
          <a:lstStyle/>
          <a:p>
            <a:r>
              <a:rPr lang="en-US" dirty="0"/>
              <a:t>VSAC</a:t>
            </a:r>
          </a:p>
        </p:txBody>
      </p:sp>
      <p:cxnSp>
        <p:nvCxnSpPr>
          <p:cNvPr id="45" name="Straight Arrow Connector 44">
            <a:extLst>
              <a:ext uri="{FF2B5EF4-FFF2-40B4-BE49-F238E27FC236}">
                <a16:creationId xmlns:a16="http://schemas.microsoft.com/office/drawing/2014/main" id="{EC649A68-716C-D512-5135-44F2FB4712AB}"/>
              </a:ext>
            </a:extLst>
          </p:cNvPr>
          <p:cNvCxnSpPr>
            <a:cxnSpLocks/>
            <a:stCxn id="44" idx="2"/>
            <a:endCxn id="13" idx="1"/>
          </p:cNvCxnSpPr>
          <p:nvPr/>
        </p:nvCxnSpPr>
        <p:spPr>
          <a:xfrm>
            <a:off x="1709349" y="2288494"/>
            <a:ext cx="914899" cy="5385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5831E4F-2C0F-A02C-990F-D9C8706F541F}"/>
              </a:ext>
            </a:extLst>
          </p:cNvPr>
          <p:cNvSpPr txBox="1"/>
          <p:nvPr/>
        </p:nvSpPr>
        <p:spPr>
          <a:xfrm>
            <a:off x="672508" y="3446318"/>
            <a:ext cx="2271425" cy="1477328"/>
          </a:xfrm>
          <a:prstGeom prst="rect">
            <a:avLst/>
          </a:prstGeom>
          <a:noFill/>
        </p:spPr>
        <p:txBody>
          <a:bodyPr wrap="square" rtlCol="0">
            <a:spAutoFit/>
          </a:bodyPr>
          <a:lstStyle/>
          <a:p>
            <a:r>
              <a:rPr lang="en-US" dirty="0"/>
              <a:t>VSAC formatted content, typically a pull interaction as a zip of Excel spreadsheets</a:t>
            </a:r>
          </a:p>
        </p:txBody>
      </p:sp>
      <p:cxnSp>
        <p:nvCxnSpPr>
          <p:cNvPr id="53" name="Straight Arrow Connector 52">
            <a:extLst>
              <a:ext uri="{FF2B5EF4-FFF2-40B4-BE49-F238E27FC236}">
                <a16:creationId xmlns:a16="http://schemas.microsoft.com/office/drawing/2014/main" id="{4FD14A96-E352-6A61-2910-61B488169FA2}"/>
              </a:ext>
            </a:extLst>
          </p:cNvPr>
          <p:cNvCxnSpPr>
            <a:cxnSpLocks/>
            <a:stCxn id="52" idx="3"/>
          </p:cNvCxnSpPr>
          <p:nvPr/>
        </p:nvCxnSpPr>
        <p:spPr>
          <a:xfrm flipV="1">
            <a:off x="2943933" y="3596659"/>
            <a:ext cx="812671" cy="58832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0" name="TextBox 59">
            <a:extLst>
              <a:ext uri="{FF2B5EF4-FFF2-40B4-BE49-F238E27FC236}">
                <a16:creationId xmlns:a16="http://schemas.microsoft.com/office/drawing/2014/main" id="{DC006160-93CD-3929-9D1B-2BAB7CB52B45}"/>
              </a:ext>
            </a:extLst>
          </p:cNvPr>
          <p:cNvSpPr txBox="1"/>
          <p:nvPr/>
        </p:nvSpPr>
        <p:spPr>
          <a:xfrm>
            <a:off x="7892153" y="2376192"/>
            <a:ext cx="3057757" cy="646331"/>
          </a:xfrm>
          <a:prstGeom prst="rect">
            <a:avLst/>
          </a:prstGeom>
          <a:noFill/>
        </p:spPr>
        <p:txBody>
          <a:bodyPr wrap="square" rtlCol="0">
            <a:spAutoFit/>
          </a:bodyPr>
          <a:lstStyle/>
          <a:p>
            <a:r>
              <a:rPr lang="en-US" dirty="0"/>
              <a:t>Typically a pull interaction, download of a zip file</a:t>
            </a:r>
          </a:p>
        </p:txBody>
      </p:sp>
      <p:cxnSp>
        <p:nvCxnSpPr>
          <p:cNvPr id="61" name="Straight Arrow Connector 60">
            <a:extLst>
              <a:ext uri="{FF2B5EF4-FFF2-40B4-BE49-F238E27FC236}">
                <a16:creationId xmlns:a16="http://schemas.microsoft.com/office/drawing/2014/main" id="{C6680930-7A76-C633-4620-457A16D1F1B8}"/>
              </a:ext>
            </a:extLst>
          </p:cNvPr>
          <p:cNvCxnSpPr>
            <a:cxnSpLocks/>
          </p:cNvCxnSpPr>
          <p:nvPr/>
        </p:nvCxnSpPr>
        <p:spPr>
          <a:xfrm flipH="1">
            <a:off x="4713719" y="2618821"/>
            <a:ext cx="3178434" cy="273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34617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80AB254-30B8-3E51-2314-209F392C4D68}"/>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8" name="TextBox 7">
            <a:extLst>
              <a:ext uri="{FF2B5EF4-FFF2-40B4-BE49-F238E27FC236}">
                <a16:creationId xmlns:a16="http://schemas.microsoft.com/office/drawing/2014/main" id="{47DC5E0B-23B0-7DB8-4B60-BD2DB5638FC6}"/>
              </a:ext>
            </a:extLst>
          </p:cNvPr>
          <p:cNvSpPr txBox="1"/>
          <p:nvPr/>
        </p:nvSpPr>
        <p:spPr>
          <a:xfrm>
            <a:off x="5684438" y="3794004"/>
            <a:ext cx="608372"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 name="TextBox 1">
            <a:extLst>
              <a:ext uri="{FF2B5EF4-FFF2-40B4-BE49-F238E27FC236}">
                <a16:creationId xmlns:a16="http://schemas.microsoft.com/office/drawing/2014/main" id="{B3FA844E-79E5-95E4-B217-E2E3FF4EEB2C}"/>
              </a:ext>
            </a:extLst>
          </p:cNvPr>
          <p:cNvSpPr txBox="1"/>
          <p:nvPr/>
        </p:nvSpPr>
        <p:spPr>
          <a:xfrm>
            <a:off x="7281088" y="1485562"/>
            <a:ext cx="611065" cy="369332"/>
          </a:xfrm>
          <a:prstGeom prst="rect">
            <a:avLst/>
          </a:prstGeom>
          <a:noFill/>
        </p:spPr>
        <p:txBody>
          <a:bodyPr wrap="none" rtlCol="0">
            <a:spAutoFit/>
          </a:bodyPr>
          <a:lstStyle/>
          <a:p>
            <a:r>
              <a:rPr lang="en-US" dirty="0"/>
              <a:t>CMS</a:t>
            </a:r>
          </a:p>
        </p:txBody>
      </p:sp>
      <p:sp>
        <p:nvSpPr>
          <p:cNvPr id="10" name="TextBox 9">
            <a:extLst>
              <a:ext uri="{FF2B5EF4-FFF2-40B4-BE49-F238E27FC236}">
                <a16:creationId xmlns:a16="http://schemas.microsoft.com/office/drawing/2014/main" id="{9EF40D12-DEED-782C-413F-7716094D97BA}"/>
              </a:ext>
            </a:extLst>
          </p:cNvPr>
          <p:cNvSpPr txBox="1"/>
          <p:nvPr/>
        </p:nvSpPr>
        <p:spPr>
          <a:xfrm>
            <a:off x="6870962" y="2967168"/>
            <a:ext cx="1210592" cy="377041"/>
          </a:xfrm>
          <a:prstGeom prst="rect">
            <a:avLst/>
          </a:prstGeom>
          <a:noFill/>
        </p:spPr>
        <p:txBody>
          <a:bodyPr wrap="square" rtlCol="0">
            <a:spAutoFit/>
          </a:bodyPr>
          <a:lstStyle/>
          <a:p>
            <a:r>
              <a:rPr lang="en-US" dirty="0"/>
              <a:t>Measure</a:t>
            </a:r>
          </a:p>
        </p:txBody>
      </p:sp>
      <p:cxnSp>
        <p:nvCxnSpPr>
          <p:cNvPr id="14" name="Straight Arrow Connector 13">
            <a:extLst>
              <a:ext uri="{FF2B5EF4-FFF2-40B4-BE49-F238E27FC236}">
                <a16:creationId xmlns:a16="http://schemas.microsoft.com/office/drawing/2014/main" id="{7F7D420E-473C-9445-5808-27B3159BC3EA}"/>
              </a:ext>
            </a:extLst>
          </p:cNvPr>
          <p:cNvCxnSpPr>
            <a:cxnSpLocks/>
            <a:stCxn id="2" idx="1"/>
            <a:endCxn id="7" idx="3"/>
          </p:cNvCxnSpPr>
          <p:nvPr/>
        </p:nvCxnSpPr>
        <p:spPr>
          <a:xfrm flipH="1">
            <a:off x="6768281" y="1670228"/>
            <a:ext cx="512807" cy="1846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86A645A3-C484-2A7E-1F79-8A3DB80A2289}"/>
              </a:ext>
            </a:extLst>
          </p:cNvPr>
          <p:cNvCxnSpPr>
            <a:cxnSpLocks/>
            <a:stCxn id="10" idx="1"/>
            <a:endCxn id="6" idx="3"/>
          </p:cNvCxnSpPr>
          <p:nvPr/>
        </p:nvCxnSpPr>
        <p:spPr>
          <a:xfrm flipH="1">
            <a:off x="5356176" y="3155689"/>
            <a:ext cx="1514786" cy="11006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96E2C6D9-061B-9B01-0F0F-F36515C342D1}"/>
              </a:ext>
            </a:extLst>
          </p:cNvPr>
          <p:cNvSpPr txBox="1"/>
          <p:nvPr/>
        </p:nvSpPr>
        <p:spPr>
          <a:xfrm>
            <a:off x="6800689" y="3537102"/>
            <a:ext cx="1702069" cy="369332"/>
          </a:xfrm>
          <a:prstGeom prst="rect">
            <a:avLst/>
          </a:prstGeom>
          <a:noFill/>
        </p:spPr>
        <p:txBody>
          <a:bodyPr wrap="none" rtlCol="0">
            <a:spAutoFit/>
          </a:bodyPr>
          <a:lstStyle/>
          <a:p>
            <a:r>
              <a:rPr lang="en-US" dirty="0" err="1"/>
              <a:t>MeasureReport</a:t>
            </a:r>
            <a:endParaRPr lang="en-US" dirty="0"/>
          </a:p>
        </p:txBody>
      </p:sp>
      <p:cxnSp>
        <p:nvCxnSpPr>
          <p:cNvPr id="23" name="Straight Arrow Connector 22">
            <a:extLst>
              <a:ext uri="{FF2B5EF4-FFF2-40B4-BE49-F238E27FC236}">
                <a16:creationId xmlns:a16="http://schemas.microsoft.com/office/drawing/2014/main" id="{2DD6A23D-D179-57E6-1AA2-9D1D5B2841E4}"/>
              </a:ext>
            </a:extLst>
          </p:cNvPr>
          <p:cNvCxnSpPr>
            <a:cxnSpLocks/>
            <a:stCxn id="22" idx="1"/>
            <a:endCxn id="9" idx="3"/>
          </p:cNvCxnSpPr>
          <p:nvPr/>
        </p:nvCxnSpPr>
        <p:spPr>
          <a:xfrm flipH="1">
            <a:off x="6170710" y="3721768"/>
            <a:ext cx="629979" cy="5377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73901EE-CC26-5AD0-0A44-4B4F8BC86C2B}"/>
              </a:ext>
            </a:extLst>
          </p:cNvPr>
          <p:cNvSpPr txBox="1"/>
          <p:nvPr/>
        </p:nvSpPr>
        <p:spPr>
          <a:xfrm>
            <a:off x="5868528" y="5595200"/>
            <a:ext cx="3057757" cy="369332"/>
          </a:xfrm>
          <a:prstGeom prst="rect">
            <a:avLst/>
          </a:prstGeom>
          <a:noFill/>
        </p:spPr>
        <p:txBody>
          <a:bodyPr wrap="square" rtlCol="0">
            <a:spAutoFit/>
          </a:bodyPr>
          <a:lstStyle/>
          <a:p>
            <a:r>
              <a:rPr lang="en-US" dirty="0"/>
              <a:t>Measure Receiving Service</a:t>
            </a:r>
          </a:p>
        </p:txBody>
      </p:sp>
      <p:cxnSp>
        <p:nvCxnSpPr>
          <p:cNvPr id="30" name="Straight Arrow Connector 29">
            <a:extLst>
              <a:ext uri="{FF2B5EF4-FFF2-40B4-BE49-F238E27FC236}">
                <a16:creationId xmlns:a16="http://schemas.microsoft.com/office/drawing/2014/main" id="{07220FCB-3C87-82BF-7547-E5206BF768F7}"/>
              </a:ext>
            </a:extLst>
          </p:cNvPr>
          <p:cNvCxnSpPr>
            <a:cxnSpLocks/>
          </p:cNvCxnSpPr>
          <p:nvPr/>
        </p:nvCxnSpPr>
        <p:spPr>
          <a:xfrm flipH="1" flipV="1">
            <a:off x="5944063" y="4799821"/>
            <a:ext cx="241209" cy="801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TextBox 33">
            <a:extLst>
              <a:ext uri="{FF2B5EF4-FFF2-40B4-BE49-F238E27FC236}">
                <a16:creationId xmlns:a16="http://schemas.microsoft.com/office/drawing/2014/main" id="{D8025EF3-797F-3BC0-0DB5-F73161F7B425}"/>
              </a:ext>
            </a:extLst>
          </p:cNvPr>
          <p:cNvSpPr txBox="1"/>
          <p:nvPr/>
        </p:nvSpPr>
        <p:spPr>
          <a:xfrm>
            <a:off x="2542969" y="5410534"/>
            <a:ext cx="2685479" cy="369332"/>
          </a:xfrm>
          <a:prstGeom prst="rect">
            <a:avLst/>
          </a:prstGeom>
          <a:noFill/>
        </p:spPr>
        <p:txBody>
          <a:bodyPr wrap="none" rtlCol="0">
            <a:spAutoFit/>
          </a:bodyPr>
          <a:lstStyle/>
          <a:p>
            <a:r>
              <a:rPr lang="en-US" dirty="0"/>
              <a:t>Vendor/Reporting Systems</a:t>
            </a:r>
          </a:p>
        </p:txBody>
      </p:sp>
      <p:cxnSp>
        <p:nvCxnSpPr>
          <p:cNvPr id="35" name="Straight Arrow Connector 34">
            <a:extLst>
              <a:ext uri="{FF2B5EF4-FFF2-40B4-BE49-F238E27FC236}">
                <a16:creationId xmlns:a16="http://schemas.microsoft.com/office/drawing/2014/main" id="{3EB7B384-E590-3F8F-11E6-72DF27C16AB8}"/>
              </a:ext>
            </a:extLst>
          </p:cNvPr>
          <p:cNvCxnSpPr>
            <a:cxnSpLocks/>
            <a:stCxn id="34" idx="0"/>
            <a:endCxn id="3" idx="2"/>
          </p:cNvCxnSpPr>
          <p:nvPr/>
        </p:nvCxnSpPr>
        <p:spPr>
          <a:xfrm flipV="1">
            <a:off x="3885709" y="4902926"/>
            <a:ext cx="572825" cy="5076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9" name="TextBox 38">
            <a:extLst>
              <a:ext uri="{FF2B5EF4-FFF2-40B4-BE49-F238E27FC236}">
                <a16:creationId xmlns:a16="http://schemas.microsoft.com/office/drawing/2014/main" id="{A8DDB702-1D82-1C4C-D59E-CD11A324AA7B}"/>
              </a:ext>
            </a:extLst>
          </p:cNvPr>
          <p:cNvSpPr txBox="1"/>
          <p:nvPr/>
        </p:nvSpPr>
        <p:spPr>
          <a:xfrm>
            <a:off x="1308556" y="488124"/>
            <a:ext cx="2228815" cy="369332"/>
          </a:xfrm>
          <a:prstGeom prst="rect">
            <a:avLst/>
          </a:prstGeom>
          <a:noFill/>
        </p:spPr>
        <p:txBody>
          <a:bodyPr wrap="none" rtlCol="0">
            <a:spAutoFit/>
          </a:bodyPr>
          <a:lstStyle/>
          <a:p>
            <a:r>
              <a:rPr lang="en-US" dirty="0" err="1"/>
              <a:t>eCQI</a:t>
            </a:r>
            <a:r>
              <a:rPr lang="en-US" dirty="0"/>
              <a:t> Resource Center</a:t>
            </a:r>
          </a:p>
        </p:txBody>
      </p:sp>
      <p:cxnSp>
        <p:nvCxnSpPr>
          <p:cNvPr id="40" name="Straight Arrow Connector 39">
            <a:extLst>
              <a:ext uri="{FF2B5EF4-FFF2-40B4-BE49-F238E27FC236}">
                <a16:creationId xmlns:a16="http://schemas.microsoft.com/office/drawing/2014/main" id="{E1641B34-0B89-2C3A-053E-B5680705085C}"/>
              </a:ext>
            </a:extLst>
          </p:cNvPr>
          <p:cNvCxnSpPr>
            <a:cxnSpLocks/>
            <a:stCxn id="39" idx="2"/>
            <a:endCxn id="12" idx="1"/>
          </p:cNvCxnSpPr>
          <p:nvPr/>
        </p:nvCxnSpPr>
        <p:spPr>
          <a:xfrm>
            <a:off x="2422964" y="857456"/>
            <a:ext cx="1009904" cy="71307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TextBox 43">
            <a:extLst>
              <a:ext uri="{FF2B5EF4-FFF2-40B4-BE49-F238E27FC236}">
                <a16:creationId xmlns:a16="http://schemas.microsoft.com/office/drawing/2014/main" id="{FF24AB4E-AE93-F9F0-99E7-7A2C34AA7EE9}"/>
              </a:ext>
            </a:extLst>
          </p:cNvPr>
          <p:cNvSpPr txBox="1"/>
          <p:nvPr/>
        </p:nvSpPr>
        <p:spPr>
          <a:xfrm>
            <a:off x="1372493" y="1919162"/>
            <a:ext cx="673711" cy="369332"/>
          </a:xfrm>
          <a:prstGeom prst="rect">
            <a:avLst/>
          </a:prstGeom>
          <a:noFill/>
        </p:spPr>
        <p:txBody>
          <a:bodyPr wrap="none" rtlCol="0">
            <a:spAutoFit/>
          </a:bodyPr>
          <a:lstStyle/>
          <a:p>
            <a:r>
              <a:rPr lang="en-US" dirty="0"/>
              <a:t>VSAC</a:t>
            </a:r>
          </a:p>
        </p:txBody>
      </p:sp>
      <p:cxnSp>
        <p:nvCxnSpPr>
          <p:cNvPr id="45" name="Straight Arrow Connector 44">
            <a:extLst>
              <a:ext uri="{FF2B5EF4-FFF2-40B4-BE49-F238E27FC236}">
                <a16:creationId xmlns:a16="http://schemas.microsoft.com/office/drawing/2014/main" id="{EC649A68-716C-D512-5135-44F2FB4712AB}"/>
              </a:ext>
            </a:extLst>
          </p:cNvPr>
          <p:cNvCxnSpPr>
            <a:cxnSpLocks/>
            <a:stCxn id="44" idx="2"/>
            <a:endCxn id="13" idx="1"/>
          </p:cNvCxnSpPr>
          <p:nvPr/>
        </p:nvCxnSpPr>
        <p:spPr>
          <a:xfrm>
            <a:off x="1709349" y="2288494"/>
            <a:ext cx="914899" cy="5385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5831E4F-2C0F-A02C-990F-D9C8706F541F}"/>
              </a:ext>
            </a:extLst>
          </p:cNvPr>
          <p:cNvSpPr txBox="1"/>
          <p:nvPr/>
        </p:nvSpPr>
        <p:spPr>
          <a:xfrm>
            <a:off x="261734" y="4030961"/>
            <a:ext cx="2271425" cy="646331"/>
          </a:xfrm>
          <a:prstGeom prst="rect">
            <a:avLst/>
          </a:prstGeom>
          <a:noFill/>
        </p:spPr>
        <p:txBody>
          <a:bodyPr wrap="square" rtlCol="0">
            <a:spAutoFit/>
          </a:bodyPr>
          <a:lstStyle/>
          <a:p>
            <a:pPr algn="ctr"/>
            <a:r>
              <a:rPr lang="en-US" dirty="0"/>
              <a:t>Measure Terminology Service</a:t>
            </a:r>
          </a:p>
        </p:txBody>
      </p:sp>
      <p:cxnSp>
        <p:nvCxnSpPr>
          <p:cNvPr id="53" name="Straight Arrow Connector 52">
            <a:extLst>
              <a:ext uri="{FF2B5EF4-FFF2-40B4-BE49-F238E27FC236}">
                <a16:creationId xmlns:a16="http://schemas.microsoft.com/office/drawing/2014/main" id="{4FD14A96-E352-6A61-2910-61B488169FA2}"/>
              </a:ext>
            </a:extLst>
          </p:cNvPr>
          <p:cNvCxnSpPr>
            <a:cxnSpLocks/>
            <a:stCxn id="52" idx="3"/>
          </p:cNvCxnSpPr>
          <p:nvPr/>
        </p:nvCxnSpPr>
        <p:spPr>
          <a:xfrm flipV="1">
            <a:off x="2533159" y="3596659"/>
            <a:ext cx="1243573" cy="75746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0" name="TextBox 59">
            <a:extLst>
              <a:ext uri="{FF2B5EF4-FFF2-40B4-BE49-F238E27FC236}">
                <a16:creationId xmlns:a16="http://schemas.microsoft.com/office/drawing/2014/main" id="{DC006160-93CD-3929-9D1B-2BAB7CB52B45}"/>
              </a:ext>
            </a:extLst>
          </p:cNvPr>
          <p:cNvSpPr txBox="1"/>
          <p:nvPr/>
        </p:nvSpPr>
        <p:spPr>
          <a:xfrm>
            <a:off x="7892154" y="2376191"/>
            <a:ext cx="2113996" cy="369332"/>
          </a:xfrm>
          <a:prstGeom prst="rect">
            <a:avLst/>
          </a:prstGeom>
          <a:noFill/>
        </p:spPr>
        <p:txBody>
          <a:bodyPr wrap="square" rtlCol="0">
            <a:spAutoFit/>
          </a:bodyPr>
          <a:lstStyle/>
          <a:p>
            <a:r>
              <a:rPr lang="en-US" dirty="0"/>
              <a:t>Measure Repository</a:t>
            </a:r>
          </a:p>
        </p:txBody>
      </p:sp>
      <p:cxnSp>
        <p:nvCxnSpPr>
          <p:cNvPr id="61" name="Straight Arrow Connector 60">
            <a:extLst>
              <a:ext uri="{FF2B5EF4-FFF2-40B4-BE49-F238E27FC236}">
                <a16:creationId xmlns:a16="http://schemas.microsoft.com/office/drawing/2014/main" id="{C6680930-7A76-C633-4620-457A16D1F1B8}"/>
              </a:ext>
            </a:extLst>
          </p:cNvPr>
          <p:cNvCxnSpPr>
            <a:cxnSpLocks/>
          </p:cNvCxnSpPr>
          <p:nvPr/>
        </p:nvCxnSpPr>
        <p:spPr>
          <a:xfrm flipH="1">
            <a:off x="4713719" y="2618821"/>
            <a:ext cx="3178434" cy="273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87278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2FDB10-F6A8-9E33-9F1F-5CEA1C5673EA}"/>
              </a:ext>
            </a:extLst>
          </p:cNvPr>
          <p:cNvSpPr/>
          <p:nvPr/>
        </p:nvSpPr>
        <p:spPr>
          <a:xfrm>
            <a:off x="3688618"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Provider System</a:t>
            </a:r>
          </a:p>
        </p:txBody>
      </p:sp>
      <p:sp>
        <p:nvSpPr>
          <p:cNvPr id="4" name="Rectangle 3">
            <a:extLst>
              <a:ext uri="{FF2B5EF4-FFF2-40B4-BE49-F238E27FC236}">
                <a16:creationId xmlns:a16="http://schemas.microsoft.com/office/drawing/2014/main" id="{E4BB428D-92AB-4618-98C2-CBB747702124}"/>
              </a:ext>
            </a:extLst>
          </p:cNvPr>
          <p:cNvSpPr/>
          <p:nvPr/>
        </p:nvSpPr>
        <p:spPr>
          <a:xfrm>
            <a:off x="6768283" y="3997234"/>
            <a:ext cx="1539832" cy="9056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Receiving System</a:t>
            </a:r>
          </a:p>
        </p:txBody>
      </p:sp>
      <p:sp>
        <p:nvSpPr>
          <p:cNvPr id="5" name="TextBox 4">
            <a:extLst>
              <a:ext uri="{FF2B5EF4-FFF2-40B4-BE49-F238E27FC236}">
                <a16:creationId xmlns:a16="http://schemas.microsoft.com/office/drawing/2014/main" id="{A3414751-0B08-2ED3-7DA0-4F4D86A2B223}"/>
              </a:ext>
            </a:extLst>
          </p:cNvPr>
          <p:cNvSpPr txBox="1"/>
          <p:nvPr/>
        </p:nvSpPr>
        <p:spPr>
          <a:xfrm>
            <a:off x="4683955" y="2800238"/>
            <a:ext cx="980268" cy="276999"/>
          </a:xfrm>
          <a:prstGeom prst="rect">
            <a:avLst/>
          </a:prstGeom>
          <a:noFill/>
        </p:spPr>
        <p:txBody>
          <a:bodyPr wrap="none" rtlCol="0">
            <a:spAutoFit/>
          </a:bodyPr>
          <a:lstStyle/>
          <a:p>
            <a:pPr algn="ctr"/>
            <a:r>
              <a:rPr lang="en-US" sz="1200" dirty="0"/>
              <a:t>Specification</a:t>
            </a:r>
          </a:p>
        </p:txBody>
      </p:sp>
      <p:sp>
        <p:nvSpPr>
          <p:cNvPr id="6" name="Flowchart: Document 5">
            <a:extLst>
              <a:ext uri="{FF2B5EF4-FFF2-40B4-BE49-F238E27FC236}">
                <a16:creationId xmlns:a16="http://schemas.microsoft.com/office/drawing/2014/main" id="{A296F8FE-E234-557D-558C-170B80C964B8}"/>
              </a:ext>
            </a:extLst>
          </p:cNvPr>
          <p:cNvSpPr/>
          <p:nvPr/>
        </p:nvSpPr>
        <p:spPr>
          <a:xfrm>
            <a:off x="4991999" y="3077237"/>
            <a:ext cx="364177" cy="377042"/>
          </a:xfrm>
          <a:prstGeom prst="flowChartDocumen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80AB254-30B8-3E51-2314-209F392C4D68}"/>
              </a:ext>
            </a:extLst>
          </p:cNvPr>
          <p:cNvSpPr/>
          <p:nvPr/>
        </p:nvSpPr>
        <p:spPr>
          <a:xfrm>
            <a:off x="5228448" y="1368006"/>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Authority/</a:t>
            </a:r>
          </a:p>
          <a:p>
            <a:pPr algn="ctr"/>
            <a:r>
              <a:rPr lang="en-US" dirty="0"/>
              <a:t>Agency</a:t>
            </a:r>
          </a:p>
        </p:txBody>
      </p:sp>
      <p:sp>
        <p:nvSpPr>
          <p:cNvPr id="8" name="TextBox 7">
            <a:extLst>
              <a:ext uri="{FF2B5EF4-FFF2-40B4-BE49-F238E27FC236}">
                <a16:creationId xmlns:a16="http://schemas.microsoft.com/office/drawing/2014/main" id="{47DC5E0B-23B0-7DB8-4B60-BD2DB5638FC6}"/>
              </a:ext>
            </a:extLst>
          </p:cNvPr>
          <p:cNvSpPr txBox="1"/>
          <p:nvPr/>
        </p:nvSpPr>
        <p:spPr>
          <a:xfrm>
            <a:off x="5684438" y="3794004"/>
            <a:ext cx="608372" cy="276999"/>
          </a:xfrm>
          <a:prstGeom prst="rect">
            <a:avLst/>
          </a:prstGeom>
          <a:noFill/>
        </p:spPr>
        <p:txBody>
          <a:bodyPr wrap="none" rtlCol="0">
            <a:spAutoFit/>
          </a:bodyPr>
          <a:lstStyle/>
          <a:p>
            <a:pPr algn="ctr"/>
            <a:r>
              <a:rPr lang="en-US" sz="1200" dirty="0"/>
              <a:t>Report</a:t>
            </a:r>
          </a:p>
        </p:txBody>
      </p:sp>
      <p:sp>
        <p:nvSpPr>
          <p:cNvPr id="9" name="Flowchart: Document 8">
            <a:extLst>
              <a:ext uri="{FF2B5EF4-FFF2-40B4-BE49-F238E27FC236}">
                <a16:creationId xmlns:a16="http://schemas.microsoft.com/office/drawing/2014/main" id="{45158A6F-A091-B4B0-511F-CE190B1AF9B6}"/>
              </a:ext>
            </a:extLst>
          </p:cNvPr>
          <p:cNvSpPr/>
          <p:nvPr/>
        </p:nvSpPr>
        <p:spPr>
          <a:xfrm>
            <a:off x="5806533" y="4071003"/>
            <a:ext cx="364177" cy="377042"/>
          </a:xfrm>
          <a:prstGeom prst="flowChartDocument">
            <a:avLst/>
          </a:prstGeom>
          <a:solidFill>
            <a:schemeClr val="tx1">
              <a:lumMod val="50000"/>
              <a:lumOff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E86E584-6C57-05D6-6FBE-B916237EB88D}"/>
              </a:ext>
            </a:extLst>
          </p:cNvPr>
          <p:cNvSpPr/>
          <p:nvPr/>
        </p:nvSpPr>
        <p:spPr>
          <a:xfrm>
            <a:off x="3432868" y="1083645"/>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Measure Specifications</a:t>
            </a:r>
          </a:p>
        </p:txBody>
      </p:sp>
      <p:sp>
        <p:nvSpPr>
          <p:cNvPr id="13" name="Rectangle 12">
            <a:extLst>
              <a:ext uri="{FF2B5EF4-FFF2-40B4-BE49-F238E27FC236}">
                <a16:creationId xmlns:a16="http://schemas.microsoft.com/office/drawing/2014/main" id="{19BC7517-50A8-A636-39B7-19F92483F07C}"/>
              </a:ext>
            </a:extLst>
          </p:cNvPr>
          <p:cNvSpPr/>
          <p:nvPr/>
        </p:nvSpPr>
        <p:spPr>
          <a:xfrm>
            <a:off x="2624248" y="2340152"/>
            <a:ext cx="1539833" cy="9737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Terminology</a:t>
            </a:r>
          </a:p>
        </p:txBody>
      </p:sp>
      <p:sp>
        <p:nvSpPr>
          <p:cNvPr id="2" name="TextBox 1">
            <a:extLst>
              <a:ext uri="{FF2B5EF4-FFF2-40B4-BE49-F238E27FC236}">
                <a16:creationId xmlns:a16="http://schemas.microsoft.com/office/drawing/2014/main" id="{B3FA844E-79E5-95E4-B217-E2E3FF4EEB2C}"/>
              </a:ext>
            </a:extLst>
          </p:cNvPr>
          <p:cNvSpPr txBox="1"/>
          <p:nvPr/>
        </p:nvSpPr>
        <p:spPr>
          <a:xfrm>
            <a:off x="7281088" y="1485562"/>
            <a:ext cx="611065" cy="369332"/>
          </a:xfrm>
          <a:prstGeom prst="rect">
            <a:avLst/>
          </a:prstGeom>
          <a:noFill/>
        </p:spPr>
        <p:txBody>
          <a:bodyPr wrap="none" rtlCol="0">
            <a:spAutoFit/>
          </a:bodyPr>
          <a:lstStyle/>
          <a:p>
            <a:r>
              <a:rPr lang="en-US" dirty="0"/>
              <a:t>CMS</a:t>
            </a:r>
          </a:p>
        </p:txBody>
      </p:sp>
      <p:sp>
        <p:nvSpPr>
          <p:cNvPr id="10" name="TextBox 9">
            <a:extLst>
              <a:ext uri="{FF2B5EF4-FFF2-40B4-BE49-F238E27FC236}">
                <a16:creationId xmlns:a16="http://schemas.microsoft.com/office/drawing/2014/main" id="{9EF40D12-DEED-782C-413F-7716094D97BA}"/>
              </a:ext>
            </a:extLst>
          </p:cNvPr>
          <p:cNvSpPr txBox="1"/>
          <p:nvPr/>
        </p:nvSpPr>
        <p:spPr>
          <a:xfrm>
            <a:off x="6870962" y="2967168"/>
            <a:ext cx="1210592" cy="377041"/>
          </a:xfrm>
          <a:prstGeom prst="rect">
            <a:avLst/>
          </a:prstGeom>
          <a:noFill/>
        </p:spPr>
        <p:txBody>
          <a:bodyPr wrap="square" rtlCol="0">
            <a:spAutoFit/>
          </a:bodyPr>
          <a:lstStyle/>
          <a:p>
            <a:r>
              <a:rPr lang="en-US" dirty="0"/>
              <a:t>Measure</a:t>
            </a:r>
          </a:p>
        </p:txBody>
      </p:sp>
      <p:cxnSp>
        <p:nvCxnSpPr>
          <p:cNvPr id="14" name="Straight Arrow Connector 13">
            <a:extLst>
              <a:ext uri="{FF2B5EF4-FFF2-40B4-BE49-F238E27FC236}">
                <a16:creationId xmlns:a16="http://schemas.microsoft.com/office/drawing/2014/main" id="{7F7D420E-473C-9445-5808-27B3159BC3EA}"/>
              </a:ext>
            </a:extLst>
          </p:cNvPr>
          <p:cNvCxnSpPr>
            <a:cxnSpLocks/>
            <a:stCxn id="2" idx="1"/>
            <a:endCxn id="7" idx="3"/>
          </p:cNvCxnSpPr>
          <p:nvPr/>
        </p:nvCxnSpPr>
        <p:spPr>
          <a:xfrm flipH="1">
            <a:off x="6768281" y="1670228"/>
            <a:ext cx="512807" cy="18466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86A645A3-C484-2A7E-1F79-8A3DB80A2289}"/>
              </a:ext>
            </a:extLst>
          </p:cNvPr>
          <p:cNvCxnSpPr>
            <a:cxnSpLocks/>
            <a:stCxn id="10" idx="1"/>
            <a:endCxn id="6" idx="3"/>
          </p:cNvCxnSpPr>
          <p:nvPr/>
        </p:nvCxnSpPr>
        <p:spPr>
          <a:xfrm flipH="1">
            <a:off x="5356176" y="3155689"/>
            <a:ext cx="1514786" cy="11006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2" name="TextBox 21">
            <a:extLst>
              <a:ext uri="{FF2B5EF4-FFF2-40B4-BE49-F238E27FC236}">
                <a16:creationId xmlns:a16="http://schemas.microsoft.com/office/drawing/2014/main" id="{96E2C6D9-061B-9B01-0F0F-F36515C342D1}"/>
              </a:ext>
            </a:extLst>
          </p:cNvPr>
          <p:cNvSpPr txBox="1"/>
          <p:nvPr/>
        </p:nvSpPr>
        <p:spPr>
          <a:xfrm>
            <a:off x="6800689" y="3537102"/>
            <a:ext cx="1702069" cy="369332"/>
          </a:xfrm>
          <a:prstGeom prst="rect">
            <a:avLst/>
          </a:prstGeom>
          <a:noFill/>
        </p:spPr>
        <p:txBody>
          <a:bodyPr wrap="none" rtlCol="0">
            <a:spAutoFit/>
          </a:bodyPr>
          <a:lstStyle/>
          <a:p>
            <a:r>
              <a:rPr lang="en-US" dirty="0" err="1"/>
              <a:t>MeasureReport</a:t>
            </a:r>
            <a:endParaRPr lang="en-US" dirty="0"/>
          </a:p>
        </p:txBody>
      </p:sp>
      <p:cxnSp>
        <p:nvCxnSpPr>
          <p:cNvPr id="23" name="Straight Arrow Connector 22">
            <a:extLst>
              <a:ext uri="{FF2B5EF4-FFF2-40B4-BE49-F238E27FC236}">
                <a16:creationId xmlns:a16="http://schemas.microsoft.com/office/drawing/2014/main" id="{2DD6A23D-D179-57E6-1AA2-9D1D5B2841E4}"/>
              </a:ext>
            </a:extLst>
          </p:cNvPr>
          <p:cNvCxnSpPr>
            <a:cxnSpLocks/>
            <a:stCxn id="22" idx="1"/>
            <a:endCxn id="9" idx="3"/>
          </p:cNvCxnSpPr>
          <p:nvPr/>
        </p:nvCxnSpPr>
        <p:spPr>
          <a:xfrm flipH="1">
            <a:off x="6170710" y="3721768"/>
            <a:ext cx="629979" cy="53775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8" name="Arrow: Right 27">
            <a:extLst>
              <a:ext uri="{FF2B5EF4-FFF2-40B4-BE49-F238E27FC236}">
                <a16:creationId xmlns:a16="http://schemas.microsoft.com/office/drawing/2014/main" id="{9B6449AB-2D86-4BD4-25D0-E1775020076A}"/>
              </a:ext>
            </a:extLst>
          </p:cNvPr>
          <p:cNvSpPr/>
          <p:nvPr/>
        </p:nvSpPr>
        <p:spPr>
          <a:xfrm>
            <a:off x="5509162" y="4557505"/>
            <a:ext cx="978408" cy="2423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373901EE-CC26-5AD0-0A44-4B4F8BC86C2B}"/>
              </a:ext>
            </a:extLst>
          </p:cNvPr>
          <p:cNvSpPr txBox="1"/>
          <p:nvPr/>
        </p:nvSpPr>
        <p:spPr>
          <a:xfrm>
            <a:off x="5868528" y="5595200"/>
            <a:ext cx="3057757" cy="369332"/>
          </a:xfrm>
          <a:prstGeom prst="rect">
            <a:avLst/>
          </a:prstGeom>
          <a:noFill/>
        </p:spPr>
        <p:txBody>
          <a:bodyPr wrap="square" rtlCol="0">
            <a:spAutoFit/>
          </a:bodyPr>
          <a:lstStyle/>
          <a:p>
            <a:r>
              <a:rPr lang="en-US" dirty="0"/>
              <a:t>Measure Receiving Service</a:t>
            </a:r>
          </a:p>
        </p:txBody>
      </p:sp>
      <p:cxnSp>
        <p:nvCxnSpPr>
          <p:cNvPr id="30" name="Straight Arrow Connector 29">
            <a:extLst>
              <a:ext uri="{FF2B5EF4-FFF2-40B4-BE49-F238E27FC236}">
                <a16:creationId xmlns:a16="http://schemas.microsoft.com/office/drawing/2014/main" id="{07220FCB-3C87-82BF-7547-E5206BF768F7}"/>
              </a:ext>
            </a:extLst>
          </p:cNvPr>
          <p:cNvCxnSpPr>
            <a:cxnSpLocks/>
          </p:cNvCxnSpPr>
          <p:nvPr/>
        </p:nvCxnSpPr>
        <p:spPr>
          <a:xfrm flipH="1" flipV="1">
            <a:off x="5944063" y="4799821"/>
            <a:ext cx="241209" cy="80144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4" name="TextBox 33">
            <a:extLst>
              <a:ext uri="{FF2B5EF4-FFF2-40B4-BE49-F238E27FC236}">
                <a16:creationId xmlns:a16="http://schemas.microsoft.com/office/drawing/2014/main" id="{D8025EF3-797F-3BC0-0DB5-F73161F7B425}"/>
              </a:ext>
            </a:extLst>
          </p:cNvPr>
          <p:cNvSpPr txBox="1"/>
          <p:nvPr/>
        </p:nvSpPr>
        <p:spPr>
          <a:xfrm>
            <a:off x="2542969" y="5410534"/>
            <a:ext cx="2685479" cy="369332"/>
          </a:xfrm>
          <a:prstGeom prst="rect">
            <a:avLst/>
          </a:prstGeom>
          <a:noFill/>
        </p:spPr>
        <p:txBody>
          <a:bodyPr wrap="none" rtlCol="0">
            <a:spAutoFit/>
          </a:bodyPr>
          <a:lstStyle/>
          <a:p>
            <a:r>
              <a:rPr lang="en-US" dirty="0"/>
              <a:t>Vendor/Reporting Systems</a:t>
            </a:r>
          </a:p>
        </p:txBody>
      </p:sp>
      <p:cxnSp>
        <p:nvCxnSpPr>
          <p:cNvPr id="35" name="Straight Arrow Connector 34">
            <a:extLst>
              <a:ext uri="{FF2B5EF4-FFF2-40B4-BE49-F238E27FC236}">
                <a16:creationId xmlns:a16="http://schemas.microsoft.com/office/drawing/2014/main" id="{3EB7B384-E590-3F8F-11E6-72DF27C16AB8}"/>
              </a:ext>
            </a:extLst>
          </p:cNvPr>
          <p:cNvCxnSpPr>
            <a:cxnSpLocks/>
            <a:stCxn id="34" idx="0"/>
            <a:endCxn id="3" idx="2"/>
          </p:cNvCxnSpPr>
          <p:nvPr/>
        </p:nvCxnSpPr>
        <p:spPr>
          <a:xfrm flipV="1">
            <a:off x="3885709" y="4902926"/>
            <a:ext cx="572825" cy="50760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9" name="TextBox 38">
            <a:extLst>
              <a:ext uri="{FF2B5EF4-FFF2-40B4-BE49-F238E27FC236}">
                <a16:creationId xmlns:a16="http://schemas.microsoft.com/office/drawing/2014/main" id="{A8DDB702-1D82-1C4C-D59E-CD11A324AA7B}"/>
              </a:ext>
            </a:extLst>
          </p:cNvPr>
          <p:cNvSpPr txBox="1"/>
          <p:nvPr/>
        </p:nvSpPr>
        <p:spPr>
          <a:xfrm>
            <a:off x="1308556" y="488124"/>
            <a:ext cx="2228815" cy="369332"/>
          </a:xfrm>
          <a:prstGeom prst="rect">
            <a:avLst/>
          </a:prstGeom>
          <a:noFill/>
        </p:spPr>
        <p:txBody>
          <a:bodyPr wrap="none" rtlCol="0">
            <a:spAutoFit/>
          </a:bodyPr>
          <a:lstStyle/>
          <a:p>
            <a:r>
              <a:rPr lang="en-US" dirty="0" err="1"/>
              <a:t>eCQI</a:t>
            </a:r>
            <a:r>
              <a:rPr lang="en-US" dirty="0"/>
              <a:t> Resource Center</a:t>
            </a:r>
          </a:p>
        </p:txBody>
      </p:sp>
      <p:cxnSp>
        <p:nvCxnSpPr>
          <p:cNvPr id="40" name="Straight Arrow Connector 39">
            <a:extLst>
              <a:ext uri="{FF2B5EF4-FFF2-40B4-BE49-F238E27FC236}">
                <a16:creationId xmlns:a16="http://schemas.microsoft.com/office/drawing/2014/main" id="{E1641B34-0B89-2C3A-053E-B5680705085C}"/>
              </a:ext>
            </a:extLst>
          </p:cNvPr>
          <p:cNvCxnSpPr>
            <a:cxnSpLocks/>
            <a:stCxn id="39" idx="2"/>
            <a:endCxn id="12" idx="1"/>
          </p:cNvCxnSpPr>
          <p:nvPr/>
        </p:nvCxnSpPr>
        <p:spPr>
          <a:xfrm>
            <a:off x="2422964" y="857456"/>
            <a:ext cx="1009904" cy="71307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4" name="TextBox 43">
            <a:extLst>
              <a:ext uri="{FF2B5EF4-FFF2-40B4-BE49-F238E27FC236}">
                <a16:creationId xmlns:a16="http://schemas.microsoft.com/office/drawing/2014/main" id="{FF24AB4E-AE93-F9F0-99E7-7A2C34AA7EE9}"/>
              </a:ext>
            </a:extLst>
          </p:cNvPr>
          <p:cNvSpPr txBox="1"/>
          <p:nvPr/>
        </p:nvSpPr>
        <p:spPr>
          <a:xfrm>
            <a:off x="1372493" y="1919162"/>
            <a:ext cx="673711" cy="369332"/>
          </a:xfrm>
          <a:prstGeom prst="rect">
            <a:avLst/>
          </a:prstGeom>
          <a:noFill/>
        </p:spPr>
        <p:txBody>
          <a:bodyPr wrap="none" rtlCol="0">
            <a:spAutoFit/>
          </a:bodyPr>
          <a:lstStyle/>
          <a:p>
            <a:r>
              <a:rPr lang="en-US" dirty="0"/>
              <a:t>VSAC</a:t>
            </a:r>
          </a:p>
        </p:txBody>
      </p:sp>
      <p:cxnSp>
        <p:nvCxnSpPr>
          <p:cNvPr id="45" name="Straight Arrow Connector 44">
            <a:extLst>
              <a:ext uri="{FF2B5EF4-FFF2-40B4-BE49-F238E27FC236}">
                <a16:creationId xmlns:a16="http://schemas.microsoft.com/office/drawing/2014/main" id="{EC649A68-716C-D512-5135-44F2FB4712AB}"/>
              </a:ext>
            </a:extLst>
          </p:cNvPr>
          <p:cNvCxnSpPr>
            <a:cxnSpLocks/>
            <a:stCxn id="44" idx="2"/>
            <a:endCxn id="13" idx="1"/>
          </p:cNvCxnSpPr>
          <p:nvPr/>
        </p:nvCxnSpPr>
        <p:spPr>
          <a:xfrm>
            <a:off x="1709349" y="2288494"/>
            <a:ext cx="914899" cy="538546"/>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8" name="Arrow: Down 47">
            <a:extLst>
              <a:ext uri="{FF2B5EF4-FFF2-40B4-BE49-F238E27FC236}">
                <a16:creationId xmlns:a16="http://schemas.microsoft.com/office/drawing/2014/main" id="{1238D0C3-DAAF-1745-4C96-F1DDBC201139}"/>
              </a:ext>
            </a:extLst>
          </p:cNvPr>
          <p:cNvSpPr/>
          <p:nvPr/>
        </p:nvSpPr>
        <p:spPr>
          <a:xfrm>
            <a:off x="4494114" y="2205130"/>
            <a:ext cx="219605" cy="160426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Arrow: Down 48">
            <a:extLst>
              <a:ext uri="{FF2B5EF4-FFF2-40B4-BE49-F238E27FC236}">
                <a16:creationId xmlns:a16="http://schemas.microsoft.com/office/drawing/2014/main" id="{8D5FE82A-F970-4700-495F-E243EA30201B}"/>
              </a:ext>
            </a:extLst>
          </p:cNvPr>
          <p:cNvSpPr/>
          <p:nvPr/>
        </p:nvSpPr>
        <p:spPr>
          <a:xfrm>
            <a:off x="3818259" y="3433980"/>
            <a:ext cx="219605" cy="41301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05831E4F-2C0F-A02C-990F-D9C8706F541F}"/>
              </a:ext>
            </a:extLst>
          </p:cNvPr>
          <p:cNvSpPr txBox="1"/>
          <p:nvPr/>
        </p:nvSpPr>
        <p:spPr>
          <a:xfrm>
            <a:off x="261734" y="4030961"/>
            <a:ext cx="2271425" cy="646331"/>
          </a:xfrm>
          <a:prstGeom prst="rect">
            <a:avLst/>
          </a:prstGeom>
          <a:noFill/>
        </p:spPr>
        <p:txBody>
          <a:bodyPr wrap="square" rtlCol="0">
            <a:spAutoFit/>
          </a:bodyPr>
          <a:lstStyle/>
          <a:p>
            <a:pPr algn="ctr"/>
            <a:r>
              <a:rPr lang="en-US" dirty="0"/>
              <a:t>Measure Terminology Service</a:t>
            </a:r>
          </a:p>
        </p:txBody>
      </p:sp>
      <p:cxnSp>
        <p:nvCxnSpPr>
          <p:cNvPr id="53" name="Straight Arrow Connector 52">
            <a:extLst>
              <a:ext uri="{FF2B5EF4-FFF2-40B4-BE49-F238E27FC236}">
                <a16:creationId xmlns:a16="http://schemas.microsoft.com/office/drawing/2014/main" id="{4FD14A96-E352-6A61-2910-61B488169FA2}"/>
              </a:ext>
            </a:extLst>
          </p:cNvPr>
          <p:cNvCxnSpPr>
            <a:cxnSpLocks/>
            <a:stCxn id="52" idx="3"/>
          </p:cNvCxnSpPr>
          <p:nvPr/>
        </p:nvCxnSpPr>
        <p:spPr>
          <a:xfrm flipV="1">
            <a:off x="2533159" y="3596659"/>
            <a:ext cx="1243573" cy="75746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60" name="TextBox 59">
            <a:extLst>
              <a:ext uri="{FF2B5EF4-FFF2-40B4-BE49-F238E27FC236}">
                <a16:creationId xmlns:a16="http://schemas.microsoft.com/office/drawing/2014/main" id="{DC006160-93CD-3929-9D1B-2BAB7CB52B45}"/>
              </a:ext>
            </a:extLst>
          </p:cNvPr>
          <p:cNvSpPr txBox="1"/>
          <p:nvPr/>
        </p:nvSpPr>
        <p:spPr>
          <a:xfrm>
            <a:off x="7892154" y="2376191"/>
            <a:ext cx="2113996" cy="369332"/>
          </a:xfrm>
          <a:prstGeom prst="rect">
            <a:avLst/>
          </a:prstGeom>
          <a:noFill/>
        </p:spPr>
        <p:txBody>
          <a:bodyPr wrap="square" rtlCol="0">
            <a:spAutoFit/>
          </a:bodyPr>
          <a:lstStyle/>
          <a:p>
            <a:r>
              <a:rPr lang="en-US" dirty="0"/>
              <a:t>Measure Repository</a:t>
            </a:r>
          </a:p>
        </p:txBody>
      </p:sp>
      <p:cxnSp>
        <p:nvCxnSpPr>
          <p:cNvPr id="61" name="Straight Arrow Connector 60">
            <a:extLst>
              <a:ext uri="{FF2B5EF4-FFF2-40B4-BE49-F238E27FC236}">
                <a16:creationId xmlns:a16="http://schemas.microsoft.com/office/drawing/2014/main" id="{C6680930-7A76-C633-4620-457A16D1F1B8}"/>
              </a:ext>
            </a:extLst>
          </p:cNvPr>
          <p:cNvCxnSpPr>
            <a:cxnSpLocks/>
          </p:cNvCxnSpPr>
          <p:nvPr/>
        </p:nvCxnSpPr>
        <p:spPr>
          <a:xfrm flipH="1">
            <a:off x="4713719" y="2618821"/>
            <a:ext cx="3178434" cy="2733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6" name="Rectangle 15">
            <a:extLst>
              <a:ext uri="{FF2B5EF4-FFF2-40B4-BE49-F238E27FC236}">
                <a16:creationId xmlns:a16="http://schemas.microsoft.com/office/drawing/2014/main" id="{226B7DF0-5F0B-3C70-2820-405461EFC76D}"/>
              </a:ext>
            </a:extLst>
          </p:cNvPr>
          <p:cNvSpPr/>
          <p:nvPr/>
        </p:nvSpPr>
        <p:spPr>
          <a:xfrm>
            <a:off x="2361282" y="898060"/>
            <a:ext cx="3296621" cy="3008373"/>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C6494D3-BCEB-28FD-5A7C-4729124C6C98}"/>
              </a:ext>
            </a:extLst>
          </p:cNvPr>
          <p:cNvSpPr txBox="1"/>
          <p:nvPr/>
        </p:nvSpPr>
        <p:spPr>
          <a:xfrm>
            <a:off x="197239" y="1137173"/>
            <a:ext cx="1011815" cy="461665"/>
          </a:xfrm>
          <a:prstGeom prst="rect">
            <a:avLst/>
          </a:prstGeom>
          <a:noFill/>
        </p:spPr>
        <p:txBody>
          <a:bodyPr wrap="none" rtlCol="0">
            <a:spAutoFit/>
          </a:bodyPr>
          <a:lstStyle/>
          <a:p>
            <a:r>
              <a:rPr lang="en-US" sz="2400" b="1" dirty="0"/>
              <a:t>QM IG</a:t>
            </a:r>
          </a:p>
        </p:txBody>
      </p:sp>
      <p:cxnSp>
        <p:nvCxnSpPr>
          <p:cNvPr id="19" name="Straight Arrow Connector 18">
            <a:extLst>
              <a:ext uri="{FF2B5EF4-FFF2-40B4-BE49-F238E27FC236}">
                <a16:creationId xmlns:a16="http://schemas.microsoft.com/office/drawing/2014/main" id="{A68DBF94-870D-B3E3-942C-B0BA43E20DE5}"/>
              </a:ext>
            </a:extLst>
          </p:cNvPr>
          <p:cNvCxnSpPr>
            <a:cxnSpLocks/>
          </p:cNvCxnSpPr>
          <p:nvPr/>
        </p:nvCxnSpPr>
        <p:spPr>
          <a:xfrm>
            <a:off x="1208098" y="1414480"/>
            <a:ext cx="1110363"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1" name="Rectangle 20">
            <a:extLst>
              <a:ext uri="{FF2B5EF4-FFF2-40B4-BE49-F238E27FC236}">
                <a16:creationId xmlns:a16="http://schemas.microsoft.com/office/drawing/2014/main" id="{076F5035-DC11-CE6C-3770-AAAC5BFE548A}"/>
              </a:ext>
            </a:extLst>
          </p:cNvPr>
          <p:cNvSpPr/>
          <p:nvPr/>
        </p:nvSpPr>
        <p:spPr>
          <a:xfrm>
            <a:off x="3432867" y="3540902"/>
            <a:ext cx="5397623" cy="1683415"/>
          </a:xfrm>
          <a:prstGeom prst="rect">
            <a:avLst/>
          </a:prstGeom>
          <a:noFill/>
          <a:ln w="38100">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EC01A6E1-5A4A-F9C7-34AD-54B576FEDC60}"/>
              </a:ext>
            </a:extLst>
          </p:cNvPr>
          <p:cNvSpPr txBox="1"/>
          <p:nvPr/>
        </p:nvSpPr>
        <p:spPr>
          <a:xfrm>
            <a:off x="10089233" y="4326672"/>
            <a:ext cx="1351204" cy="461665"/>
          </a:xfrm>
          <a:prstGeom prst="rect">
            <a:avLst/>
          </a:prstGeom>
          <a:noFill/>
        </p:spPr>
        <p:txBody>
          <a:bodyPr wrap="none" rtlCol="0">
            <a:spAutoFit/>
          </a:bodyPr>
          <a:lstStyle/>
          <a:p>
            <a:r>
              <a:rPr lang="en-US" sz="2400" b="1" dirty="0"/>
              <a:t>DEQM IG</a:t>
            </a:r>
          </a:p>
        </p:txBody>
      </p:sp>
      <p:cxnSp>
        <p:nvCxnSpPr>
          <p:cNvPr id="25" name="Straight Arrow Connector 24">
            <a:extLst>
              <a:ext uri="{FF2B5EF4-FFF2-40B4-BE49-F238E27FC236}">
                <a16:creationId xmlns:a16="http://schemas.microsoft.com/office/drawing/2014/main" id="{E51D8341-17B5-7FDF-7970-F7E42EDAF678}"/>
              </a:ext>
            </a:extLst>
          </p:cNvPr>
          <p:cNvCxnSpPr>
            <a:cxnSpLocks/>
            <a:stCxn id="24" idx="1"/>
          </p:cNvCxnSpPr>
          <p:nvPr/>
        </p:nvCxnSpPr>
        <p:spPr>
          <a:xfrm flipH="1">
            <a:off x="8905688" y="4557505"/>
            <a:ext cx="1183545"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924949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0B240845-8E57-362C-82D1-181D2144D62F}"/>
              </a:ext>
            </a:extLst>
          </p:cNvPr>
          <p:cNvGraphicFramePr>
            <a:graphicFrameLocks noGrp="1"/>
          </p:cNvGraphicFramePr>
          <p:nvPr>
            <p:extLst>
              <p:ext uri="{D42A27DB-BD31-4B8C-83A1-F6EECF244321}">
                <p14:modId xmlns:p14="http://schemas.microsoft.com/office/powerpoint/2010/main" val="2552319454"/>
              </p:ext>
            </p:extLst>
          </p:nvPr>
        </p:nvGraphicFramePr>
        <p:xfrm>
          <a:off x="2032000" y="1945640"/>
          <a:ext cx="8128000" cy="14833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780790197"/>
                    </a:ext>
                  </a:extLst>
                </a:gridCol>
                <a:gridCol w="2032000">
                  <a:extLst>
                    <a:ext uri="{9D8B030D-6E8A-4147-A177-3AD203B41FA5}">
                      <a16:colId xmlns:a16="http://schemas.microsoft.com/office/drawing/2014/main" val="2917348462"/>
                    </a:ext>
                  </a:extLst>
                </a:gridCol>
                <a:gridCol w="2032000">
                  <a:extLst>
                    <a:ext uri="{9D8B030D-6E8A-4147-A177-3AD203B41FA5}">
                      <a16:colId xmlns:a16="http://schemas.microsoft.com/office/drawing/2014/main" val="3783557471"/>
                    </a:ext>
                  </a:extLst>
                </a:gridCol>
                <a:gridCol w="2032000">
                  <a:extLst>
                    <a:ext uri="{9D8B030D-6E8A-4147-A177-3AD203B41FA5}">
                      <a16:colId xmlns:a16="http://schemas.microsoft.com/office/drawing/2014/main" val="118572835"/>
                    </a:ext>
                  </a:extLst>
                </a:gridCol>
              </a:tblGrid>
              <a:tr h="370840">
                <a:tc>
                  <a:txBody>
                    <a:bodyPr/>
                    <a:lstStyle/>
                    <a:p>
                      <a:r>
                        <a:rPr lang="en-US" dirty="0"/>
                        <a:t>US Core</a:t>
                      </a:r>
                    </a:p>
                  </a:txBody>
                  <a:tcPr/>
                </a:tc>
                <a:tc>
                  <a:txBody>
                    <a:bodyPr/>
                    <a:lstStyle/>
                    <a:p>
                      <a:r>
                        <a:rPr lang="en-US" dirty="0"/>
                        <a:t>QI Core</a:t>
                      </a:r>
                    </a:p>
                  </a:txBody>
                  <a:tcPr/>
                </a:tc>
                <a:tc>
                  <a:txBody>
                    <a:bodyPr/>
                    <a:lstStyle/>
                    <a:p>
                      <a:r>
                        <a:rPr lang="en-US" dirty="0"/>
                        <a:t>QM IG</a:t>
                      </a:r>
                    </a:p>
                  </a:txBody>
                  <a:tcPr/>
                </a:tc>
                <a:tc>
                  <a:txBody>
                    <a:bodyPr/>
                    <a:lstStyle/>
                    <a:p>
                      <a:r>
                        <a:rPr lang="en-US" dirty="0"/>
                        <a:t>DEQM IG</a:t>
                      </a:r>
                    </a:p>
                  </a:txBody>
                  <a:tcPr/>
                </a:tc>
                <a:extLst>
                  <a:ext uri="{0D108BD9-81ED-4DB2-BD59-A6C34878D82A}">
                    <a16:rowId xmlns:a16="http://schemas.microsoft.com/office/drawing/2014/main" val="1241963940"/>
                  </a:ext>
                </a:extLst>
              </a:tr>
              <a:tr h="370840">
                <a:tc>
                  <a:txBody>
                    <a:bodyPr/>
                    <a:lstStyle/>
                    <a:p>
                      <a:r>
                        <a:rPr lang="en-US" dirty="0"/>
                        <a:t>3.1.1</a:t>
                      </a:r>
                    </a:p>
                  </a:txBody>
                  <a:tcPr/>
                </a:tc>
                <a:tc>
                  <a:txBody>
                    <a:bodyPr/>
                    <a:lstStyle/>
                    <a:p>
                      <a:r>
                        <a:rPr lang="en-US" dirty="0"/>
                        <a:t>4.1.1</a:t>
                      </a:r>
                    </a:p>
                  </a:txBody>
                  <a:tcPr/>
                </a:tc>
                <a:tc>
                  <a:txBody>
                    <a:bodyPr/>
                    <a:lstStyle/>
                    <a:p>
                      <a:r>
                        <a:rPr lang="en-US" dirty="0"/>
                        <a:t>4.0.0</a:t>
                      </a:r>
                    </a:p>
                  </a:txBody>
                  <a:tcPr/>
                </a:tc>
                <a:tc>
                  <a:txBody>
                    <a:bodyPr/>
                    <a:lstStyle/>
                    <a:p>
                      <a:r>
                        <a:rPr lang="en-US" dirty="0"/>
                        <a:t>4.0.0</a:t>
                      </a:r>
                    </a:p>
                  </a:txBody>
                  <a:tcPr/>
                </a:tc>
                <a:extLst>
                  <a:ext uri="{0D108BD9-81ED-4DB2-BD59-A6C34878D82A}">
                    <a16:rowId xmlns:a16="http://schemas.microsoft.com/office/drawing/2014/main" val="2738434977"/>
                  </a:ext>
                </a:extLst>
              </a:tr>
              <a:tr h="370840">
                <a:tc>
                  <a:txBody>
                    <a:bodyPr/>
                    <a:lstStyle/>
                    <a:p>
                      <a:r>
                        <a:rPr lang="en-US" dirty="0"/>
                        <a:t>6.1.0</a:t>
                      </a:r>
                    </a:p>
                  </a:txBody>
                  <a:tcPr/>
                </a:tc>
                <a:tc>
                  <a:txBody>
                    <a:bodyPr/>
                    <a:lstStyle/>
                    <a:p>
                      <a:r>
                        <a:rPr lang="en-US" dirty="0"/>
                        <a:t>6.0.0</a:t>
                      </a:r>
                    </a:p>
                  </a:txBody>
                  <a:tcPr/>
                </a:tc>
                <a:tc>
                  <a:txBody>
                    <a:bodyPr/>
                    <a:lstStyle/>
                    <a:p>
                      <a:r>
                        <a:rPr lang="en-US" dirty="0"/>
                        <a:t>5.0.0</a:t>
                      </a:r>
                    </a:p>
                  </a:txBody>
                  <a:tcPr/>
                </a:tc>
                <a:tc>
                  <a:txBody>
                    <a:bodyPr/>
                    <a:lstStyle/>
                    <a:p>
                      <a:r>
                        <a:rPr lang="en-US" dirty="0"/>
                        <a:t>5.0.0</a:t>
                      </a:r>
                    </a:p>
                  </a:txBody>
                  <a:tcPr/>
                </a:tc>
                <a:extLst>
                  <a:ext uri="{0D108BD9-81ED-4DB2-BD59-A6C34878D82A}">
                    <a16:rowId xmlns:a16="http://schemas.microsoft.com/office/drawing/2014/main" val="3898374833"/>
                  </a:ext>
                </a:extLst>
              </a:tr>
              <a:tr h="370840">
                <a:tc>
                  <a:txBody>
                    <a:bodyPr/>
                    <a:lstStyle/>
                    <a:p>
                      <a:r>
                        <a:rPr lang="en-US" dirty="0"/>
                        <a:t>7.0.0</a:t>
                      </a:r>
                    </a:p>
                  </a:txBody>
                  <a:tcPr/>
                </a:tc>
                <a:tc>
                  <a:txBody>
                    <a:bodyPr/>
                    <a:lstStyle/>
                    <a:p>
                      <a:r>
                        <a:rPr lang="en-US" dirty="0"/>
                        <a:t>7.0.0?</a:t>
                      </a:r>
                    </a:p>
                  </a:txBody>
                  <a:tcPr/>
                </a:tc>
                <a:tc>
                  <a:txBody>
                    <a:bodyPr/>
                    <a:lstStyle/>
                    <a:p>
                      <a:r>
                        <a:rPr lang="en-US" dirty="0"/>
                        <a:t>6.0.0?</a:t>
                      </a:r>
                    </a:p>
                  </a:txBody>
                  <a:tcPr/>
                </a:tc>
                <a:tc>
                  <a:txBody>
                    <a:bodyPr/>
                    <a:lstStyle/>
                    <a:p>
                      <a:r>
                        <a:rPr lang="en-US" dirty="0"/>
                        <a:t>6.0.0?</a:t>
                      </a:r>
                    </a:p>
                  </a:txBody>
                  <a:tcPr/>
                </a:tc>
                <a:extLst>
                  <a:ext uri="{0D108BD9-81ED-4DB2-BD59-A6C34878D82A}">
                    <a16:rowId xmlns:a16="http://schemas.microsoft.com/office/drawing/2014/main" val="1643762129"/>
                  </a:ext>
                </a:extLst>
              </a:tr>
            </a:tbl>
          </a:graphicData>
        </a:graphic>
      </p:graphicFrame>
      <p:sp>
        <p:nvSpPr>
          <p:cNvPr id="10" name="TextBox 9">
            <a:extLst>
              <a:ext uri="{FF2B5EF4-FFF2-40B4-BE49-F238E27FC236}">
                <a16:creationId xmlns:a16="http://schemas.microsoft.com/office/drawing/2014/main" id="{A37E5B80-F137-0BA9-A8E2-C99C327C1E70}"/>
              </a:ext>
            </a:extLst>
          </p:cNvPr>
          <p:cNvSpPr txBox="1"/>
          <p:nvPr/>
        </p:nvSpPr>
        <p:spPr>
          <a:xfrm>
            <a:off x="4773478" y="1596325"/>
            <a:ext cx="521297" cy="369332"/>
          </a:xfrm>
          <a:prstGeom prst="rect">
            <a:avLst/>
          </a:prstGeom>
          <a:noFill/>
        </p:spPr>
        <p:txBody>
          <a:bodyPr wrap="none" rtlCol="0">
            <a:spAutoFit/>
          </a:bodyPr>
          <a:lstStyle/>
          <a:p>
            <a:r>
              <a:rPr lang="en-US" dirty="0"/>
              <a:t>SEP</a:t>
            </a:r>
          </a:p>
        </p:txBody>
      </p:sp>
      <p:sp>
        <p:nvSpPr>
          <p:cNvPr id="11" name="TextBox 10">
            <a:extLst>
              <a:ext uri="{FF2B5EF4-FFF2-40B4-BE49-F238E27FC236}">
                <a16:creationId xmlns:a16="http://schemas.microsoft.com/office/drawing/2014/main" id="{D94ABEA1-A0F2-B6C7-5D3B-A631EDBB5DA0}"/>
              </a:ext>
            </a:extLst>
          </p:cNvPr>
          <p:cNvSpPr txBox="1"/>
          <p:nvPr/>
        </p:nvSpPr>
        <p:spPr>
          <a:xfrm>
            <a:off x="6860585" y="1576308"/>
            <a:ext cx="536557" cy="369332"/>
          </a:xfrm>
          <a:prstGeom prst="rect">
            <a:avLst/>
          </a:prstGeom>
          <a:noFill/>
        </p:spPr>
        <p:txBody>
          <a:bodyPr wrap="none" rtlCol="0">
            <a:spAutoFit/>
          </a:bodyPr>
          <a:lstStyle/>
          <a:p>
            <a:r>
              <a:rPr lang="en-US" dirty="0"/>
              <a:t>JAN</a:t>
            </a:r>
          </a:p>
        </p:txBody>
      </p:sp>
      <p:sp>
        <p:nvSpPr>
          <p:cNvPr id="12" name="TextBox 11">
            <a:extLst>
              <a:ext uri="{FF2B5EF4-FFF2-40B4-BE49-F238E27FC236}">
                <a16:creationId xmlns:a16="http://schemas.microsoft.com/office/drawing/2014/main" id="{2ACE5FAB-E27E-25DF-534B-DE54723396F9}"/>
              </a:ext>
            </a:extLst>
          </p:cNvPr>
          <p:cNvSpPr txBox="1"/>
          <p:nvPr/>
        </p:nvSpPr>
        <p:spPr>
          <a:xfrm>
            <a:off x="8702303" y="1595983"/>
            <a:ext cx="610167" cy="369332"/>
          </a:xfrm>
          <a:prstGeom prst="rect">
            <a:avLst/>
          </a:prstGeom>
          <a:noFill/>
        </p:spPr>
        <p:txBody>
          <a:bodyPr wrap="none" rtlCol="0">
            <a:spAutoFit/>
          </a:bodyPr>
          <a:lstStyle/>
          <a:p>
            <a:r>
              <a:rPr lang="en-US" dirty="0"/>
              <a:t>MAY</a:t>
            </a:r>
          </a:p>
        </p:txBody>
      </p:sp>
      <p:sp>
        <p:nvSpPr>
          <p:cNvPr id="13" name="TextBox 12">
            <a:extLst>
              <a:ext uri="{FF2B5EF4-FFF2-40B4-BE49-F238E27FC236}">
                <a16:creationId xmlns:a16="http://schemas.microsoft.com/office/drawing/2014/main" id="{3BFEA727-8ABC-465B-2B02-1F6BC4CDB1BF}"/>
              </a:ext>
            </a:extLst>
          </p:cNvPr>
          <p:cNvSpPr txBox="1"/>
          <p:nvPr/>
        </p:nvSpPr>
        <p:spPr>
          <a:xfrm>
            <a:off x="10290874" y="2317988"/>
            <a:ext cx="652743" cy="369332"/>
          </a:xfrm>
          <a:prstGeom prst="rect">
            <a:avLst/>
          </a:prstGeom>
          <a:noFill/>
        </p:spPr>
        <p:txBody>
          <a:bodyPr wrap="none" rtlCol="0">
            <a:spAutoFit/>
          </a:bodyPr>
          <a:lstStyle/>
          <a:p>
            <a:r>
              <a:rPr lang="en-US" dirty="0"/>
              <a:t>2023</a:t>
            </a:r>
          </a:p>
        </p:txBody>
      </p:sp>
      <p:sp>
        <p:nvSpPr>
          <p:cNvPr id="15" name="TextBox 14">
            <a:extLst>
              <a:ext uri="{FF2B5EF4-FFF2-40B4-BE49-F238E27FC236}">
                <a16:creationId xmlns:a16="http://schemas.microsoft.com/office/drawing/2014/main" id="{E19A207F-2DE5-D238-1DD2-B4F64CCE947B}"/>
              </a:ext>
            </a:extLst>
          </p:cNvPr>
          <p:cNvSpPr txBox="1"/>
          <p:nvPr/>
        </p:nvSpPr>
        <p:spPr>
          <a:xfrm>
            <a:off x="10290872" y="2687320"/>
            <a:ext cx="652743" cy="369332"/>
          </a:xfrm>
          <a:prstGeom prst="rect">
            <a:avLst/>
          </a:prstGeom>
          <a:noFill/>
        </p:spPr>
        <p:txBody>
          <a:bodyPr wrap="none" rtlCol="0">
            <a:spAutoFit/>
          </a:bodyPr>
          <a:lstStyle/>
          <a:p>
            <a:r>
              <a:rPr lang="en-US" dirty="0"/>
              <a:t>2024</a:t>
            </a:r>
          </a:p>
        </p:txBody>
      </p:sp>
      <p:sp>
        <p:nvSpPr>
          <p:cNvPr id="16" name="TextBox 15">
            <a:extLst>
              <a:ext uri="{FF2B5EF4-FFF2-40B4-BE49-F238E27FC236}">
                <a16:creationId xmlns:a16="http://schemas.microsoft.com/office/drawing/2014/main" id="{0B1CB06C-62A3-3478-7EA4-3125ED9247BE}"/>
              </a:ext>
            </a:extLst>
          </p:cNvPr>
          <p:cNvSpPr txBox="1"/>
          <p:nvPr/>
        </p:nvSpPr>
        <p:spPr>
          <a:xfrm>
            <a:off x="10290872" y="3056652"/>
            <a:ext cx="652743" cy="369332"/>
          </a:xfrm>
          <a:prstGeom prst="rect">
            <a:avLst/>
          </a:prstGeom>
          <a:noFill/>
        </p:spPr>
        <p:txBody>
          <a:bodyPr wrap="none" rtlCol="0">
            <a:spAutoFit/>
          </a:bodyPr>
          <a:lstStyle/>
          <a:p>
            <a:r>
              <a:rPr lang="en-US" dirty="0"/>
              <a:t>2025</a:t>
            </a:r>
          </a:p>
        </p:txBody>
      </p:sp>
    </p:spTree>
    <p:extLst>
      <p:ext uri="{BB962C8B-B14F-4D97-AF65-F5344CB8AC3E}">
        <p14:creationId xmlns:p14="http://schemas.microsoft.com/office/powerpoint/2010/main" val="2112387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Chart 23">
            <a:extLst>
              <a:ext uri="{FF2B5EF4-FFF2-40B4-BE49-F238E27FC236}">
                <a16:creationId xmlns:a16="http://schemas.microsoft.com/office/drawing/2014/main" id="{394A4A7F-65BB-7F5E-40E7-7A6BC6C3373A}"/>
              </a:ext>
            </a:extLst>
          </p:cNvPr>
          <p:cNvGraphicFramePr/>
          <p:nvPr>
            <p:extLst>
              <p:ext uri="{D42A27DB-BD31-4B8C-83A1-F6EECF244321}">
                <p14:modId xmlns:p14="http://schemas.microsoft.com/office/powerpoint/2010/main" val="1342805159"/>
              </p:ext>
            </p:extLst>
          </p:nvPr>
        </p:nvGraphicFramePr>
        <p:xfrm>
          <a:off x="3195074" y="1454793"/>
          <a:ext cx="5786120" cy="3948414"/>
        </p:xfrm>
        <a:graphic>
          <a:graphicData uri="http://schemas.openxmlformats.org/drawingml/2006/chart">
            <c:chart xmlns:c="http://schemas.openxmlformats.org/drawingml/2006/chart" xmlns:r="http://schemas.openxmlformats.org/officeDocument/2006/relationships" r:id="rId2"/>
          </a:graphicData>
        </a:graphic>
      </p:graphicFrame>
      <p:sp>
        <p:nvSpPr>
          <p:cNvPr id="2" name="Arrow: Circular 1">
            <a:extLst>
              <a:ext uri="{FF2B5EF4-FFF2-40B4-BE49-F238E27FC236}">
                <a16:creationId xmlns:a16="http://schemas.microsoft.com/office/drawing/2014/main" id="{4681636B-CFDA-3536-0320-0C7D995F7EB4}"/>
              </a:ext>
            </a:extLst>
          </p:cNvPr>
          <p:cNvSpPr/>
          <p:nvPr/>
        </p:nvSpPr>
        <p:spPr>
          <a:xfrm>
            <a:off x="4093270" y="1454793"/>
            <a:ext cx="4005460" cy="3931023"/>
          </a:xfrm>
          <a:prstGeom prst="circularArrow">
            <a:avLst>
              <a:gd name="adj1" fmla="val 7549"/>
              <a:gd name="adj2" fmla="val 441083"/>
              <a:gd name="adj3" fmla="val 11274795"/>
              <a:gd name="adj4" fmla="val 12242425"/>
              <a:gd name="adj5" fmla="val 707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TextBox 2">
            <a:extLst>
              <a:ext uri="{FF2B5EF4-FFF2-40B4-BE49-F238E27FC236}">
                <a16:creationId xmlns:a16="http://schemas.microsoft.com/office/drawing/2014/main" id="{144A4D06-FC05-C7A7-D312-434934C17431}"/>
              </a:ext>
            </a:extLst>
          </p:cNvPr>
          <p:cNvSpPr txBox="1"/>
          <p:nvPr/>
        </p:nvSpPr>
        <p:spPr>
          <a:xfrm>
            <a:off x="3863086" y="2685252"/>
            <a:ext cx="423514" cy="307777"/>
          </a:xfrm>
          <a:prstGeom prst="rect">
            <a:avLst/>
          </a:prstGeom>
          <a:noFill/>
        </p:spPr>
        <p:txBody>
          <a:bodyPr wrap="none" rtlCol="0">
            <a:spAutoFit/>
          </a:bodyPr>
          <a:lstStyle/>
          <a:p>
            <a:r>
              <a:rPr lang="en-US" sz="1400" dirty="0"/>
              <a:t>Jan</a:t>
            </a:r>
          </a:p>
        </p:txBody>
      </p:sp>
      <p:sp>
        <p:nvSpPr>
          <p:cNvPr id="4" name="TextBox 3">
            <a:extLst>
              <a:ext uri="{FF2B5EF4-FFF2-40B4-BE49-F238E27FC236}">
                <a16:creationId xmlns:a16="http://schemas.microsoft.com/office/drawing/2014/main" id="{B72BA0D4-63CE-B2C2-6782-52303F50C451}"/>
              </a:ext>
            </a:extLst>
          </p:cNvPr>
          <p:cNvSpPr txBox="1"/>
          <p:nvPr/>
        </p:nvSpPr>
        <p:spPr>
          <a:xfrm>
            <a:off x="7357162" y="1798104"/>
            <a:ext cx="503536" cy="307777"/>
          </a:xfrm>
          <a:prstGeom prst="rect">
            <a:avLst/>
          </a:prstGeom>
          <a:noFill/>
        </p:spPr>
        <p:txBody>
          <a:bodyPr wrap="none" rtlCol="0">
            <a:spAutoFit/>
          </a:bodyPr>
          <a:lstStyle/>
          <a:p>
            <a:r>
              <a:rPr lang="en-US" sz="1400" dirty="0"/>
              <a:t>May</a:t>
            </a:r>
          </a:p>
        </p:txBody>
      </p:sp>
      <p:sp>
        <p:nvSpPr>
          <p:cNvPr id="5" name="TextBox 4">
            <a:extLst>
              <a:ext uri="{FF2B5EF4-FFF2-40B4-BE49-F238E27FC236}">
                <a16:creationId xmlns:a16="http://schemas.microsoft.com/office/drawing/2014/main" id="{2830DC5A-A55C-BADC-2279-CAA491DFAB76}"/>
              </a:ext>
            </a:extLst>
          </p:cNvPr>
          <p:cNvSpPr txBox="1"/>
          <p:nvPr/>
        </p:nvSpPr>
        <p:spPr>
          <a:xfrm>
            <a:off x="6383585" y="5258014"/>
            <a:ext cx="450764" cy="307777"/>
          </a:xfrm>
          <a:prstGeom prst="rect">
            <a:avLst/>
          </a:prstGeom>
          <a:noFill/>
        </p:spPr>
        <p:txBody>
          <a:bodyPr wrap="none" rtlCol="0">
            <a:spAutoFit/>
          </a:bodyPr>
          <a:lstStyle/>
          <a:p>
            <a:r>
              <a:rPr lang="en-US" sz="1400" dirty="0"/>
              <a:t>Sep</a:t>
            </a:r>
          </a:p>
        </p:txBody>
      </p:sp>
      <p:sp>
        <p:nvSpPr>
          <p:cNvPr id="7" name="TextBox 6">
            <a:extLst>
              <a:ext uri="{FF2B5EF4-FFF2-40B4-BE49-F238E27FC236}">
                <a16:creationId xmlns:a16="http://schemas.microsoft.com/office/drawing/2014/main" id="{215617B2-255A-EA27-964C-D3A629C9B2A2}"/>
              </a:ext>
            </a:extLst>
          </p:cNvPr>
          <p:cNvSpPr txBox="1"/>
          <p:nvPr/>
        </p:nvSpPr>
        <p:spPr>
          <a:xfrm>
            <a:off x="4386704" y="1782972"/>
            <a:ext cx="448136" cy="307777"/>
          </a:xfrm>
          <a:prstGeom prst="rect">
            <a:avLst/>
          </a:prstGeom>
          <a:noFill/>
        </p:spPr>
        <p:txBody>
          <a:bodyPr wrap="none" rtlCol="0">
            <a:spAutoFit/>
          </a:bodyPr>
          <a:lstStyle/>
          <a:p>
            <a:r>
              <a:rPr lang="en-US" sz="1400" dirty="0"/>
              <a:t>Feb</a:t>
            </a:r>
          </a:p>
        </p:txBody>
      </p:sp>
      <p:sp>
        <p:nvSpPr>
          <p:cNvPr id="8" name="TextBox 7">
            <a:extLst>
              <a:ext uri="{FF2B5EF4-FFF2-40B4-BE49-F238E27FC236}">
                <a16:creationId xmlns:a16="http://schemas.microsoft.com/office/drawing/2014/main" id="{0B0ECA59-7BD7-F0EE-55F5-A468D0EE9B3C}"/>
              </a:ext>
            </a:extLst>
          </p:cNvPr>
          <p:cNvSpPr txBox="1"/>
          <p:nvPr/>
        </p:nvSpPr>
        <p:spPr>
          <a:xfrm>
            <a:off x="5378784" y="1300904"/>
            <a:ext cx="487634" cy="307777"/>
          </a:xfrm>
          <a:prstGeom prst="rect">
            <a:avLst/>
          </a:prstGeom>
          <a:noFill/>
        </p:spPr>
        <p:txBody>
          <a:bodyPr wrap="none" rtlCol="0">
            <a:spAutoFit/>
          </a:bodyPr>
          <a:lstStyle/>
          <a:p>
            <a:r>
              <a:rPr lang="en-US" sz="1400" dirty="0"/>
              <a:t>Mar</a:t>
            </a:r>
          </a:p>
        </p:txBody>
      </p:sp>
      <p:sp>
        <p:nvSpPr>
          <p:cNvPr id="9" name="TextBox 8">
            <a:extLst>
              <a:ext uri="{FF2B5EF4-FFF2-40B4-BE49-F238E27FC236}">
                <a16:creationId xmlns:a16="http://schemas.microsoft.com/office/drawing/2014/main" id="{16A6B700-1DCA-7713-5E16-A1756F9D74B2}"/>
              </a:ext>
            </a:extLst>
          </p:cNvPr>
          <p:cNvSpPr txBox="1"/>
          <p:nvPr/>
        </p:nvSpPr>
        <p:spPr>
          <a:xfrm>
            <a:off x="6349346" y="1300904"/>
            <a:ext cx="445956" cy="307777"/>
          </a:xfrm>
          <a:prstGeom prst="rect">
            <a:avLst/>
          </a:prstGeom>
          <a:noFill/>
        </p:spPr>
        <p:txBody>
          <a:bodyPr wrap="none" rtlCol="0">
            <a:spAutoFit/>
          </a:bodyPr>
          <a:lstStyle/>
          <a:p>
            <a:r>
              <a:rPr lang="en-US" sz="1400" dirty="0"/>
              <a:t>Apr</a:t>
            </a:r>
          </a:p>
        </p:txBody>
      </p:sp>
      <p:sp>
        <p:nvSpPr>
          <p:cNvPr id="10" name="TextBox 9">
            <a:extLst>
              <a:ext uri="{FF2B5EF4-FFF2-40B4-BE49-F238E27FC236}">
                <a16:creationId xmlns:a16="http://schemas.microsoft.com/office/drawing/2014/main" id="{08D8B34D-4EA6-2E20-06AB-565CA6F26F87}"/>
              </a:ext>
            </a:extLst>
          </p:cNvPr>
          <p:cNvSpPr txBox="1"/>
          <p:nvPr/>
        </p:nvSpPr>
        <p:spPr>
          <a:xfrm>
            <a:off x="7927182" y="2774594"/>
            <a:ext cx="431528" cy="307777"/>
          </a:xfrm>
          <a:prstGeom prst="rect">
            <a:avLst/>
          </a:prstGeom>
          <a:noFill/>
        </p:spPr>
        <p:txBody>
          <a:bodyPr wrap="none" rtlCol="0">
            <a:spAutoFit/>
          </a:bodyPr>
          <a:lstStyle/>
          <a:p>
            <a:r>
              <a:rPr lang="en-US" sz="1400" dirty="0"/>
              <a:t>Jun</a:t>
            </a:r>
          </a:p>
        </p:txBody>
      </p:sp>
      <p:sp>
        <p:nvSpPr>
          <p:cNvPr id="11" name="TextBox 10">
            <a:extLst>
              <a:ext uri="{FF2B5EF4-FFF2-40B4-BE49-F238E27FC236}">
                <a16:creationId xmlns:a16="http://schemas.microsoft.com/office/drawing/2014/main" id="{F7253019-DFA8-AA7E-0538-94448DE772C2}"/>
              </a:ext>
            </a:extLst>
          </p:cNvPr>
          <p:cNvSpPr txBox="1"/>
          <p:nvPr/>
        </p:nvSpPr>
        <p:spPr>
          <a:xfrm>
            <a:off x="7953631" y="3737519"/>
            <a:ext cx="378630" cy="307777"/>
          </a:xfrm>
          <a:prstGeom prst="rect">
            <a:avLst/>
          </a:prstGeom>
          <a:noFill/>
        </p:spPr>
        <p:txBody>
          <a:bodyPr wrap="none" rtlCol="0">
            <a:spAutoFit/>
          </a:bodyPr>
          <a:lstStyle/>
          <a:p>
            <a:r>
              <a:rPr lang="en-US" sz="1400" dirty="0"/>
              <a:t>Jul</a:t>
            </a:r>
          </a:p>
        </p:txBody>
      </p:sp>
      <p:sp>
        <p:nvSpPr>
          <p:cNvPr id="12" name="TextBox 11">
            <a:extLst>
              <a:ext uri="{FF2B5EF4-FFF2-40B4-BE49-F238E27FC236}">
                <a16:creationId xmlns:a16="http://schemas.microsoft.com/office/drawing/2014/main" id="{40F2306E-AFF0-C51E-2724-BB37AF8A6B96}"/>
              </a:ext>
            </a:extLst>
          </p:cNvPr>
          <p:cNvSpPr txBox="1"/>
          <p:nvPr/>
        </p:nvSpPr>
        <p:spPr>
          <a:xfrm>
            <a:off x="7357162" y="4744087"/>
            <a:ext cx="468398" cy="307777"/>
          </a:xfrm>
          <a:prstGeom prst="rect">
            <a:avLst/>
          </a:prstGeom>
          <a:noFill/>
        </p:spPr>
        <p:txBody>
          <a:bodyPr wrap="none" rtlCol="0">
            <a:spAutoFit/>
          </a:bodyPr>
          <a:lstStyle/>
          <a:p>
            <a:r>
              <a:rPr lang="en-US" sz="1400" dirty="0"/>
              <a:t>Aug</a:t>
            </a:r>
          </a:p>
        </p:txBody>
      </p:sp>
      <p:sp>
        <p:nvSpPr>
          <p:cNvPr id="13" name="TextBox 12">
            <a:extLst>
              <a:ext uri="{FF2B5EF4-FFF2-40B4-BE49-F238E27FC236}">
                <a16:creationId xmlns:a16="http://schemas.microsoft.com/office/drawing/2014/main" id="{F79CCFD8-DF01-AE72-5CD2-E8C0BD63DFA4}"/>
              </a:ext>
            </a:extLst>
          </p:cNvPr>
          <p:cNvSpPr txBox="1"/>
          <p:nvPr/>
        </p:nvSpPr>
        <p:spPr>
          <a:xfrm>
            <a:off x="5402829" y="5249318"/>
            <a:ext cx="439544" cy="307777"/>
          </a:xfrm>
          <a:prstGeom prst="rect">
            <a:avLst/>
          </a:prstGeom>
          <a:noFill/>
        </p:spPr>
        <p:txBody>
          <a:bodyPr wrap="none" rtlCol="0">
            <a:spAutoFit/>
          </a:bodyPr>
          <a:lstStyle/>
          <a:p>
            <a:r>
              <a:rPr lang="en-US" sz="1400" dirty="0"/>
              <a:t>Oct</a:t>
            </a:r>
          </a:p>
        </p:txBody>
      </p:sp>
      <p:sp>
        <p:nvSpPr>
          <p:cNvPr id="14" name="TextBox 13">
            <a:extLst>
              <a:ext uri="{FF2B5EF4-FFF2-40B4-BE49-F238E27FC236}">
                <a16:creationId xmlns:a16="http://schemas.microsoft.com/office/drawing/2014/main" id="{2B831CF1-BF19-3A73-784C-30F8DAAC7B78}"/>
              </a:ext>
            </a:extLst>
          </p:cNvPr>
          <p:cNvSpPr txBox="1"/>
          <p:nvPr/>
        </p:nvSpPr>
        <p:spPr>
          <a:xfrm>
            <a:off x="4386704" y="4744086"/>
            <a:ext cx="475643" cy="307777"/>
          </a:xfrm>
          <a:prstGeom prst="rect">
            <a:avLst/>
          </a:prstGeom>
          <a:noFill/>
        </p:spPr>
        <p:txBody>
          <a:bodyPr wrap="none" rtlCol="0">
            <a:spAutoFit/>
          </a:bodyPr>
          <a:lstStyle/>
          <a:p>
            <a:r>
              <a:rPr lang="en-US" sz="1400" dirty="0"/>
              <a:t>Nov</a:t>
            </a:r>
          </a:p>
        </p:txBody>
      </p:sp>
      <p:sp>
        <p:nvSpPr>
          <p:cNvPr id="15" name="TextBox 14">
            <a:extLst>
              <a:ext uri="{FF2B5EF4-FFF2-40B4-BE49-F238E27FC236}">
                <a16:creationId xmlns:a16="http://schemas.microsoft.com/office/drawing/2014/main" id="{6182C983-246A-EA91-7A68-BC865A6E986C}"/>
              </a:ext>
            </a:extLst>
          </p:cNvPr>
          <p:cNvSpPr txBox="1"/>
          <p:nvPr/>
        </p:nvSpPr>
        <p:spPr>
          <a:xfrm>
            <a:off x="3777988" y="3737519"/>
            <a:ext cx="460382" cy="307777"/>
          </a:xfrm>
          <a:prstGeom prst="rect">
            <a:avLst/>
          </a:prstGeom>
          <a:noFill/>
        </p:spPr>
        <p:txBody>
          <a:bodyPr wrap="none" rtlCol="0">
            <a:spAutoFit/>
          </a:bodyPr>
          <a:lstStyle/>
          <a:p>
            <a:r>
              <a:rPr lang="en-US" sz="1400" dirty="0"/>
              <a:t>Dec</a:t>
            </a:r>
          </a:p>
        </p:txBody>
      </p:sp>
      <p:sp>
        <p:nvSpPr>
          <p:cNvPr id="25" name="TextBox 24">
            <a:extLst>
              <a:ext uri="{FF2B5EF4-FFF2-40B4-BE49-F238E27FC236}">
                <a16:creationId xmlns:a16="http://schemas.microsoft.com/office/drawing/2014/main" id="{9B893D9D-4A58-4FF2-C77A-7189354BA636}"/>
              </a:ext>
            </a:extLst>
          </p:cNvPr>
          <p:cNvSpPr txBox="1"/>
          <p:nvPr/>
        </p:nvSpPr>
        <p:spPr>
          <a:xfrm>
            <a:off x="8028432" y="1719749"/>
            <a:ext cx="1589089" cy="369332"/>
          </a:xfrm>
          <a:prstGeom prst="rect">
            <a:avLst/>
          </a:prstGeom>
          <a:noFill/>
        </p:spPr>
        <p:txBody>
          <a:bodyPr wrap="none" rtlCol="0">
            <a:spAutoFit/>
          </a:bodyPr>
          <a:lstStyle/>
          <a:p>
            <a:r>
              <a:rPr lang="en-US" dirty="0"/>
              <a:t>Annual Update</a:t>
            </a:r>
          </a:p>
        </p:txBody>
      </p:sp>
      <p:pic>
        <p:nvPicPr>
          <p:cNvPr id="26" name="Picture 2" descr="Voting - Free hands and gestures icons">
            <a:hlinkClick r:id="rId3"/>
            <a:extLst>
              <a:ext uri="{FF2B5EF4-FFF2-40B4-BE49-F238E27FC236}">
                <a16:creationId xmlns:a16="http://schemas.microsoft.com/office/drawing/2014/main" id="{641EA26D-110F-CE7F-E19A-B4E1D81C89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1854" y="2695328"/>
            <a:ext cx="297701" cy="29770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 descr="Voting - Free hands and gestures icons">
            <a:hlinkClick r:id="rId5"/>
            <a:extLst>
              <a:ext uri="{FF2B5EF4-FFF2-40B4-BE49-F238E27FC236}">
                <a16:creationId xmlns:a16="http://schemas.microsoft.com/office/drawing/2014/main" id="{E9A65997-7C9D-5965-896A-33DBD2286E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4896" y="1408314"/>
            <a:ext cx="297701" cy="29770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Voting - Free hands and gestures icons">
            <a:hlinkClick r:id="rId6"/>
            <a:extLst>
              <a:ext uri="{FF2B5EF4-FFF2-40B4-BE49-F238E27FC236}">
                <a16:creationId xmlns:a16="http://schemas.microsoft.com/office/drawing/2014/main" id="{3E299F3C-169C-99E3-14D6-73894D4D0F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85498" y="5565791"/>
            <a:ext cx="297701" cy="297701"/>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E00818BB-B1C1-473A-4F0B-92F30806BE17}"/>
              </a:ext>
            </a:extLst>
          </p:cNvPr>
          <p:cNvSpPr txBox="1"/>
          <p:nvPr/>
        </p:nvSpPr>
        <p:spPr>
          <a:xfrm>
            <a:off x="6949218" y="6026076"/>
            <a:ext cx="835678" cy="369332"/>
          </a:xfrm>
          <a:prstGeom prst="rect">
            <a:avLst/>
          </a:prstGeom>
          <a:noFill/>
        </p:spPr>
        <p:txBody>
          <a:bodyPr wrap="none" rtlCol="0">
            <a:spAutoFit/>
          </a:bodyPr>
          <a:lstStyle/>
          <a:p>
            <a:r>
              <a:rPr lang="en-US" dirty="0" err="1"/>
              <a:t>QICore</a:t>
            </a:r>
            <a:endParaRPr lang="en-US" dirty="0"/>
          </a:p>
        </p:txBody>
      </p:sp>
      <p:sp>
        <p:nvSpPr>
          <p:cNvPr id="30" name="TextBox 29">
            <a:extLst>
              <a:ext uri="{FF2B5EF4-FFF2-40B4-BE49-F238E27FC236}">
                <a16:creationId xmlns:a16="http://schemas.microsoft.com/office/drawing/2014/main" id="{626689E8-34DB-3410-FBB6-9AFE4CE1C604}"/>
              </a:ext>
            </a:extLst>
          </p:cNvPr>
          <p:cNvSpPr txBox="1"/>
          <p:nvPr/>
        </p:nvSpPr>
        <p:spPr>
          <a:xfrm>
            <a:off x="2575331" y="2302757"/>
            <a:ext cx="875753" cy="369332"/>
          </a:xfrm>
          <a:prstGeom prst="rect">
            <a:avLst/>
          </a:prstGeom>
          <a:noFill/>
        </p:spPr>
        <p:txBody>
          <a:bodyPr wrap="none" rtlCol="0">
            <a:spAutoFit/>
          </a:bodyPr>
          <a:lstStyle/>
          <a:p>
            <a:r>
              <a:rPr lang="en-US" dirty="0" err="1"/>
              <a:t>USCore</a:t>
            </a:r>
            <a:endParaRPr lang="en-US" dirty="0"/>
          </a:p>
        </p:txBody>
      </p:sp>
      <p:sp>
        <p:nvSpPr>
          <p:cNvPr id="31" name="TextBox 30">
            <a:extLst>
              <a:ext uri="{FF2B5EF4-FFF2-40B4-BE49-F238E27FC236}">
                <a16:creationId xmlns:a16="http://schemas.microsoft.com/office/drawing/2014/main" id="{DCD13BA4-102F-7CBD-1703-2B802922E563}"/>
              </a:ext>
            </a:extLst>
          </p:cNvPr>
          <p:cNvSpPr txBox="1"/>
          <p:nvPr/>
        </p:nvSpPr>
        <p:spPr>
          <a:xfrm>
            <a:off x="1555266" y="2743816"/>
            <a:ext cx="793807" cy="369332"/>
          </a:xfrm>
          <a:prstGeom prst="rect">
            <a:avLst/>
          </a:prstGeom>
          <a:noFill/>
        </p:spPr>
        <p:txBody>
          <a:bodyPr wrap="none" rtlCol="0">
            <a:spAutoFit/>
          </a:bodyPr>
          <a:lstStyle/>
          <a:p>
            <a:r>
              <a:rPr lang="en-US" dirty="0"/>
              <a:t>QM IG</a:t>
            </a:r>
          </a:p>
        </p:txBody>
      </p:sp>
      <p:sp>
        <p:nvSpPr>
          <p:cNvPr id="32" name="TextBox 31">
            <a:extLst>
              <a:ext uri="{FF2B5EF4-FFF2-40B4-BE49-F238E27FC236}">
                <a16:creationId xmlns:a16="http://schemas.microsoft.com/office/drawing/2014/main" id="{C4E7E89D-CD70-9174-F926-186D4F683CE7}"/>
              </a:ext>
            </a:extLst>
          </p:cNvPr>
          <p:cNvSpPr txBox="1"/>
          <p:nvPr/>
        </p:nvSpPr>
        <p:spPr>
          <a:xfrm>
            <a:off x="8050128" y="1039772"/>
            <a:ext cx="1045094" cy="369332"/>
          </a:xfrm>
          <a:prstGeom prst="rect">
            <a:avLst/>
          </a:prstGeom>
          <a:noFill/>
        </p:spPr>
        <p:txBody>
          <a:bodyPr wrap="none" rtlCol="0">
            <a:spAutoFit/>
          </a:bodyPr>
          <a:lstStyle/>
          <a:p>
            <a:r>
              <a:rPr lang="en-US" dirty="0"/>
              <a:t>DEQM IG</a:t>
            </a:r>
          </a:p>
        </p:txBody>
      </p:sp>
    </p:spTree>
    <p:extLst>
      <p:ext uri="{BB962C8B-B14F-4D97-AF65-F5344CB8AC3E}">
        <p14:creationId xmlns:p14="http://schemas.microsoft.com/office/powerpoint/2010/main" val="787935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79A08AB-8A1E-F3CD-B4DC-83218F19410B}"/>
              </a:ext>
            </a:extLst>
          </p:cNvPr>
          <p:cNvSpPr/>
          <p:nvPr/>
        </p:nvSpPr>
        <p:spPr>
          <a:xfrm>
            <a:off x="1872206" y="1753564"/>
            <a:ext cx="1504708" cy="9375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EP/EC</a:t>
            </a:r>
          </a:p>
        </p:txBody>
      </p:sp>
      <p:sp>
        <p:nvSpPr>
          <p:cNvPr id="3" name="Rectangle 2">
            <a:extLst>
              <a:ext uri="{FF2B5EF4-FFF2-40B4-BE49-F238E27FC236}">
                <a16:creationId xmlns:a16="http://schemas.microsoft.com/office/drawing/2014/main" id="{6FD59363-2482-0C5D-F646-66FA00C95479}"/>
              </a:ext>
            </a:extLst>
          </p:cNvPr>
          <p:cNvSpPr/>
          <p:nvPr/>
        </p:nvSpPr>
        <p:spPr>
          <a:xfrm>
            <a:off x="1872206" y="3976870"/>
            <a:ext cx="1504708" cy="9375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EH</a:t>
            </a:r>
          </a:p>
        </p:txBody>
      </p:sp>
      <p:sp>
        <p:nvSpPr>
          <p:cNvPr id="4" name="Rectangle 3">
            <a:extLst>
              <a:ext uri="{FF2B5EF4-FFF2-40B4-BE49-F238E27FC236}">
                <a16:creationId xmlns:a16="http://schemas.microsoft.com/office/drawing/2014/main" id="{D1524A48-6488-330C-912E-9049579A5E11}"/>
              </a:ext>
            </a:extLst>
          </p:cNvPr>
          <p:cNvSpPr/>
          <p:nvPr/>
        </p:nvSpPr>
        <p:spPr>
          <a:xfrm>
            <a:off x="8127359" y="1599236"/>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CMS124</a:t>
            </a:r>
          </a:p>
        </p:txBody>
      </p:sp>
      <p:sp>
        <p:nvSpPr>
          <p:cNvPr id="5" name="Rectangle 4">
            <a:extLst>
              <a:ext uri="{FF2B5EF4-FFF2-40B4-BE49-F238E27FC236}">
                <a16:creationId xmlns:a16="http://schemas.microsoft.com/office/drawing/2014/main" id="{68F4B722-65C5-7637-E011-5CAC815C9F77}"/>
              </a:ext>
            </a:extLst>
          </p:cNvPr>
          <p:cNvSpPr/>
          <p:nvPr/>
        </p:nvSpPr>
        <p:spPr>
          <a:xfrm>
            <a:off x="8127359" y="2062222"/>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CMS125</a:t>
            </a:r>
          </a:p>
        </p:txBody>
      </p:sp>
      <p:sp>
        <p:nvSpPr>
          <p:cNvPr id="6" name="Rectangle 5">
            <a:extLst>
              <a:ext uri="{FF2B5EF4-FFF2-40B4-BE49-F238E27FC236}">
                <a16:creationId xmlns:a16="http://schemas.microsoft.com/office/drawing/2014/main" id="{F18E565F-53F2-75F7-70D2-93FF8339C9AC}"/>
              </a:ext>
            </a:extLst>
          </p:cNvPr>
          <p:cNvSpPr/>
          <p:nvPr/>
        </p:nvSpPr>
        <p:spPr>
          <a:xfrm>
            <a:off x="8127359" y="2509775"/>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CMS130</a:t>
            </a:r>
          </a:p>
        </p:txBody>
      </p:sp>
      <p:sp>
        <p:nvSpPr>
          <p:cNvPr id="7" name="Rectangle 6">
            <a:extLst>
              <a:ext uri="{FF2B5EF4-FFF2-40B4-BE49-F238E27FC236}">
                <a16:creationId xmlns:a16="http://schemas.microsoft.com/office/drawing/2014/main" id="{E6DD8DD1-BEAA-EF05-335D-4510CA796390}"/>
              </a:ext>
            </a:extLst>
          </p:cNvPr>
          <p:cNvSpPr/>
          <p:nvPr/>
        </p:nvSpPr>
        <p:spPr>
          <a:xfrm>
            <a:off x="8127359" y="4067537"/>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CMS108</a:t>
            </a:r>
          </a:p>
        </p:txBody>
      </p:sp>
      <p:sp>
        <p:nvSpPr>
          <p:cNvPr id="8" name="Rectangle 7">
            <a:extLst>
              <a:ext uri="{FF2B5EF4-FFF2-40B4-BE49-F238E27FC236}">
                <a16:creationId xmlns:a16="http://schemas.microsoft.com/office/drawing/2014/main" id="{A99DF194-3A8B-E026-EA58-611FD348D1B5}"/>
              </a:ext>
            </a:extLst>
          </p:cNvPr>
          <p:cNvSpPr/>
          <p:nvPr/>
        </p:nvSpPr>
        <p:spPr>
          <a:xfrm>
            <a:off x="8127359" y="4552710"/>
            <a:ext cx="1504708" cy="308658"/>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CMS109</a:t>
            </a:r>
          </a:p>
        </p:txBody>
      </p:sp>
      <p:sp>
        <p:nvSpPr>
          <p:cNvPr id="9" name="Rectangle 8">
            <a:extLst>
              <a:ext uri="{FF2B5EF4-FFF2-40B4-BE49-F238E27FC236}">
                <a16:creationId xmlns:a16="http://schemas.microsoft.com/office/drawing/2014/main" id="{A571591A-7805-497A-3B80-E3C1803C5387}"/>
              </a:ext>
            </a:extLst>
          </p:cNvPr>
          <p:cNvSpPr/>
          <p:nvPr/>
        </p:nvSpPr>
        <p:spPr>
          <a:xfrm>
            <a:off x="4471686" y="1599235"/>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CMS124 Manifest</a:t>
            </a:r>
          </a:p>
        </p:txBody>
      </p:sp>
      <p:sp>
        <p:nvSpPr>
          <p:cNvPr id="10" name="Rectangle 9">
            <a:extLst>
              <a:ext uri="{FF2B5EF4-FFF2-40B4-BE49-F238E27FC236}">
                <a16:creationId xmlns:a16="http://schemas.microsoft.com/office/drawing/2014/main" id="{37216F1D-6C98-9319-A509-3E154A21D23C}"/>
              </a:ext>
            </a:extLst>
          </p:cNvPr>
          <p:cNvSpPr/>
          <p:nvPr/>
        </p:nvSpPr>
        <p:spPr>
          <a:xfrm>
            <a:off x="4471686" y="2062221"/>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CMS125 Manifest</a:t>
            </a:r>
          </a:p>
        </p:txBody>
      </p:sp>
      <p:sp>
        <p:nvSpPr>
          <p:cNvPr id="11" name="Rectangle 10">
            <a:extLst>
              <a:ext uri="{FF2B5EF4-FFF2-40B4-BE49-F238E27FC236}">
                <a16:creationId xmlns:a16="http://schemas.microsoft.com/office/drawing/2014/main" id="{8A364AAF-E0C2-66F3-C636-AF925F831070}"/>
              </a:ext>
            </a:extLst>
          </p:cNvPr>
          <p:cNvSpPr/>
          <p:nvPr/>
        </p:nvSpPr>
        <p:spPr>
          <a:xfrm>
            <a:off x="4471686" y="2509774"/>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CMS130 Manifest</a:t>
            </a:r>
          </a:p>
        </p:txBody>
      </p:sp>
      <p:sp>
        <p:nvSpPr>
          <p:cNvPr id="12" name="Rectangle 11">
            <a:extLst>
              <a:ext uri="{FF2B5EF4-FFF2-40B4-BE49-F238E27FC236}">
                <a16:creationId xmlns:a16="http://schemas.microsoft.com/office/drawing/2014/main" id="{D0F6ADE2-8DAC-5A7C-D8FC-D03C0B5D45B1}"/>
              </a:ext>
            </a:extLst>
          </p:cNvPr>
          <p:cNvSpPr/>
          <p:nvPr/>
        </p:nvSpPr>
        <p:spPr>
          <a:xfrm>
            <a:off x="4471686" y="4067536"/>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CMS108 Manifest</a:t>
            </a:r>
          </a:p>
        </p:txBody>
      </p:sp>
      <p:sp>
        <p:nvSpPr>
          <p:cNvPr id="13" name="Rectangle 12">
            <a:extLst>
              <a:ext uri="{FF2B5EF4-FFF2-40B4-BE49-F238E27FC236}">
                <a16:creationId xmlns:a16="http://schemas.microsoft.com/office/drawing/2014/main" id="{D871930C-99A2-FBF6-0F6F-C103A6D37BD5}"/>
              </a:ext>
            </a:extLst>
          </p:cNvPr>
          <p:cNvSpPr/>
          <p:nvPr/>
        </p:nvSpPr>
        <p:spPr>
          <a:xfrm>
            <a:off x="4471686" y="4552709"/>
            <a:ext cx="2970836" cy="308659"/>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CMS109 Manifest</a:t>
            </a:r>
          </a:p>
        </p:txBody>
      </p:sp>
      <p:cxnSp>
        <p:nvCxnSpPr>
          <p:cNvPr id="15" name="Straight Arrow Connector 14">
            <a:extLst>
              <a:ext uri="{FF2B5EF4-FFF2-40B4-BE49-F238E27FC236}">
                <a16:creationId xmlns:a16="http://schemas.microsoft.com/office/drawing/2014/main" id="{78DFFE7C-B7AB-3962-DA06-DE00CE1923DB}"/>
              </a:ext>
            </a:extLst>
          </p:cNvPr>
          <p:cNvCxnSpPr>
            <a:cxnSpLocks/>
            <a:stCxn id="2" idx="3"/>
            <a:endCxn id="9" idx="1"/>
          </p:cNvCxnSpPr>
          <p:nvPr/>
        </p:nvCxnSpPr>
        <p:spPr>
          <a:xfrm flipV="1">
            <a:off x="3376914" y="1753565"/>
            <a:ext cx="1094772" cy="46877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18" name="Straight Arrow Connector 17">
            <a:extLst>
              <a:ext uri="{FF2B5EF4-FFF2-40B4-BE49-F238E27FC236}">
                <a16:creationId xmlns:a16="http://schemas.microsoft.com/office/drawing/2014/main" id="{939BC3E6-B728-5D87-2C9C-629FFF60AED1}"/>
              </a:ext>
            </a:extLst>
          </p:cNvPr>
          <p:cNvCxnSpPr>
            <a:cxnSpLocks/>
            <a:stCxn id="2" idx="3"/>
            <a:endCxn id="10" idx="1"/>
          </p:cNvCxnSpPr>
          <p:nvPr/>
        </p:nvCxnSpPr>
        <p:spPr>
          <a:xfrm flipV="1">
            <a:off x="3376914" y="2216551"/>
            <a:ext cx="1094772" cy="5788"/>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1" name="Straight Arrow Connector 20">
            <a:extLst>
              <a:ext uri="{FF2B5EF4-FFF2-40B4-BE49-F238E27FC236}">
                <a16:creationId xmlns:a16="http://schemas.microsoft.com/office/drawing/2014/main" id="{8AA2DF03-EB9D-1345-A3F9-6F699B3C3C8A}"/>
              </a:ext>
            </a:extLst>
          </p:cNvPr>
          <p:cNvCxnSpPr>
            <a:cxnSpLocks/>
            <a:stCxn id="2" idx="3"/>
            <a:endCxn id="11" idx="1"/>
          </p:cNvCxnSpPr>
          <p:nvPr/>
        </p:nvCxnSpPr>
        <p:spPr>
          <a:xfrm>
            <a:off x="3376914" y="2222339"/>
            <a:ext cx="1094772" cy="441765"/>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4" name="Straight Arrow Connector 23">
            <a:extLst>
              <a:ext uri="{FF2B5EF4-FFF2-40B4-BE49-F238E27FC236}">
                <a16:creationId xmlns:a16="http://schemas.microsoft.com/office/drawing/2014/main" id="{BCF5F167-5152-FAFB-E7C2-085586742D73}"/>
              </a:ext>
            </a:extLst>
          </p:cNvPr>
          <p:cNvCxnSpPr>
            <a:cxnSpLocks/>
            <a:stCxn id="3" idx="3"/>
            <a:endCxn id="12" idx="1"/>
          </p:cNvCxnSpPr>
          <p:nvPr/>
        </p:nvCxnSpPr>
        <p:spPr>
          <a:xfrm flipV="1">
            <a:off x="3376914" y="4221866"/>
            <a:ext cx="1094772" cy="223779"/>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27" name="Straight Arrow Connector 26">
            <a:extLst>
              <a:ext uri="{FF2B5EF4-FFF2-40B4-BE49-F238E27FC236}">
                <a16:creationId xmlns:a16="http://schemas.microsoft.com/office/drawing/2014/main" id="{E644F45E-9274-87CE-8CF1-782BEFB63F77}"/>
              </a:ext>
            </a:extLst>
          </p:cNvPr>
          <p:cNvCxnSpPr>
            <a:cxnSpLocks/>
            <a:stCxn id="3" idx="3"/>
            <a:endCxn id="13" idx="1"/>
          </p:cNvCxnSpPr>
          <p:nvPr/>
        </p:nvCxnSpPr>
        <p:spPr>
          <a:xfrm>
            <a:off x="3376914" y="4445645"/>
            <a:ext cx="1094772" cy="26139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0" name="Straight Arrow Connector 29">
            <a:extLst>
              <a:ext uri="{FF2B5EF4-FFF2-40B4-BE49-F238E27FC236}">
                <a16:creationId xmlns:a16="http://schemas.microsoft.com/office/drawing/2014/main" id="{6B8988F7-10BA-AC05-8CAF-F2CA722B45CE}"/>
              </a:ext>
            </a:extLst>
          </p:cNvPr>
          <p:cNvCxnSpPr>
            <a:cxnSpLocks/>
            <a:stCxn id="9" idx="3"/>
            <a:endCxn id="4" idx="1"/>
          </p:cNvCxnSpPr>
          <p:nvPr/>
        </p:nvCxnSpPr>
        <p:spPr>
          <a:xfrm>
            <a:off x="7442522" y="1753565"/>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3" name="Straight Arrow Connector 32">
            <a:extLst>
              <a:ext uri="{FF2B5EF4-FFF2-40B4-BE49-F238E27FC236}">
                <a16:creationId xmlns:a16="http://schemas.microsoft.com/office/drawing/2014/main" id="{CA026CAE-F2D3-82AD-B2EC-88BBDED42C3E}"/>
              </a:ext>
            </a:extLst>
          </p:cNvPr>
          <p:cNvCxnSpPr>
            <a:cxnSpLocks/>
            <a:stCxn id="10" idx="3"/>
            <a:endCxn id="5" idx="1"/>
          </p:cNvCxnSpPr>
          <p:nvPr/>
        </p:nvCxnSpPr>
        <p:spPr>
          <a:xfrm>
            <a:off x="7442522" y="2216551"/>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6" name="Straight Arrow Connector 35">
            <a:extLst>
              <a:ext uri="{FF2B5EF4-FFF2-40B4-BE49-F238E27FC236}">
                <a16:creationId xmlns:a16="http://schemas.microsoft.com/office/drawing/2014/main" id="{DD013909-1E54-C2AB-475C-94C276C2DBE2}"/>
              </a:ext>
            </a:extLst>
          </p:cNvPr>
          <p:cNvCxnSpPr>
            <a:cxnSpLocks/>
            <a:stCxn id="11" idx="3"/>
            <a:endCxn id="6" idx="1"/>
          </p:cNvCxnSpPr>
          <p:nvPr/>
        </p:nvCxnSpPr>
        <p:spPr>
          <a:xfrm>
            <a:off x="7442522" y="2664104"/>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39" name="Straight Arrow Connector 38">
            <a:extLst>
              <a:ext uri="{FF2B5EF4-FFF2-40B4-BE49-F238E27FC236}">
                <a16:creationId xmlns:a16="http://schemas.microsoft.com/office/drawing/2014/main" id="{8862355A-0217-C8B0-E2AE-EB84071B3154}"/>
              </a:ext>
            </a:extLst>
          </p:cNvPr>
          <p:cNvCxnSpPr>
            <a:cxnSpLocks/>
            <a:stCxn id="12" idx="3"/>
            <a:endCxn id="7" idx="1"/>
          </p:cNvCxnSpPr>
          <p:nvPr/>
        </p:nvCxnSpPr>
        <p:spPr>
          <a:xfrm>
            <a:off x="7442522" y="4221866"/>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2" name="Straight Arrow Connector 41">
            <a:extLst>
              <a:ext uri="{FF2B5EF4-FFF2-40B4-BE49-F238E27FC236}">
                <a16:creationId xmlns:a16="http://schemas.microsoft.com/office/drawing/2014/main" id="{675C5CFC-110A-5617-5949-284B105D0CCA}"/>
              </a:ext>
            </a:extLst>
          </p:cNvPr>
          <p:cNvCxnSpPr>
            <a:cxnSpLocks/>
            <a:stCxn id="13" idx="3"/>
            <a:endCxn id="8" idx="1"/>
          </p:cNvCxnSpPr>
          <p:nvPr/>
        </p:nvCxnSpPr>
        <p:spPr>
          <a:xfrm>
            <a:off x="7442522" y="4707039"/>
            <a:ext cx="684837"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964611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AC6F0EBC-BBD3-E065-0F2B-0A4F52CA06CD}"/>
              </a:ext>
            </a:extLst>
          </p:cNvPr>
          <p:cNvSpPr/>
          <p:nvPr/>
        </p:nvSpPr>
        <p:spPr>
          <a:xfrm>
            <a:off x="8548761" y="237810"/>
            <a:ext cx="238012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D87028CC-297C-66D3-B351-A08647A25D95}"/>
              </a:ext>
            </a:extLst>
          </p:cNvPr>
          <p:cNvSpPr txBox="1"/>
          <p:nvPr/>
        </p:nvSpPr>
        <p:spPr>
          <a:xfrm>
            <a:off x="9222093" y="265686"/>
            <a:ext cx="1033464" cy="307777"/>
          </a:xfrm>
          <a:prstGeom prst="rect">
            <a:avLst/>
          </a:prstGeom>
          <a:noFill/>
        </p:spPr>
        <p:txBody>
          <a:bodyPr wrap="square" rtlCol="0">
            <a:spAutoFit/>
          </a:bodyPr>
          <a:lstStyle/>
          <a:p>
            <a:r>
              <a:rPr lang="en-US" sz="1400" dirty="0"/>
              <a:t>Executable</a:t>
            </a:r>
          </a:p>
        </p:txBody>
      </p:sp>
      <p:sp>
        <p:nvSpPr>
          <p:cNvPr id="25" name="Rectangle 24">
            <a:extLst>
              <a:ext uri="{FF2B5EF4-FFF2-40B4-BE49-F238E27FC236}">
                <a16:creationId xmlns:a16="http://schemas.microsoft.com/office/drawing/2014/main" id="{473B0B20-BCB7-5D3B-BE7A-DD478AFB07C1}"/>
              </a:ext>
            </a:extLst>
          </p:cNvPr>
          <p:cNvSpPr/>
          <p:nvPr/>
        </p:nvSpPr>
        <p:spPr>
          <a:xfrm>
            <a:off x="6024739" y="237810"/>
            <a:ext cx="238012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2B453D36-AE77-92B2-94DA-7658AFCD05C6}"/>
              </a:ext>
            </a:extLst>
          </p:cNvPr>
          <p:cNvSpPr txBox="1"/>
          <p:nvPr/>
        </p:nvSpPr>
        <p:spPr>
          <a:xfrm>
            <a:off x="6742961" y="261449"/>
            <a:ext cx="1027845" cy="307777"/>
          </a:xfrm>
          <a:prstGeom prst="rect">
            <a:avLst/>
          </a:prstGeom>
          <a:noFill/>
        </p:spPr>
        <p:txBody>
          <a:bodyPr wrap="none" rtlCol="0">
            <a:spAutoFit/>
          </a:bodyPr>
          <a:lstStyle/>
          <a:p>
            <a:r>
              <a:rPr lang="en-US" sz="1400" dirty="0"/>
              <a:t>Publishable</a:t>
            </a:r>
          </a:p>
        </p:txBody>
      </p:sp>
      <p:sp>
        <p:nvSpPr>
          <p:cNvPr id="13" name="Rectangle 12">
            <a:extLst>
              <a:ext uri="{FF2B5EF4-FFF2-40B4-BE49-F238E27FC236}">
                <a16:creationId xmlns:a16="http://schemas.microsoft.com/office/drawing/2014/main" id="{FD7F77F2-46EB-2FF6-4BC1-4A3E457698DB}"/>
              </a:ext>
            </a:extLst>
          </p:cNvPr>
          <p:cNvSpPr/>
          <p:nvPr/>
        </p:nvSpPr>
        <p:spPr>
          <a:xfrm>
            <a:off x="3437407" y="242047"/>
            <a:ext cx="244343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086C0026-57E9-5DE4-CAFE-8F6F92863E71}"/>
              </a:ext>
            </a:extLst>
          </p:cNvPr>
          <p:cNvSpPr/>
          <p:nvPr/>
        </p:nvSpPr>
        <p:spPr>
          <a:xfrm>
            <a:off x="916531" y="231529"/>
            <a:ext cx="2380129" cy="3742765"/>
          </a:xfrm>
          <a:prstGeom prst="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F1BAC946-3846-1041-1DC7-FCB88DCF1723}"/>
              </a:ext>
            </a:extLst>
          </p:cNvPr>
          <p:cNvSpPr/>
          <p:nvPr/>
        </p:nvSpPr>
        <p:spPr>
          <a:xfrm>
            <a:off x="1128539" y="654422"/>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CRMIShareableLibrary</a:t>
            </a:r>
          </a:p>
        </p:txBody>
      </p:sp>
      <p:sp>
        <p:nvSpPr>
          <p:cNvPr id="3" name="Rectangle 2">
            <a:extLst>
              <a:ext uri="{FF2B5EF4-FFF2-40B4-BE49-F238E27FC236}">
                <a16:creationId xmlns:a16="http://schemas.microsoft.com/office/drawing/2014/main" id="{33378C57-0A88-B750-FCB7-8B36745F5BF7}"/>
              </a:ext>
            </a:extLst>
          </p:cNvPr>
          <p:cNvSpPr/>
          <p:nvPr/>
        </p:nvSpPr>
        <p:spPr>
          <a:xfrm>
            <a:off x="6096000" y="658907"/>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CRMIPublishableLibrary</a:t>
            </a:r>
          </a:p>
        </p:txBody>
      </p:sp>
      <p:sp>
        <p:nvSpPr>
          <p:cNvPr id="4" name="Rectangle 3">
            <a:extLst>
              <a:ext uri="{FF2B5EF4-FFF2-40B4-BE49-F238E27FC236}">
                <a16:creationId xmlns:a16="http://schemas.microsoft.com/office/drawing/2014/main" id="{A0F95890-3476-575F-0C44-B64D2C77A8DF}"/>
              </a:ext>
            </a:extLst>
          </p:cNvPr>
          <p:cNvSpPr/>
          <p:nvPr/>
        </p:nvSpPr>
        <p:spPr>
          <a:xfrm>
            <a:off x="3555626" y="654423"/>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CRMIComputableLibrary</a:t>
            </a:r>
          </a:p>
        </p:txBody>
      </p:sp>
      <p:sp>
        <p:nvSpPr>
          <p:cNvPr id="5" name="Rectangle 4">
            <a:extLst>
              <a:ext uri="{FF2B5EF4-FFF2-40B4-BE49-F238E27FC236}">
                <a16:creationId xmlns:a16="http://schemas.microsoft.com/office/drawing/2014/main" id="{9622CCF1-230D-D997-58DB-2DF98ADE9BF7}"/>
              </a:ext>
            </a:extLst>
          </p:cNvPr>
          <p:cNvSpPr/>
          <p:nvPr/>
        </p:nvSpPr>
        <p:spPr>
          <a:xfrm>
            <a:off x="8636374" y="654422"/>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CRMIExecutableLibrary</a:t>
            </a:r>
          </a:p>
        </p:txBody>
      </p:sp>
      <p:sp>
        <p:nvSpPr>
          <p:cNvPr id="6" name="Rectangle 5">
            <a:extLst>
              <a:ext uri="{FF2B5EF4-FFF2-40B4-BE49-F238E27FC236}">
                <a16:creationId xmlns:a16="http://schemas.microsoft.com/office/drawing/2014/main" id="{54049C91-4965-624D-2112-FCFC5FD09717}"/>
              </a:ext>
            </a:extLst>
          </p:cNvPr>
          <p:cNvSpPr/>
          <p:nvPr/>
        </p:nvSpPr>
        <p:spPr>
          <a:xfrm>
            <a:off x="1128533" y="900394"/>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CRMIShareableMeasure</a:t>
            </a:r>
          </a:p>
        </p:txBody>
      </p:sp>
      <p:sp>
        <p:nvSpPr>
          <p:cNvPr id="7" name="Rectangle 6">
            <a:extLst>
              <a:ext uri="{FF2B5EF4-FFF2-40B4-BE49-F238E27FC236}">
                <a16:creationId xmlns:a16="http://schemas.microsoft.com/office/drawing/2014/main" id="{F70F4D4F-DDD6-492A-F8BA-697796D53344}"/>
              </a:ext>
            </a:extLst>
          </p:cNvPr>
          <p:cNvSpPr/>
          <p:nvPr/>
        </p:nvSpPr>
        <p:spPr>
          <a:xfrm>
            <a:off x="6096001" y="913281"/>
            <a:ext cx="1983447" cy="194991"/>
          </a:xfrm>
          <a:prstGeom prst="rect">
            <a:avLst/>
          </a:prstGeom>
          <a:solidFill>
            <a:schemeClr val="bg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CRMIPublishableMeasure</a:t>
            </a:r>
          </a:p>
        </p:txBody>
      </p:sp>
      <p:sp>
        <p:nvSpPr>
          <p:cNvPr id="10" name="Rectangle 9">
            <a:extLst>
              <a:ext uri="{FF2B5EF4-FFF2-40B4-BE49-F238E27FC236}">
                <a16:creationId xmlns:a16="http://schemas.microsoft.com/office/drawing/2014/main" id="{EB35DEFD-9345-D14F-2EEC-307FC34BFAAF}"/>
              </a:ext>
            </a:extLst>
          </p:cNvPr>
          <p:cNvSpPr/>
          <p:nvPr/>
        </p:nvSpPr>
        <p:spPr>
          <a:xfrm>
            <a:off x="3555623" y="3414307"/>
            <a:ext cx="1983447" cy="194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CQLLibrary</a:t>
            </a:r>
          </a:p>
        </p:txBody>
      </p:sp>
      <p:sp>
        <p:nvSpPr>
          <p:cNvPr id="11" name="Rectangle 10">
            <a:extLst>
              <a:ext uri="{FF2B5EF4-FFF2-40B4-BE49-F238E27FC236}">
                <a16:creationId xmlns:a16="http://schemas.microsoft.com/office/drawing/2014/main" id="{432078E0-3B0C-27C4-846E-7011AE10933F}"/>
              </a:ext>
            </a:extLst>
          </p:cNvPr>
          <p:cNvSpPr/>
          <p:nvPr/>
        </p:nvSpPr>
        <p:spPr>
          <a:xfrm>
            <a:off x="8636374" y="3408502"/>
            <a:ext cx="1983447" cy="194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ELMJSONLibrary</a:t>
            </a:r>
          </a:p>
        </p:txBody>
      </p:sp>
      <p:sp>
        <p:nvSpPr>
          <p:cNvPr id="12" name="Rectangle 11">
            <a:extLst>
              <a:ext uri="{FF2B5EF4-FFF2-40B4-BE49-F238E27FC236}">
                <a16:creationId xmlns:a16="http://schemas.microsoft.com/office/drawing/2014/main" id="{A92E811F-56F3-E02F-0651-0E1674D00D69}"/>
              </a:ext>
            </a:extLst>
          </p:cNvPr>
          <p:cNvSpPr/>
          <p:nvPr/>
        </p:nvSpPr>
        <p:spPr>
          <a:xfrm>
            <a:off x="8636374" y="3669608"/>
            <a:ext cx="1983447" cy="19499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ELMXMLLibrary</a:t>
            </a:r>
          </a:p>
        </p:txBody>
      </p:sp>
      <p:sp>
        <p:nvSpPr>
          <p:cNvPr id="14" name="Rectangle 13">
            <a:extLst>
              <a:ext uri="{FF2B5EF4-FFF2-40B4-BE49-F238E27FC236}">
                <a16:creationId xmlns:a16="http://schemas.microsoft.com/office/drawing/2014/main" id="{49AAB1F0-0F88-BC28-45F7-47E3E7841205}"/>
              </a:ext>
            </a:extLst>
          </p:cNvPr>
          <p:cNvSpPr/>
          <p:nvPr/>
        </p:nvSpPr>
        <p:spPr>
          <a:xfrm>
            <a:off x="3555626" y="1344699"/>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CQFMComputableMeasure</a:t>
            </a:r>
          </a:p>
        </p:txBody>
      </p:sp>
      <p:sp>
        <p:nvSpPr>
          <p:cNvPr id="15" name="Rectangle 14">
            <a:extLst>
              <a:ext uri="{FF2B5EF4-FFF2-40B4-BE49-F238E27FC236}">
                <a16:creationId xmlns:a16="http://schemas.microsoft.com/office/drawing/2014/main" id="{D380C2BB-5D62-FE93-6E78-739D6026342D}"/>
              </a:ext>
            </a:extLst>
          </p:cNvPr>
          <p:cNvSpPr/>
          <p:nvPr/>
        </p:nvSpPr>
        <p:spPr>
          <a:xfrm>
            <a:off x="8636374" y="1340221"/>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CQFMExecutableMeasure</a:t>
            </a:r>
          </a:p>
        </p:txBody>
      </p:sp>
      <p:sp>
        <p:nvSpPr>
          <p:cNvPr id="16" name="Rectangle 15">
            <a:extLst>
              <a:ext uri="{FF2B5EF4-FFF2-40B4-BE49-F238E27FC236}">
                <a16:creationId xmlns:a16="http://schemas.microsoft.com/office/drawing/2014/main" id="{8AA71426-7A89-00DF-735E-D8D6674E622F}"/>
              </a:ext>
            </a:extLst>
          </p:cNvPr>
          <p:cNvSpPr/>
          <p:nvPr/>
        </p:nvSpPr>
        <p:spPr>
          <a:xfrm>
            <a:off x="6096000" y="1339098"/>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CQFMPublishableMeasure</a:t>
            </a:r>
          </a:p>
        </p:txBody>
      </p:sp>
      <p:sp>
        <p:nvSpPr>
          <p:cNvPr id="17" name="Rectangle 16">
            <a:extLst>
              <a:ext uri="{FF2B5EF4-FFF2-40B4-BE49-F238E27FC236}">
                <a16:creationId xmlns:a16="http://schemas.microsoft.com/office/drawing/2014/main" id="{16B46281-7691-4A3A-BF05-E2DCBD7704B5}"/>
              </a:ext>
            </a:extLst>
          </p:cNvPr>
          <p:cNvSpPr/>
          <p:nvPr/>
        </p:nvSpPr>
        <p:spPr>
          <a:xfrm>
            <a:off x="3824567" y="1627653"/>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CQFMCohortMeasure</a:t>
            </a:r>
          </a:p>
        </p:txBody>
      </p:sp>
      <p:sp>
        <p:nvSpPr>
          <p:cNvPr id="18" name="Rectangle 17">
            <a:extLst>
              <a:ext uri="{FF2B5EF4-FFF2-40B4-BE49-F238E27FC236}">
                <a16:creationId xmlns:a16="http://schemas.microsoft.com/office/drawing/2014/main" id="{48C3FC94-F587-A2A3-E8BA-435B02632512}"/>
              </a:ext>
            </a:extLst>
          </p:cNvPr>
          <p:cNvSpPr/>
          <p:nvPr/>
        </p:nvSpPr>
        <p:spPr>
          <a:xfrm>
            <a:off x="3824567" y="1894353"/>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CQFMProportionMeasure</a:t>
            </a:r>
          </a:p>
        </p:txBody>
      </p:sp>
      <p:sp>
        <p:nvSpPr>
          <p:cNvPr id="19" name="Rectangle 18">
            <a:extLst>
              <a:ext uri="{FF2B5EF4-FFF2-40B4-BE49-F238E27FC236}">
                <a16:creationId xmlns:a16="http://schemas.microsoft.com/office/drawing/2014/main" id="{AEFD5C0E-DEEF-520F-E8B0-390023183381}"/>
              </a:ext>
            </a:extLst>
          </p:cNvPr>
          <p:cNvSpPr/>
          <p:nvPr/>
        </p:nvSpPr>
        <p:spPr>
          <a:xfrm>
            <a:off x="3824567" y="2156571"/>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CQFMRatioMeasure</a:t>
            </a:r>
          </a:p>
        </p:txBody>
      </p:sp>
      <p:sp>
        <p:nvSpPr>
          <p:cNvPr id="20" name="Rectangle 19">
            <a:extLst>
              <a:ext uri="{FF2B5EF4-FFF2-40B4-BE49-F238E27FC236}">
                <a16:creationId xmlns:a16="http://schemas.microsoft.com/office/drawing/2014/main" id="{8F83054E-3BA9-4E8D-659A-B6FB951276F2}"/>
              </a:ext>
            </a:extLst>
          </p:cNvPr>
          <p:cNvSpPr/>
          <p:nvPr/>
        </p:nvSpPr>
        <p:spPr>
          <a:xfrm>
            <a:off x="3824566" y="2418789"/>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CQFMContinuousVariableMeasure</a:t>
            </a:r>
          </a:p>
        </p:txBody>
      </p:sp>
      <p:sp>
        <p:nvSpPr>
          <p:cNvPr id="21" name="Rectangle 20">
            <a:extLst>
              <a:ext uri="{FF2B5EF4-FFF2-40B4-BE49-F238E27FC236}">
                <a16:creationId xmlns:a16="http://schemas.microsoft.com/office/drawing/2014/main" id="{2A18EAFF-36DD-0BB4-590D-CE4C0E2CDF55}"/>
              </a:ext>
            </a:extLst>
          </p:cNvPr>
          <p:cNvSpPr/>
          <p:nvPr/>
        </p:nvSpPr>
        <p:spPr>
          <a:xfrm>
            <a:off x="3824566" y="2677640"/>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CQFMCompositeMeasure</a:t>
            </a:r>
          </a:p>
        </p:txBody>
      </p:sp>
      <p:sp>
        <p:nvSpPr>
          <p:cNvPr id="22" name="Rectangle 21">
            <a:extLst>
              <a:ext uri="{FF2B5EF4-FFF2-40B4-BE49-F238E27FC236}">
                <a16:creationId xmlns:a16="http://schemas.microsoft.com/office/drawing/2014/main" id="{3DB51C1D-60A8-FC1D-FD6C-D46397629F8B}"/>
              </a:ext>
            </a:extLst>
          </p:cNvPr>
          <p:cNvSpPr/>
          <p:nvPr/>
        </p:nvSpPr>
        <p:spPr>
          <a:xfrm>
            <a:off x="3555624" y="3078674"/>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CQLMeasure</a:t>
            </a:r>
          </a:p>
        </p:txBody>
      </p:sp>
      <p:sp>
        <p:nvSpPr>
          <p:cNvPr id="23" name="Rectangle 22">
            <a:extLst>
              <a:ext uri="{FF2B5EF4-FFF2-40B4-BE49-F238E27FC236}">
                <a16:creationId xmlns:a16="http://schemas.microsoft.com/office/drawing/2014/main" id="{7C83644E-82F1-0DA1-E588-E7D86A577177}"/>
              </a:ext>
            </a:extLst>
          </p:cNvPr>
          <p:cNvSpPr/>
          <p:nvPr/>
        </p:nvSpPr>
        <p:spPr>
          <a:xfrm>
            <a:off x="8636374" y="3007646"/>
            <a:ext cx="1983447" cy="194991"/>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ELMMeasure</a:t>
            </a:r>
          </a:p>
        </p:txBody>
      </p:sp>
      <p:sp>
        <p:nvSpPr>
          <p:cNvPr id="31" name="Arrow: Right 30">
            <a:extLst>
              <a:ext uri="{FF2B5EF4-FFF2-40B4-BE49-F238E27FC236}">
                <a16:creationId xmlns:a16="http://schemas.microsoft.com/office/drawing/2014/main" id="{ABD033C1-0D7F-347C-8262-0A712C349548}"/>
              </a:ext>
            </a:extLst>
          </p:cNvPr>
          <p:cNvSpPr/>
          <p:nvPr/>
        </p:nvSpPr>
        <p:spPr>
          <a:xfrm rot="16200000">
            <a:off x="6163907" y="1161828"/>
            <a:ext cx="164061" cy="10824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Arrow: Right 31">
            <a:extLst>
              <a:ext uri="{FF2B5EF4-FFF2-40B4-BE49-F238E27FC236}">
                <a16:creationId xmlns:a16="http://schemas.microsoft.com/office/drawing/2014/main" id="{CB48FE19-C284-134D-2A87-85FEF7F3BA7D}"/>
              </a:ext>
            </a:extLst>
          </p:cNvPr>
          <p:cNvSpPr/>
          <p:nvPr/>
        </p:nvSpPr>
        <p:spPr>
          <a:xfrm rot="16200000">
            <a:off x="3031853" y="2118713"/>
            <a:ext cx="1231222" cy="13232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EF7EB8E-26D1-610D-746A-0A5EABDE9ADB}"/>
              </a:ext>
            </a:extLst>
          </p:cNvPr>
          <p:cNvSpPr/>
          <p:nvPr/>
        </p:nvSpPr>
        <p:spPr>
          <a:xfrm>
            <a:off x="3621944" y="2734374"/>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16B509E-0452-B7F1-6736-D39EAC9FA371}"/>
              </a:ext>
            </a:extLst>
          </p:cNvPr>
          <p:cNvSpPr/>
          <p:nvPr/>
        </p:nvSpPr>
        <p:spPr>
          <a:xfrm>
            <a:off x="3617972" y="2482111"/>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52A621DB-43DB-7656-911C-E1003D7E3709}"/>
              </a:ext>
            </a:extLst>
          </p:cNvPr>
          <p:cNvSpPr/>
          <p:nvPr/>
        </p:nvSpPr>
        <p:spPr>
          <a:xfrm>
            <a:off x="3619902" y="2238092"/>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E417EB0-0333-EA39-A8C0-08E019CBC7F8}"/>
              </a:ext>
            </a:extLst>
          </p:cNvPr>
          <p:cNvSpPr/>
          <p:nvPr/>
        </p:nvSpPr>
        <p:spPr>
          <a:xfrm>
            <a:off x="3619035" y="1962698"/>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158FEBE-F846-0F5D-71B8-E540971277F7}"/>
              </a:ext>
            </a:extLst>
          </p:cNvPr>
          <p:cNvSpPr/>
          <p:nvPr/>
        </p:nvSpPr>
        <p:spPr>
          <a:xfrm>
            <a:off x="3616553" y="1698142"/>
            <a:ext cx="183368" cy="661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6803CE4C-9EFF-6A81-5A8E-20CE0BCC4DC5}"/>
              </a:ext>
            </a:extLst>
          </p:cNvPr>
          <p:cNvSpPr txBox="1"/>
          <p:nvPr/>
        </p:nvSpPr>
        <p:spPr>
          <a:xfrm>
            <a:off x="3161602" y="4586559"/>
            <a:ext cx="2991225" cy="553998"/>
          </a:xfrm>
          <a:prstGeom prst="rect">
            <a:avLst/>
          </a:prstGeom>
          <a:noFill/>
        </p:spPr>
        <p:txBody>
          <a:bodyPr wrap="square" rtlCol="0">
            <a:spAutoFit/>
          </a:bodyPr>
          <a:lstStyle/>
          <a:p>
            <a:pPr marL="285750" indent="-285750">
              <a:buFont typeface="Arial" panose="020B0604020202020204" pitchFamily="34" charset="0"/>
              <a:buChar char="•"/>
            </a:pPr>
            <a:r>
              <a:rPr lang="en-US" sz="1000" dirty="0"/>
              <a:t>All expression-valued elements SHALL use text/</a:t>
            </a:r>
            <a:r>
              <a:rPr lang="en-US" sz="1000" dirty="0" err="1"/>
              <a:t>cql</a:t>
            </a:r>
            <a:r>
              <a:rPr lang="en-US" sz="1000" dirty="0"/>
              <a:t>-identifier or text/</a:t>
            </a:r>
            <a:r>
              <a:rPr lang="en-US" sz="1000" dirty="0" err="1"/>
              <a:t>cql</a:t>
            </a:r>
            <a:r>
              <a:rPr lang="en-US" sz="1000" dirty="0"/>
              <a:t>-expression</a:t>
            </a:r>
          </a:p>
          <a:p>
            <a:pPr marL="285750" indent="-285750">
              <a:buFont typeface="Arial" panose="020B0604020202020204" pitchFamily="34" charset="0"/>
              <a:buChar char="•"/>
            </a:pPr>
            <a:r>
              <a:rPr lang="en-US" sz="1000" dirty="0" err="1"/>
              <a:t>Measure.library</a:t>
            </a:r>
            <a:r>
              <a:rPr lang="en-US" sz="1000" dirty="0"/>
              <a:t> 0..1 CQLLibrary</a:t>
            </a:r>
          </a:p>
        </p:txBody>
      </p:sp>
      <p:sp>
        <p:nvSpPr>
          <p:cNvPr id="41" name="TextBox 40">
            <a:extLst>
              <a:ext uri="{FF2B5EF4-FFF2-40B4-BE49-F238E27FC236}">
                <a16:creationId xmlns:a16="http://schemas.microsoft.com/office/drawing/2014/main" id="{E5723347-71FD-B6CD-F4FF-50DEB30BF912}"/>
              </a:ext>
            </a:extLst>
          </p:cNvPr>
          <p:cNvSpPr txBox="1"/>
          <p:nvPr/>
        </p:nvSpPr>
        <p:spPr>
          <a:xfrm>
            <a:off x="3161602" y="4340587"/>
            <a:ext cx="854721" cy="246221"/>
          </a:xfrm>
          <a:prstGeom prst="rect">
            <a:avLst/>
          </a:prstGeom>
          <a:noFill/>
        </p:spPr>
        <p:txBody>
          <a:bodyPr wrap="none" rtlCol="0">
            <a:spAutoFit/>
          </a:bodyPr>
          <a:lstStyle/>
          <a:p>
            <a:r>
              <a:rPr lang="en-US" sz="1000" dirty="0"/>
              <a:t>CQLMeasure</a:t>
            </a:r>
          </a:p>
        </p:txBody>
      </p:sp>
      <p:sp>
        <p:nvSpPr>
          <p:cNvPr id="42" name="TextBox 41">
            <a:extLst>
              <a:ext uri="{FF2B5EF4-FFF2-40B4-BE49-F238E27FC236}">
                <a16:creationId xmlns:a16="http://schemas.microsoft.com/office/drawing/2014/main" id="{89B01D8D-1E59-0277-F1E8-A3705889908D}"/>
              </a:ext>
            </a:extLst>
          </p:cNvPr>
          <p:cNvSpPr txBox="1"/>
          <p:nvPr/>
        </p:nvSpPr>
        <p:spPr>
          <a:xfrm>
            <a:off x="8060865" y="4592840"/>
            <a:ext cx="3573414" cy="400110"/>
          </a:xfrm>
          <a:prstGeom prst="rect">
            <a:avLst/>
          </a:prstGeom>
          <a:noFill/>
        </p:spPr>
        <p:txBody>
          <a:bodyPr wrap="none" rtlCol="0">
            <a:spAutoFit/>
          </a:bodyPr>
          <a:lstStyle/>
          <a:p>
            <a:pPr marL="285750" indent="-285750">
              <a:buFont typeface="Arial" panose="020B0604020202020204" pitchFamily="34" charset="0"/>
              <a:buChar char="•"/>
            </a:pPr>
            <a:r>
              <a:rPr lang="en-US" sz="1000" dirty="0"/>
              <a:t>All expression-valued elements SHALL use text/</a:t>
            </a:r>
            <a:r>
              <a:rPr lang="en-US" sz="1000" dirty="0" err="1"/>
              <a:t>cql</a:t>
            </a:r>
            <a:r>
              <a:rPr lang="en-US" sz="1000" dirty="0"/>
              <a:t>-identifier</a:t>
            </a:r>
          </a:p>
          <a:p>
            <a:pPr marL="285750" indent="-285750">
              <a:buFont typeface="Arial" panose="020B0604020202020204" pitchFamily="34" charset="0"/>
              <a:buChar char="•"/>
            </a:pPr>
            <a:r>
              <a:rPr lang="en-US" sz="1000" dirty="0" err="1"/>
              <a:t>Measure.library</a:t>
            </a:r>
            <a:r>
              <a:rPr lang="en-US" sz="1000" dirty="0"/>
              <a:t> 1..1 ELMJSONLibrary | ELMXMLLibrary</a:t>
            </a:r>
          </a:p>
        </p:txBody>
      </p:sp>
      <p:sp>
        <p:nvSpPr>
          <p:cNvPr id="43" name="TextBox 42">
            <a:extLst>
              <a:ext uri="{FF2B5EF4-FFF2-40B4-BE49-F238E27FC236}">
                <a16:creationId xmlns:a16="http://schemas.microsoft.com/office/drawing/2014/main" id="{55B2F8AF-A2C3-E22F-4477-4C0553A2FBF3}"/>
              </a:ext>
            </a:extLst>
          </p:cNvPr>
          <p:cNvSpPr txBox="1"/>
          <p:nvPr/>
        </p:nvSpPr>
        <p:spPr>
          <a:xfrm>
            <a:off x="8060865" y="4346868"/>
            <a:ext cx="870751" cy="246221"/>
          </a:xfrm>
          <a:prstGeom prst="rect">
            <a:avLst/>
          </a:prstGeom>
          <a:noFill/>
        </p:spPr>
        <p:txBody>
          <a:bodyPr wrap="none" rtlCol="0">
            <a:spAutoFit/>
          </a:bodyPr>
          <a:lstStyle/>
          <a:p>
            <a:r>
              <a:rPr lang="en-US" sz="1000" dirty="0"/>
              <a:t>ELMMeasure</a:t>
            </a:r>
          </a:p>
        </p:txBody>
      </p:sp>
      <p:sp>
        <p:nvSpPr>
          <p:cNvPr id="45" name="TextBox 44">
            <a:extLst>
              <a:ext uri="{FF2B5EF4-FFF2-40B4-BE49-F238E27FC236}">
                <a16:creationId xmlns:a16="http://schemas.microsoft.com/office/drawing/2014/main" id="{DF234CC9-6FD9-8DE5-5329-CE98A3907DE0}"/>
              </a:ext>
            </a:extLst>
          </p:cNvPr>
          <p:cNvSpPr txBox="1"/>
          <p:nvPr/>
        </p:nvSpPr>
        <p:spPr>
          <a:xfrm>
            <a:off x="3161602" y="5506850"/>
            <a:ext cx="2991225" cy="246221"/>
          </a:xfrm>
          <a:prstGeom prst="rect">
            <a:avLst/>
          </a:prstGeom>
          <a:noFill/>
        </p:spPr>
        <p:txBody>
          <a:bodyPr wrap="square" rtlCol="0">
            <a:spAutoFit/>
          </a:bodyPr>
          <a:lstStyle/>
          <a:p>
            <a:pPr marL="285750" indent="-285750">
              <a:buFont typeface="Arial" panose="020B0604020202020204" pitchFamily="34" charset="0"/>
              <a:buChar char="•"/>
            </a:pPr>
            <a:r>
              <a:rPr lang="en-US" sz="1000" dirty="0" err="1"/>
              <a:t>Measure.library</a:t>
            </a:r>
            <a:r>
              <a:rPr lang="en-US" sz="1000" dirty="0"/>
              <a:t> 0..1 CRMIComputableLibrary</a:t>
            </a:r>
          </a:p>
        </p:txBody>
      </p:sp>
      <p:sp>
        <p:nvSpPr>
          <p:cNvPr id="46" name="TextBox 45">
            <a:extLst>
              <a:ext uri="{FF2B5EF4-FFF2-40B4-BE49-F238E27FC236}">
                <a16:creationId xmlns:a16="http://schemas.microsoft.com/office/drawing/2014/main" id="{83FD9C13-F0B8-48D1-B02E-CA3020A28C52}"/>
              </a:ext>
            </a:extLst>
          </p:cNvPr>
          <p:cNvSpPr txBox="1"/>
          <p:nvPr/>
        </p:nvSpPr>
        <p:spPr>
          <a:xfrm>
            <a:off x="3161602" y="5260878"/>
            <a:ext cx="1606530" cy="246221"/>
          </a:xfrm>
          <a:prstGeom prst="rect">
            <a:avLst/>
          </a:prstGeom>
          <a:noFill/>
        </p:spPr>
        <p:txBody>
          <a:bodyPr wrap="none" rtlCol="0">
            <a:spAutoFit/>
          </a:bodyPr>
          <a:lstStyle/>
          <a:p>
            <a:r>
              <a:rPr lang="en-US" sz="1000" dirty="0"/>
              <a:t>CQFMComputableMeasure</a:t>
            </a:r>
          </a:p>
        </p:txBody>
      </p:sp>
      <p:sp>
        <p:nvSpPr>
          <p:cNvPr id="47" name="TextBox 46">
            <a:extLst>
              <a:ext uri="{FF2B5EF4-FFF2-40B4-BE49-F238E27FC236}">
                <a16:creationId xmlns:a16="http://schemas.microsoft.com/office/drawing/2014/main" id="{26E016ED-F554-EADC-D3BC-AE1DF0D2A855}"/>
              </a:ext>
            </a:extLst>
          </p:cNvPr>
          <p:cNvSpPr txBox="1"/>
          <p:nvPr/>
        </p:nvSpPr>
        <p:spPr>
          <a:xfrm>
            <a:off x="8060865" y="5506601"/>
            <a:ext cx="2759089" cy="246221"/>
          </a:xfrm>
          <a:prstGeom prst="rect">
            <a:avLst/>
          </a:prstGeom>
          <a:noFill/>
        </p:spPr>
        <p:txBody>
          <a:bodyPr wrap="none" rtlCol="0">
            <a:spAutoFit/>
          </a:bodyPr>
          <a:lstStyle/>
          <a:p>
            <a:pPr marL="285750" indent="-285750">
              <a:buFont typeface="Arial" panose="020B0604020202020204" pitchFamily="34" charset="0"/>
              <a:buChar char="•"/>
            </a:pPr>
            <a:r>
              <a:rPr lang="en-US" sz="1000" dirty="0" err="1"/>
              <a:t>Measure.library</a:t>
            </a:r>
            <a:r>
              <a:rPr lang="en-US" sz="1000" dirty="0"/>
              <a:t> 1..1 CRMIExecutableLibrary</a:t>
            </a:r>
          </a:p>
        </p:txBody>
      </p:sp>
      <p:sp>
        <p:nvSpPr>
          <p:cNvPr id="48" name="TextBox 47">
            <a:extLst>
              <a:ext uri="{FF2B5EF4-FFF2-40B4-BE49-F238E27FC236}">
                <a16:creationId xmlns:a16="http://schemas.microsoft.com/office/drawing/2014/main" id="{205BDE8D-F400-2457-CEE4-4861182FBFFC}"/>
              </a:ext>
            </a:extLst>
          </p:cNvPr>
          <p:cNvSpPr txBox="1"/>
          <p:nvPr/>
        </p:nvSpPr>
        <p:spPr>
          <a:xfrm>
            <a:off x="8060865" y="5260629"/>
            <a:ext cx="1537600" cy="246221"/>
          </a:xfrm>
          <a:prstGeom prst="rect">
            <a:avLst/>
          </a:prstGeom>
          <a:noFill/>
        </p:spPr>
        <p:txBody>
          <a:bodyPr wrap="none" rtlCol="0">
            <a:spAutoFit/>
          </a:bodyPr>
          <a:lstStyle/>
          <a:p>
            <a:r>
              <a:rPr lang="en-US" sz="1000" dirty="0"/>
              <a:t>CQFMExecutableMeasure</a:t>
            </a:r>
          </a:p>
        </p:txBody>
      </p:sp>
      <p:sp>
        <p:nvSpPr>
          <p:cNvPr id="9" name="TextBox 8">
            <a:extLst>
              <a:ext uri="{FF2B5EF4-FFF2-40B4-BE49-F238E27FC236}">
                <a16:creationId xmlns:a16="http://schemas.microsoft.com/office/drawing/2014/main" id="{6968F901-38E8-B0E7-B9D8-5C790BD268F2}"/>
              </a:ext>
            </a:extLst>
          </p:cNvPr>
          <p:cNvSpPr txBox="1"/>
          <p:nvPr/>
        </p:nvSpPr>
        <p:spPr>
          <a:xfrm>
            <a:off x="1618339" y="265685"/>
            <a:ext cx="910057" cy="307777"/>
          </a:xfrm>
          <a:prstGeom prst="rect">
            <a:avLst/>
          </a:prstGeom>
          <a:noFill/>
        </p:spPr>
        <p:txBody>
          <a:bodyPr wrap="none" rtlCol="0">
            <a:spAutoFit/>
          </a:bodyPr>
          <a:lstStyle/>
          <a:p>
            <a:r>
              <a:rPr lang="en-US" sz="1400" dirty="0"/>
              <a:t>Shareable</a:t>
            </a:r>
          </a:p>
        </p:txBody>
      </p:sp>
      <p:sp>
        <p:nvSpPr>
          <p:cNvPr id="24" name="TextBox 23">
            <a:extLst>
              <a:ext uri="{FF2B5EF4-FFF2-40B4-BE49-F238E27FC236}">
                <a16:creationId xmlns:a16="http://schemas.microsoft.com/office/drawing/2014/main" id="{CEEE3073-22D5-4A8A-7125-652E0F9E0226}"/>
              </a:ext>
            </a:extLst>
          </p:cNvPr>
          <p:cNvSpPr txBox="1"/>
          <p:nvPr/>
        </p:nvSpPr>
        <p:spPr>
          <a:xfrm>
            <a:off x="4155629" y="265686"/>
            <a:ext cx="1078565" cy="307777"/>
          </a:xfrm>
          <a:prstGeom prst="rect">
            <a:avLst/>
          </a:prstGeom>
          <a:noFill/>
        </p:spPr>
        <p:txBody>
          <a:bodyPr wrap="none" rtlCol="0">
            <a:spAutoFit/>
          </a:bodyPr>
          <a:lstStyle/>
          <a:p>
            <a:r>
              <a:rPr lang="en-US" sz="1400" dirty="0"/>
              <a:t>Computable</a:t>
            </a:r>
          </a:p>
        </p:txBody>
      </p:sp>
    </p:spTree>
    <p:extLst>
      <p:ext uri="{BB962C8B-B14F-4D97-AF65-F5344CB8AC3E}">
        <p14:creationId xmlns:p14="http://schemas.microsoft.com/office/powerpoint/2010/main" val="42803957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99688</TotalTime>
  <Words>3189</Words>
  <Application>Microsoft Office PowerPoint</Application>
  <PresentationFormat>Widescreen</PresentationFormat>
  <Paragraphs>511</Paragraphs>
  <Slides>24</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Quality Improvement Ecosystem</vt:lpstr>
      <vt:lpstr>Quality Improvement Ecosystem</vt:lpstr>
      <vt:lpstr>Quality Improvement Ecosystem</vt:lpstr>
      <vt:lpstr>Quality Improvement Ecosystem</vt:lpstr>
      <vt:lpstr>Quality Improvement Ecosystem</vt:lpstr>
      <vt:lpstr>Quality Improvement Standards</vt:lpstr>
      <vt:lpstr>Quality Improvement Standards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Improvement Ecosystem</dc:title>
  <dc:creator>Bryn</dc:creator>
  <cp:lastModifiedBy>Jen Seeman</cp:lastModifiedBy>
  <cp:revision>106</cp:revision>
  <dcterms:created xsi:type="dcterms:W3CDTF">2020-02-05T12:01:30Z</dcterms:created>
  <dcterms:modified xsi:type="dcterms:W3CDTF">2026-06-09T12:31:29Z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f03ff0-41c5-4c41-b55e-fabb8fae94be_Enabled">
    <vt:lpwstr>true</vt:lpwstr>
  </property>
  <property fmtid="{D5CDD505-2E9C-101B-9397-08002B2CF9AE}" pid="3" name="MSIP_Label_8af03ff0-41c5-4c41-b55e-fabb8fae94be_SetDate">
    <vt:lpwstr>2023-11-14T19:16:36Z</vt:lpwstr>
  </property>
  <property fmtid="{D5CDD505-2E9C-101B-9397-08002B2CF9AE}" pid="4" name="MSIP_Label_8af03ff0-41c5-4c41-b55e-fabb8fae94be_Method">
    <vt:lpwstr>Privileged</vt:lpwstr>
  </property>
  <property fmtid="{D5CDD505-2E9C-101B-9397-08002B2CF9AE}" pid="5" name="MSIP_Label_8af03ff0-41c5-4c41-b55e-fabb8fae94be_Name">
    <vt:lpwstr>8af03ff0-41c5-4c41-b55e-fabb8fae94be</vt:lpwstr>
  </property>
  <property fmtid="{D5CDD505-2E9C-101B-9397-08002B2CF9AE}" pid="6" name="MSIP_Label_8af03ff0-41c5-4c41-b55e-fabb8fae94be_SiteId">
    <vt:lpwstr>9ce70869-60db-44fd-abe8-d2767077fc8f</vt:lpwstr>
  </property>
  <property fmtid="{D5CDD505-2E9C-101B-9397-08002B2CF9AE}" pid="7" name="MSIP_Label_8af03ff0-41c5-4c41-b55e-fabb8fae94be_ActionId">
    <vt:lpwstr>be0a57ed-8b5b-4b32-b50e-d238b7faf645</vt:lpwstr>
  </property>
  <property fmtid="{D5CDD505-2E9C-101B-9397-08002B2CF9AE}" pid="8" name="MSIP_Label_8af03ff0-41c5-4c41-b55e-fabb8fae94be_ContentBits">
    <vt:lpwstr>0</vt:lpwstr>
  </property>
</Properties>
</file>